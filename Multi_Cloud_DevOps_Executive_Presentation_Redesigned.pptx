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EXECUTIVE OPENING REMARKS (TO CTO &amp; VP OF ENGINEERING):
Good morning / afternoon. Thank you for the opportunity to present my technical vision, hands-on architectural experience, and production case studies for the Ahya multi-cloud platform.
Today's presentation directly answers the 8 technical scenarios of your recruitment evaluation. What you will see is not just textbook definitions, but how I have engineered, secured, and debugged high-scale production systems across four diverse cloud environments:
1. AWS (me-central-1 UAE): Main calculation engine and marketplace
2. Azure (uaenorth): Disaster recovery warm standby
3. Alibaba Cloud (Riyadh, KSA): Saudi sovereign compliance engine
4. Multinet (Pakistan): On-premise VMware hypervisor with strict sovereign data residency.
Throughout this presentation, I'll walk you through our directory structures, GitOps pipelines, real failure post-mortems, and how we cut $16,000/month recurring while achieving 10-minute DR RTO.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FOR CTO &amp; VP ENG:
• Ahya's architecture is driven by business compliance, high availability, and geographic data sovereignty.
• AWS UAE is our primary production powerhouse hosting AhyaOS calculations and the Tawazun marketplace.
• Azure UAE North provides active-warm-standby disaster recovery with sub-3 second data replication lag.
• Alibaba Cloud in Riyadh guarantees strict compliance with Saudi Arabian NDMO regulations, keeping local sovereign data within KSA borders.
• Multinet Pakistan leverages on-premises virtualization on VMware vCloud Director for sensitive emissions data ingestion that must legally remain in Pakistan.
• In total, we manage 8 Kubernetes clusters, 200 microservices, and 200 virtual machines with zero vendor lock-in.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FOR CTO &amp; VP ENG:
• Architectural Philosophy: Separation of Concerns. We do not maintain a single monolithic Terraform state. Instead, we have isolated root modules under environments/ consuming standardized modules under modules/.
• State Isolation &amp; Compliance: In AWS, Azure, and Alibaba, state files live in encrypted S3 buckets with DynamoDB locking. Pakistan regulations mandate infra metadata stays in-country, so Multinet's backend uses on-prem MinIO and Consul.
• Dynamic Auth via Vault: No engineer or CI runner has static long-lived cloud keys — everything is federated through Vault using short-lived STS tokens and dynamic vCD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FOR CTO &amp; VP ENG:
• A key sign of a senior platform engineer is learning from architectural anti-patterns.
• In early development, cross-cloud networking was attempted using multiple provider blocks in a single root module.
• In staging, vCD's 30-minute API token expired mid-apply. Because Terraform runs sequentially through dependencies, the failure in Multinet killed the entire run, leaving AWS ALBs orphaned and DynamoDB locked.
• Rather than just patching the timeout to 120 minutes, I spearheaded the architectural refactoring to decouple the environments completely.
• By enforcing terraform_remote_state and independent CI pipelines, failure domains are strictly isolated: no single cloud provider's API issues can ever block deployment to our other three clouds.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FOR CTO &amp; VP ENG:
• Managing 4 Kubernetes distributions across 4 clouds with different minor versions (1.27.8 to 1.28.4) requires strict GitOps governance.
• We use Argo CD v2.9.3 with ApplicationSets and the Cluster Matrix Generator. Developers maintain a single Helm chart for the AhyaOS engine.
• Argo CD detects cluster labels (e.g. cloud: aws, compliance: ndmo) and automatically injects the cloud-specific values-{{cloud}}.yaml file.
• This abstracts infrastructure differences completely: developers don't care whether storage is gp3 on AWS, managed-csi on Azure, or Ceph on Multinet—it is bound cleanly at deployment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FOR CTO &amp; VP ENG:
• When managing self-hosted Kubernetes on bare-metal or VMware (like Multinet), you must possess deep kernel and CNI debugging skills.
• In cloud-managed EKS and AKS, Karpenter and node surging handle AMI recycling cleanly. But in Multinet, we built an automated Ansible cordon/drain/upgrade/uncordon pipeline.
• During the 1.26 to 1.27 upgrade, Cilium CNI crashed with "cannot allocate memory" creating BPF maps. We diagnosed that Ubuntu 20.04 Kernel 5.4 has conservative default BPF JIT limits that suffocated when pod density surpassed 60 pods/node.
• We executed dynamic sysctl fixes in 14 minutes, then codified the kernel settings directly into our Packer golden image build pipeline so it can never recur.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FOR CTO &amp; VP ENG:
• Enterprise fleet management requires balancing security urgency against production uptime.
• We operate a ring-based patching model: Ring 0 (Dev 10%), Ring 1 (Staging 100%), Ring 2 (Prod in 20% canary batches with max_fail_percentage: 0).
• For our 50 Windows ERP connector servers, we enforce WinRM over HTTPS on port 5986 with Vault-managed TLS certs and extended reboot timeouts (1200s).
• For Kubernetes and containers, we practice immutable infrastructure: nodes are recycled via bi-weekly CIS-hardened Packer golden images, and containers are scanned using Trivy with hard exit gates on High/Critical vulnerabilities using Chainguard and Distroless base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FOR CTO &amp; VP ENG:
• Real security engineering is tested when an unannounced critical zero-day drops with a tight SLA.
• When glibc "Looney Tunables" hit, our SLA was strict: 4 hours. Linux patched in 90 minutes, but the playbook failed on 6 Windows ERP connectors with error 0x80070422.
• Rather than finger-pointing at the finance audit team who had disabled wuauserv to avoid month-end reboot collisions, I quickly engineered an idempotent Ansible pre-task that enabled wuauserv, purged download locks, installed updates, and cleanly closed the loop.
• We completed 100% remediation across 200 servers in 3 hours and 12 minutes without downtime.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FOR CTO &amp; VP ENG:
• Security posture must be uniform even when underlying cloud providers differ.
• In AWS, we utilize AWS WAFv2 with CloudFront and ALB. In Azure, Front Door Premium with Microsoft Threat Intelligence.
• In Alibaba Riyadh, we deploy Cloud Native WAF 3.0. In Multinet Pakistan, where native hyperscaler WAF doesn't exist, we architected OpenResty Nginx v1.25 with Coraza WAF v3.0 executing OWASP Core Rule Set v4.0.
• Across all platforms, auth endpoints (/api/v1/auth/) are rate-limited to 300 requests per 5 minutes per IP.
• Internally, Zero-Trust is enforced via TLS 1.3 externally, Cilium Service Mesh mTLS internally, and HashiCorp Vault rotating PostgreSQL credentials dynamically every 24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FOR CTO &amp; VP ENG:
• False positives during high-stakes compliance audits are moments of maximum friction between security and business.
• At 11:30 PM, KPMG auditors uploading Scope 3 carbon data were blocked by HTTP 403s. The JSON contained legitimate text resembling a SQL statement, tripping OWASP CRS Rule 942100 (SQLi_BODY).
• A weak engineer might panic and disable SQLi protection globally. I refused to compromise our security posture.
• Instead, I applied a surgical Terraform override that excluded SQLi_BODY exclusively on that specific endpoint, while routing the upload into an asynchronous worker queue that sanitized the JSON via parameterized queries.
• From PagerDuty page to production fix was 11 minutes flat.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FOR CTO &amp; VP ENG:
• As engineering leaders, we must deliver financial accountability alongside technical excellence.
• Baseline monthly spend was $80,000 ($50K AWS, $15K Azure, $8K Multinet, $7K Alibaba). Through Infracost in GitHub Actions, Kubecost on EKS/AKS, and AWS CUR Athena queries, we identified and eliminated 4 waste buckets:
1. AWS Compute ($6,800/mo): kube-downscaler for dev/staging off-hours ($3,200/mo) + Karpenter Spot for ML batch jobs ($3,600/mo).
2. Storage ($3,500/mo): GP2→GP3 migration ($1,100/mo) + S3 Glacier Instant Retrieval lifecycle rules ($2,400/mo).
3. Azure DR ($2,800/mo): downsized idle warm standby from 10 to 2 nodes, letting KEDA scale on actual disaster.
4. Network &amp; Commitments ($2,900/mo): Multinet 1G→200M burstable ($1,700/mo) + Alibaba Savings Plan ($1,200/mo).
• Net result: $16,000/month recurring savings ($192K/year) with zero impact on RTO, RPO, or SOC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FOR CTO &amp; VP ENG:
• Great incident management is defined by three things: rapid containment, blameless deep-dive RCA, and permanent architectural prevention.
• At 03:08 GST, our P99 latency breached 15s and 5xx errors crossed 45%. By 03:14 I took command as Incident Commander, diagnosed the 500-connection ceiling on Aurora, and saw 340 connections held hostage by long-running aggregation queries.
• At 03:29 I scaled the rogue Celery audit deployment to 0 replicas. Full recovery occurred at 03:32 (MTTR: 24 minutes).
• In our 5-Whys RCA, we traced the systemic flaws: PgBouncer in session mode, Celery routed to primary instead of read replica, and a missing index on 38M rows.
• We enacted 5 permanent fixes: PgBouncer transaction mode, concurrent indexing, statement_timeout=30s, K8s NetworkPolicies, and CI query plan linting with pg_query.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FOR CTO &amp; VP ENG:
• ClickOps is the enemy of SOC 2 compliance and platform reliability. 40% manual AWS footprint had to be eliminated.
• Rather than a chaotic lift-and-shift, I designed a phased risk-tiered rollout: Phase 1 Networking, Phase 2 Persistence (with prevent_destroy = true), Phase 3 Compute &amp; Traffic.
• We utilized Terraform 1.5+ declarative import blocks and -generate-config-out, scrubbing machine-generated HCL into clean modular templates with mandatory IFRS-S2 tagging.
• In Multinet Pakistan, where VMware vCD lacked API parity, we built a Python adapter script with Redis token caching.
• To ensure drift never sneaks back in, a daily 06:00 GST GitHub Actions workflow runs terraform plan -detailed-exitcode. If any engineer touches the AWS console, exit code 2 immediately files a Jira P2 ticket and pings Slack.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FOR CTO &amp; VP ENG:
• For enterprise ESG and carbon accounting, contractual SLAs are non-negotiable: RTO &lt;= 15 minutes, RPO &lt;= 5 minutes.
• Architecture: AWS UAE is 100% active, Azure UAE North is warm standby. Multinet PK and Alibaba KSA run active-active for local compliance.
• Data Replication: We achieve a median database RPO of 2.2 seconds using pglogical v2.4 over an IPsec tunnel. S3 documents sync to Azure Blob via Lambda in 42 seconds. Identity tokens validate seamlessly via Vault-replicated public keys.
• Failover Execution: Driven by Cloudflare synthetic probes and GitHub Actions. Database promotion takes 2 minutes, KEDA AKS scale-up takes 3 minutes, and Cloudflare DNS cutover takes 2 minutes.
• Measured drill RTO: 10 minutes and 15 seconds—beating our SLA by almost 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FOR CTO &amp; VP ENG:
• Real leadership is demonstrating how you handle failure when an architecture breaks under testing.
• During a quarterly DR simulation, 60 seconds after cutover, Azure AKS error rates spiked to 100%. Pods threw "role ahya_calc_worker does not exist".
• We uncovered a critical technical reality: PostgreSQL pglogical replicates table rows, but it does NOT replicate cluster roles or users. An engineer had created that user manually on AWS two weeks earlier.
• Furthermore, client bank ERPs had stubborn DNS resolvers that cached the dead AWS IP despite our 30-second TTL.
• We recovered in 8 minutes with an emergency Ansible script. Then we engineered permanent systemic safeguards: daily SchemaCrawler DDL drift checks in CI, and Cloudflare HTTP 307 temporary redirect rules to bypass broken client DNS resolvers.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TALKING POINTS FOR CTO &amp; VP ENG:
• As your platform lead, my goal is to free product engineering to build features fast while guaranteeing the foundation is unshakeable, secure, and cost-efficient.
• My leadership philosophy centers on 4 pillars: Reliability (error budgets &amp; MTTR &lt; 30m), DevSecOps (SOC 2, 4h zero-day SLAs), FinOps ($192K/year recurring savings), and Velocity (self-service GitOps).
• In my first 30 days: deep discovery, drift auditing, and establishing single-pane-of-glass FinOps and telemetry.
• Days 31-60: standardizing all Kubernetes clusters under ArgoCD ApplicationSets, eradicating all ClickOps via Terraform, and enforcing Trivy CI security gates.
• Days 61-90: institutionalizing quarterly chaos engineering DR drills and delivering the full 20% recurring infrastructure cost reduction back to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REMARKS FOR CTO &amp; VP ENG:
• Thank you very much for your time and consideration.
• To summarize: I don't just write scripts—I build reliable, secure, and cost-efficient platforms that empower product teams to ship with confidence.
• I have lived through real production fires—from midnight WAF blocks during audit deadlines, to 3 AM database connection saturations, to zero-day CVE turnaround—and in every instance, I have engineered permanent systemic solutions.
• I look forward to answering any questions you have on multi-cloud topology, Kubernetes operations, database replication, or how I would lead your platform team.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685800"/>
            <a:ext cx="10881360" cy="365760"/>
          </a:xfrm>
          <a:prstGeom prst="rect">
            <a:avLst/>
          </a:prstGeom>
          <a:noFill/>
          <a:ln/>
        </p:spPr>
        <p:txBody>
          <a:bodyPr wrap="square" lIns="0" tIns="0" rIns="0" bIns="0" rtlCol="0" anchor="ctr"/>
          <a:lstStyle/>
          <a:p>
            <a:pPr indent="0" marL="0">
              <a:buNone/>
            </a:pPr>
            <a:r>
              <a:rPr lang="en-US" sz="1400" b="1" spc="200" kern="0" dirty="0">
                <a:solidFill>
                  <a:srgbClr val="0EA5A5"/>
                </a:solidFill>
                <a:latin typeface="Calibri" pitchFamily="34" charset="0"/>
                <a:ea typeface="Calibri" pitchFamily="34" charset="-122"/>
                <a:cs typeface="Calibri" pitchFamily="34" charset="-120"/>
              </a:rPr>
              <a:t>EXECUTIVE TECHNICAL ASSESSMENT</a:t>
            </a:r>
            <a:endParaRPr lang="en-US" sz="1400" dirty="0"/>
          </a:p>
        </p:txBody>
      </p:sp>
      <p:sp>
        <p:nvSpPr>
          <p:cNvPr id="3" name="Text 1"/>
          <p:cNvSpPr txBox="1"/>
          <p:nvPr/>
        </p:nvSpPr>
        <p:spPr>
          <a:xfrm>
            <a:off x="640080" y="1097280"/>
            <a:ext cx="10881360" cy="155448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libri" pitchFamily="34" charset="0"/>
                <a:ea typeface="Calibri" pitchFamily="34" charset="-122"/>
                <a:cs typeface="Calibri" pitchFamily="34" charset="-120"/>
              </a:rPr>
              <a:t>Multi-Cloud Infrastructure</a:t>
            </a:r>
            <a:endParaRPr lang="en-US" sz="4000" dirty="0"/>
          </a:p>
          <a:p>
            <a:pPr indent="0" marL="0">
              <a:lnSpc>
                <a:spcPct val="105000"/>
              </a:lnSpc>
              <a:buNone/>
            </a:pPr>
            <a:r>
              <a:rPr lang="en-US" sz="4000" b="1" dirty="0">
                <a:solidFill>
                  <a:srgbClr val="FFFFFF"/>
                </a:solidFill>
                <a:latin typeface="Calibri" pitchFamily="34" charset="0"/>
                <a:ea typeface="Calibri" pitchFamily="34" charset="-122"/>
                <a:cs typeface="Calibri" pitchFamily="34" charset="-120"/>
              </a:rPr>
              <a:t>&amp; Platform Engineering</a:t>
            </a:r>
            <a:endParaRPr lang="en-US" sz="4000" dirty="0"/>
          </a:p>
        </p:txBody>
      </p:sp>
      <p:sp>
        <p:nvSpPr>
          <p:cNvPr id="4" name="Text 2"/>
          <p:cNvSpPr txBox="1"/>
          <p:nvPr/>
        </p:nvSpPr>
        <p:spPr>
          <a:xfrm>
            <a:off x="640080" y="2606040"/>
            <a:ext cx="10881360" cy="548640"/>
          </a:xfrm>
          <a:prstGeom prst="rect">
            <a:avLst/>
          </a:prstGeom>
          <a:noFill/>
          <a:ln/>
        </p:spPr>
        <p:txBody>
          <a:bodyPr wrap="square" lIns="0" tIns="0" rIns="0" bIns="0" rtlCol="0" anchor="ctr"/>
          <a:lstStyle/>
          <a:p>
            <a:pPr indent="0" marL="0">
              <a:lnSpc>
                <a:spcPct val="120000"/>
              </a:lnSpc>
              <a:buNone/>
            </a:pPr>
            <a:r>
              <a:rPr lang="en-US" sz="1400" dirty="0">
                <a:solidFill>
                  <a:srgbClr val="D7E3F8"/>
                </a:solidFill>
                <a:latin typeface="Calibri" pitchFamily="34" charset="0"/>
                <a:ea typeface="Calibri" pitchFamily="34" charset="-122"/>
                <a:cs typeface="Calibri" pitchFamily="34" charset="-120"/>
              </a:rPr>
              <a:t>Production Architecture · Reliability Engineering · FinOps · War Stories</a:t>
            </a:r>
            <a:endParaRPr lang="en-US" sz="1400" dirty="0"/>
          </a:p>
          <a:p>
            <a:pPr indent="0" marL="0">
              <a:lnSpc>
                <a:spcPct val="120000"/>
              </a:lnSpc>
              <a:buNone/>
            </a:pPr>
            <a:r>
              <a:rPr lang="en-US" sz="1400" dirty="0">
                <a:solidFill>
                  <a:srgbClr val="D7E3F8"/>
                </a:solidFill>
                <a:latin typeface="Calibri" pitchFamily="34" charset="0"/>
                <a:ea typeface="Calibri" pitchFamily="34" charset="-122"/>
                <a:cs typeface="Calibri" pitchFamily="34" charset="-120"/>
              </a:rPr>
              <a:t>Across AWS, Azure, Alibaba Cloud &amp; Multinet</a:t>
            </a:r>
            <a:endParaRPr lang="en-US" sz="1400" dirty="0"/>
          </a:p>
        </p:txBody>
      </p:sp>
      <p:sp>
        <p:nvSpPr>
          <p:cNvPr id="5" name="Shape 3"/>
          <p:cNvSpPr/>
          <p:nvPr/>
        </p:nvSpPr>
        <p:spPr>
          <a:xfrm>
            <a:off x="640080" y="3429000"/>
            <a:ext cx="6949440" cy="1965960"/>
          </a:xfrm>
          <a:prstGeom prst="roundRect">
            <a:avLst>
              <a:gd name="adj" fmla="val 3721"/>
            </a:avLst>
          </a:prstGeom>
          <a:solidFill>
            <a:srgbClr val="273070"/>
          </a:solidFill>
          <a:ln/>
        </p:spPr>
      </p:sp>
      <p:sp>
        <p:nvSpPr>
          <p:cNvPr id="6" name="Text 4"/>
          <p:cNvSpPr txBox="1"/>
          <p:nvPr/>
        </p:nvSpPr>
        <p:spPr>
          <a:xfrm>
            <a:off x="896112" y="3593592"/>
            <a:ext cx="6492240" cy="274320"/>
          </a:xfrm>
          <a:prstGeom prst="rect">
            <a:avLst/>
          </a:prstGeom>
          <a:noFill/>
          <a:ln/>
        </p:spPr>
        <p:txBody>
          <a:bodyPr wrap="square" lIns="0" tIns="0" rIns="0" bIns="0" rtlCol="0" anchor="ctr"/>
          <a:lstStyle/>
          <a:p>
            <a:pPr indent="0" marL="0">
              <a:buNone/>
            </a:pPr>
            <a:r>
              <a:rPr lang="en-US" sz="1050" b="1" spc="150" kern="0" dirty="0">
                <a:solidFill>
                  <a:srgbClr val="0EA5A5"/>
                </a:solidFill>
                <a:latin typeface="Calibri" pitchFamily="34" charset="0"/>
                <a:ea typeface="Calibri" pitchFamily="34" charset="-122"/>
                <a:cs typeface="Calibri" pitchFamily="34" charset="-120"/>
              </a:rPr>
              <a:t>CANDIDATE PROFILE &amp; EVALUATION FOCUS</a:t>
            </a:r>
            <a:endParaRPr lang="en-US" sz="1050" dirty="0"/>
          </a:p>
        </p:txBody>
      </p:sp>
      <p:sp>
        <p:nvSpPr>
          <p:cNvPr id="7" name="Text 5"/>
          <p:cNvSpPr txBox="1"/>
          <p:nvPr/>
        </p:nvSpPr>
        <p:spPr>
          <a:xfrm>
            <a:off x="896112" y="3931920"/>
            <a:ext cx="6492240" cy="1371600"/>
          </a:xfrm>
          <a:prstGeom prst="rect">
            <a:avLst/>
          </a:prstGeom>
          <a:noFill/>
          <a:ln/>
        </p:spPr>
        <p:txBody>
          <a:bodyPr wrap="square" lIns="0" tIns="0" rIns="0" bIns="0" rtlCol="0" anchor="t"/>
          <a:lstStyle/>
          <a:p>
            <a:pPr marL="177800" indent="-177800">
              <a:lnSpc>
                <a:spcPct val="130000"/>
              </a:lnSpc>
              <a:buSzPct val="100000"/>
              <a:buChar char="▸"/>
            </a:pPr>
            <a:r>
              <a:rPr lang="en-US" sz="1150" dirty="0">
                <a:solidFill>
                  <a:srgbClr val="FFFFFF"/>
                </a:solidFill>
                <a:latin typeface="Calibri" pitchFamily="34" charset="0"/>
                <a:ea typeface="Calibri" pitchFamily="34" charset="-122"/>
                <a:cs typeface="Calibri" pitchFamily="34" charset="-120"/>
              </a:rPr>
              <a:t>Asghar Ahmed — Senior DevOps &amp; Cloud Infrastructure Architect</a:t>
            </a:r>
            <a:endParaRPr lang="en-US" sz="1150" dirty="0"/>
          </a:p>
          <a:p>
            <a:pPr marL="177800" indent="-177800">
              <a:lnSpc>
                <a:spcPct val="130000"/>
              </a:lnSpc>
              <a:buSzPct val="100000"/>
              <a:buChar char="▸"/>
            </a:pPr>
            <a:r>
              <a:rPr lang="en-US" sz="1150" dirty="0">
                <a:solidFill>
                  <a:srgbClr val="FFFFFF"/>
                </a:solidFill>
                <a:latin typeface="Calibri" pitchFamily="34" charset="0"/>
                <a:ea typeface="Calibri" pitchFamily="34" charset="-122"/>
                <a:cs typeface="Calibri" pitchFamily="34" charset="-120"/>
              </a:rPr>
              <a:t>Presenting to: Chief Technology Officer &amp; VP of Engineering</a:t>
            </a:r>
            <a:endParaRPr lang="en-US" sz="1150" dirty="0"/>
          </a:p>
          <a:p>
            <a:pPr marL="177800" indent="-177800">
              <a:lnSpc>
                <a:spcPct val="130000"/>
              </a:lnSpc>
              <a:buSzPct val="100000"/>
              <a:buChar char="▸"/>
            </a:pPr>
            <a:r>
              <a:rPr lang="en-US" sz="1150" dirty="0">
                <a:solidFill>
                  <a:srgbClr val="FFFFFF"/>
                </a:solidFill>
                <a:latin typeface="Calibri" pitchFamily="34" charset="0"/>
                <a:ea typeface="Calibri" pitchFamily="34" charset="-122"/>
                <a:cs typeface="Calibri" pitchFamily="34" charset="-120"/>
              </a:rPr>
              <a:t>Contact: asghar.ahmed78692@gmail.com  |  +92 345 3796919</a:t>
            </a:r>
            <a:endParaRPr lang="en-US" sz="1150" dirty="0"/>
          </a:p>
          <a:p>
            <a:pPr marL="177800" indent="-177800">
              <a:lnSpc>
                <a:spcPct val="130000"/>
              </a:lnSpc>
              <a:buSzPct val="100000"/>
              <a:buChar char="▸"/>
            </a:pPr>
            <a:r>
              <a:rPr lang="en-US" sz="1150" dirty="0">
                <a:solidFill>
                  <a:srgbClr val="FFFFFF"/>
                </a:solidFill>
                <a:latin typeface="Calibri" pitchFamily="34" charset="0"/>
                <a:ea typeface="Calibri" pitchFamily="34" charset="-122"/>
                <a:cs typeface="Calibri" pitchFamily="34" charset="-120"/>
              </a:rPr>
              <a:t>Scope: Multi-cloud IaC · K8s GitOps · 24/7 MTTR · FinOps · Zero-Trust · DR</a:t>
            </a:r>
            <a:endParaRPr lang="en-US" sz="1150" dirty="0"/>
          </a:p>
        </p:txBody>
      </p:sp>
      <p:sp>
        <p:nvSpPr>
          <p:cNvPr id="8" name="Text 6"/>
          <p:cNvSpPr txBox="1"/>
          <p:nvPr/>
        </p:nvSpPr>
        <p:spPr>
          <a:xfrm>
            <a:off x="7818120" y="3429000"/>
            <a:ext cx="1371600" cy="457200"/>
          </a:xfrm>
          <a:prstGeom prst="rect">
            <a:avLst/>
          </a:prstGeom>
          <a:noFill/>
          <a:ln/>
        </p:spPr>
        <p:txBody>
          <a:bodyPr wrap="square" lIns="0" tIns="0" rIns="0" bIns="0" rtlCol="0" anchor="ctr"/>
          <a:lstStyle/>
          <a:p>
            <a:pPr indent="0" marL="0">
              <a:buNone/>
            </a:pPr>
            <a:r>
              <a:rPr lang="en-US" sz="1900" b="1" dirty="0">
                <a:solidFill>
                  <a:srgbClr val="0EA5A5"/>
                </a:solidFill>
                <a:latin typeface="Calibri" pitchFamily="34" charset="0"/>
                <a:ea typeface="Calibri" pitchFamily="34" charset="-122"/>
                <a:cs typeface="Calibri" pitchFamily="34" charset="-120"/>
              </a:rPr>
              <a:t>4</a:t>
            </a:r>
            <a:endParaRPr lang="en-US" sz="1900" dirty="0"/>
          </a:p>
        </p:txBody>
      </p:sp>
      <p:sp>
        <p:nvSpPr>
          <p:cNvPr id="9" name="Text 7"/>
          <p:cNvSpPr txBox="1"/>
          <p:nvPr/>
        </p:nvSpPr>
        <p:spPr>
          <a:xfrm>
            <a:off x="9189720" y="3429000"/>
            <a:ext cx="2331720" cy="457200"/>
          </a:xfrm>
          <a:prstGeom prst="rect">
            <a:avLst/>
          </a:prstGeom>
          <a:noFill/>
          <a:ln/>
        </p:spPr>
        <p:txBody>
          <a:bodyPr wrap="square" lIns="0" tIns="0" rIns="0" bIns="0" rtlCol="0" anchor="ctr"/>
          <a:lstStyle/>
          <a:p>
            <a:pPr indent="0" marL="0">
              <a:buNone/>
            </a:pPr>
            <a:r>
              <a:rPr lang="en-US" sz="950" dirty="0">
                <a:solidFill>
                  <a:srgbClr val="D7E3F8"/>
                </a:solidFill>
                <a:latin typeface="Calibri" pitchFamily="34" charset="0"/>
                <a:ea typeface="Calibri" pitchFamily="34" charset="-122"/>
                <a:cs typeface="Calibri" pitchFamily="34" charset="-120"/>
              </a:rPr>
              <a:t>CLOUD PLATFORMS</a:t>
            </a:r>
            <a:endParaRPr lang="en-US" sz="950" dirty="0"/>
          </a:p>
        </p:txBody>
      </p:sp>
      <p:sp>
        <p:nvSpPr>
          <p:cNvPr id="10" name="Text 8"/>
          <p:cNvSpPr txBox="1"/>
          <p:nvPr/>
        </p:nvSpPr>
        <p:spPr>
          <a:xfrm>
            <a:off x="7818120" y="3941064"/>
            <a:ext cx="1371600" cy="457200"/>
          </a:xfrm>
          <a:prstGeom prst="rect">
            <a:avLst/>
          </a:prstGeom>
          <a:noFill/>
          <a:ln/>
        </p:spPr>
        <p:txBody>
          <a:bodyPr wrap="square" lIns="0" tIns="0" rIns="0" bIns="0" rtlCol="0" anchor="ctr"/>
          <a:lstStyle/>
          <a:p>
            <a:pPr indent="0" marL="0">
              <a:buNone/>
            </a:pPr>
            <a:r>
              <a:rPr lang="en-US" sz="1900" b="1" dirty="0">
                <a:solidFill>
                  <a:srgbClr val="0EA5A5"/>
                </a:solidFill>
                <a:latin typeface="Calibri" pitchFamily="34" charset="0"/>
                <a:ea typeface="Calibri" pitchFamily="34" charset="-122"/>
                <a:cs typeface="Calibri" pitchFamily="34" charset="-120"/>
              </a:rPr>
              <a:t>20%</a:t>
            </a:r>
            <a:endParaRPr lang="en-US" sz="1900" dirty="0"/>
          </a:p>
        </p:txBody>
      </p:sp>
      <p:sp>
        <p:nvSpPr>
          <p:cNvPr id="11" name="Text 9"/>
          <p:cNvSpPr txBox="1"/>
          <p:nvPr/>
        </p:nvSpPr>
        <p:spPr>
          <a:xfrm>
            <a:off x="9189720" y="3941064"/>
            <a:ext cx="2331720" cy="457200"/>
          </a:xfrm>
          <a:prstGeom prst="rect">
            <a:avLst/>
          </a:prstGeom>
          <a:noFill/>
          <a:ln/>
        </p:spPr>
        <p:txBody>
          <a:bodyPr wrap="square" lIns="0" tIns="0" rIns="0" bIns="0" rtlCol="0" anchor="ctr"/>
          <a:lstStyle/>
          <a:p>
            <a:pPr indent="0" marL="0">
              <a:buNone/>
            </a:pPr>
            <a:r>
              <a:rPr lang="en-US" sz="950" dirty="0">
                <a:solidFill>
                  <a:srgbClr val="D7E3F8"/>
                </a:solidFill>
                <a:latin typeface="Calibri" pitchFamily="34" charset="0"/>
                <a:ea typeface="Calibri" pitchFamily="34" charset="-122"/>
                <a:cs typeface="Calibri" pitchFamily="34" charset="-120"/>
              </a:rPr>
              <a:t>COST CUT ($80K → $64K/MO)</a:t>
            </a:r>
            <a:endParaRPr lang="en-US" sz="950" dirty="0"/>
          </a:p>
        </p:txBody>
      </p:sp>
      <p:sp>
        <p:nvSpPr>
          <p:cNvPr id="12" name="Text 10"/>
          <p:cNvSpPr txBox="1"/>
          <p:nvPr/>
        </p:nvSpPr>
        <p:spPr>
          <a:xfrm>
            <a:off x="7818120" y="4453128"/>
            <a:ext cx="1371600" cy="457200"/>
          </a:xfrm>
          <a:prstGeom prst="rect">
            <a:avLst/>
          </a:prstGeom>
          <a:noFill/>
          <a:ln/>
        </p:spPr>
        <p:txBody>
          <a:bodyPr wrap="square" lIns="0" tIns="0" rIns="0" bIns="0" rtlCol="0" anchor="ctr"/>
          <a:lstStyle/>
          <a:p>
            <a:pPr indent="0" marL="0">
              <a:buNone/>
            </a:pPr>
            <a:r>
              <a:rPr lang="en-US" sz="1900" b="1" dirty="0">
                <a:solidFill>
                  <a:srgbClr val="0EA5A5"/>
                </a:solidFill>
                <a:latin typeface="Calibri" pitchFamily="34" charset="0"/>
                <a:ea typeface="Calibri" pitchFamily="34" charset="-122"/>
                <a:cs typeface="Calibri" pitchFamily="34" charset="-120"/>
              </a:rPr>
              <a:t>10m 15s</a:t>
            </a:r>
            <a:endParaRPr lang="en-US" sz="1900" dirty="0"/>
          </a:p>
        </p:txBody>
      </p:sp>
      <p:sp>
        <p:nvSpPr>
          <p:cNvPr id="13" name="Text 11"/>
          <p:cNvSpPr txBox="1"/>
          <p:nvPr/>
        </p:nvSpPr>
        <p:spPr>
          <a:xfrm>
            <a:off x="9189720" y="4453128"/>
            <a:ext cx="2331720" cy="457200"/>
          </a:xfrm>
          <a:prstGeom prst="rect">
            <a:avLst/>
          </a:prstGeom>
          <a:noFill/>
          <a:ln/>
        </p:spPr>
        <p:txBody>
          <a:bodyPr wrap="square" lIns="0" tIns="0" rIns="0" bIns="0" rtlCol="0" anchor="ctr"/>
          <a:lstStyle/>
          <a:p>
            <a:pPr indent="0" marL="0">
              <a:buNone/>
            </a:pPr>
            <a:r>
              <a:rPr lang="en-US" sz="950" dirty="0">
                <a:solidFill>
                  <a:srgbClr val="D7E3F8"/>
                </a:solidFill>
                <a:latin typeface="Calibri" pitchFamily="34" charset="0"/>
                <a:ea typeface="Calibri" pitchFamily="34" charset="-122"/>
                <a:cs typeface="Calibri" pitchFamily="34" charset="-120"/>
              </a:rPr>
              <a:t>MEASURED DR RTO</a:t>
            </a:r>
            <a:endParaRPr lang="en-US" sz="950" dirty="0"/>
          </a:p>
        </p:txBody>
      </p:sp>
      <p:sp>
        <p:nvSpPr>
          <p:cNvPr id="14" name="Text 12"/>
          <p:cNvSpPr txBox="1"/>
          <p:nvPr/>
        </p:nvSpPr>
        <p:spPr>
          <a:xfrm>
            <a:off x="7818120" y="4965192"/>
            <a:ext cx="1371600" cy="457200"/>
          </a:xfrm>
          <a:prstGeom prst="rect">
            <a:avLst/>
          </a:prstGeom>
          <a:noFill/>
          <a:ln/>
        </p:spPr>
        <p:txBody>
          <a:bodyPr wrap="square" lIns="0" tIns="0" rIns="0" bIns="0" rtlCol="0" anchor="ctr"/>
          <a:lstStyle/>
          <a:p>
            <a:pPr indent="0" marL="0">
              <a:buNone/>
            </a:pPr>
            <a:r>
              <a:rPr lang="en-US" sz="1900" b="1" dirty="0">
                <a:solidFill>
                  <a:srgbClr val="0EA5A5"/>
                </a:solidFill>
                <a:latin typeface="Calibri" pitchFamily="34" charset="0"/>
                <a:ea typeface="Calibri" pitchFamily="34" charset="-122"/>
                <a:cs typeface="Calibri" pitchFamily="34" charset="-120"/>
              </a:rPr>
              <a:t>24 min</a:t>
            </a:r>
            <a:endParaRPr lang="en-US" sz="1900" dirty="0"/>
          </a:p>
        </p:txBody>
      </p:sp>
      <p:sp>
        <p:nvSpPr>
          <p:cNvPr id="15" name="Text 13"/>
          <p:cNvSpPr txBox="1"/>
          <p:nvPr/>
        </p:nvSpPr>
        <p:spPr>
          <a:xfrm>
            <a:off x="9189720" y="4965192"/>
            <a:ext cx="2331720" cy="457200"/>
          </a:xfrm>
          <a:prstGeom prst="rect">
            <a:avLst/>
          </a:prstGeom>
          <a:noFill/>
          <a:ln/>
        </p:spPr>
        <p:txBody>
          <a:bodyPr wrap="square" lIns="0" tIns="0" rIns="0" bIns="0" rtlCol="0" anchor="ctr"/>
          <a:lstStyle/>
          <a:p>
            <a:pPr indent="0" marL="0">
              <a:buNone/>
            </a:pPr>
            <a:r>
              <a:rPr lang="en-US" sz="950" dirty="0">
                <a:solidFill>
                  <a:srgbClr val="D7E3F8"/>
                </a:solidFill>
                <a:latin typeface="Calibri" pitchFamily="34" charset="0"/>
                <a:ea typeface="Calibri" pitchFamily="34" charset="-122"/>
                <a:cs typeface="Calibri" pitchFamily="34" charset="-120"/>
              </a:rPr>
              <a:t>P1 INCIDENT MTTR</a:t>
            </a:r>
            <a:endParaRPr lang="en-US" sz="950" dirty="0"/>
          </a:p>
        </p:txBody>
      </p:sp>
      <p:sp>
        <p:nvSpPr>
          <p:cNvPr id="16" name="Text 14"/>
          <p:cNvSpPr txBox="1"/>
          <p:nvPr/>
        </p:nvSpPr>
        <p:spPr>
          <a:xfrm>
            <a:off x="640080" y="6263640"/>
            <a:ext cx="10881360" cy="274320"/>
          </a:xfrm>
          <a:prstGeom prst="rect">
            <a:avLst/>
          </a:prstGeom>
          <a:noFill/>
          <a:ln/>
        </p:spPr>
        <p:txBody>
          <a:bodyPr wrap="square" lIns="0" tIns="0" rIns="0" bIns="0" rtlCol="0" anchor="ctr"/>
          <a:lstStyle/>
          <a:p>
            <a:pPr indent="0" marL="0">
              <a:buNone/>
            </a:pPr>
            <a:r>
              <a:rPr lang="en-US" sz="1000" dirty="0">
                <a:solidFill>
                  <a:srgbClr val="8891A3"/>
                </a:solidFill>
                <a:latin typeface="Calibri" pitchFamily="34" charset="0"/>
                <a:ea typeface="Calibri" pitchFamily="34" charset="-122"/>
                <a:cs typeface="Calibri" pitchFamily="34" charset="-120"/>
              </a:rPr>
              <a:t>September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4552" cy="292608"/>
          </a:xfrm>
          <a:prstGeom prst="rect">
            <a:avLst/>
          </a:prstGeom>
          <a:noFill/>
          <a:ln/>
        </p:spPr>
        <p:txBody>
          <a:bodyPr wrap="square" lIns="0" tIns="0" rIns="0" bIns="0" rtlCol="0" anchor="ctr"/>
          <a:lstStyle/>
          <a:p>
            <a:pPr indent="0" marL="0">
              <a:buNone/>
            </a:pPr>
            <a:r>
              <a:rPr lang="en-US" sz="1200" b="1" spc="200" kern="0" dirty="0">
                <a:solidFill>
                  <a:srgbClr val="0B8484"/>
                </a:solidFill>
                <a:latin typeface="Calibri" pitchFamily="34" charset="0"/>
                <a:ea typeface="Calibri" pitchFamily="34" charset="-122"/>
                <a:cs typeface="Calibri" pitchFamily="34" charset="-120"/>
              </a:rPr>
              <a:t>PLATFORM OVERVIEW</a:t>
            </a:r>
            <a:endParaRPr lang="en-US" sz="1200" dirty="0"/>
          </a:p>
        </p:txBody>
      </p:sp>
      <p:sp>
        <p:nvSpPr>
          <p:cNvPr id="3" name="Text 1"/>
          <p:cNvSpPr txBox="1"/>
          <p:nvPr/>
        </p:nvSpPr>
        <p:spPr>
          <a:xfrm>
            <a:off x="457200" y="585216"/>
            <a:ext cx="11274552"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Multi-Cloud Operating Footprint &amp; Workload Distribution</a:t>
            </a:r>
            <a:endParaRPr lang="en-US" sz="2700" dirty="0"/>
          </a:p>
        </p:txBody>
      </p:sp>
      <p:sp>
        <p:nvSpPr>
          <p:cNvPr id="4" name="Text 2"/>
          <p:cNvSpPr txBox="1"/>
          <p:nvPr/>
        </p:nvSpPr>
        <p:spPr>
          <a:xfrm>
            <a:off x="457200" y="1133856"/>
            <a:ext cx="11274552" cy="320040"/>
          </a:xfrm>
          <a:prstGeom prst="rect">
            <a:avLst/>
          </a:prstGeom>
          <a:noFill/>
          <a:ln/>
        </p:spPr>
        <p:txBody>
          <a:bodyPr wrap="square" lIns="0" tIns="0" rIns="0" bIns="0" rtlCol="0" anchor="ctr"/>
          <a:lstStyle/>
          <a:p>
            <a:pPr indent="0" marL="0">
              <a:buNone/>
            </a:pPr>
            <a:r>
              <a:rPr lang="en-US" sz="1350" i="1" dirty="0">
                <a:solidFill>
                  <a:srgbClr val="5B6478"/>
                </a:solidFill>
                <a:latin typeface="Calibri" pitchFamily="34" charset="0"/>
                <a:ea typeface="Calibri" pitchFamily="34" charset="-122"/>
                <a:cs typeface="Calibri" pitchFamily="34" charset="-120"/>
              </a:rPr>
              <a:t>Powering AhyaOS (CMAP calculation), Tawazun (Carbon Marketplace) &amp; AhyaAI across 4 regional cloud providers</a:t>
            </a:r>
            <a:endParaRPr lang="en-US" sz="1350" dirty="0"/>
          </a:p>
        </p:txBody>
      </p:sp>
      <p:sp>
        <p:nvSpPr>
          <p:cNvPr id="5" name="Shape 3"/>
          <p:cNvSpPr/>
          <p:nvPr/>
        </p:nvSpPr>
        <p:spPr>
          <a:xfrm>
            <a:off x="457200" y="1600200"/>
            <a:ext cx="2647188" cy="4480560"/>
          </a:xfrm>
          <a:prstGeom prst="roundRect">
            <a:avLst>
              <a:gd name="adj" fmla="val 2418"/>
            </a:avLst>
          </a:prstGeom>
          <a:solidFill>
            <a:srgbClr val="EAF0FC"/>
          </a:solidFill>
          <a:ln/>
          <a:effectLst>
            <a:outerShdw sx="100000" sy="100000" kx="0" ky="0" algn="bl" rotWithShape="0" blurRad="63500" dist="25400" dir="5400000">
              <a:srgbClr val="1E2761">
                <a:alpha val="10000"/>
              </a:srgbClr>
            </a:outerShdw>
          </a:effectLst>
        </p:spPr>
      </p:sp>
      <p:sp>
        <p:nvSpPr>
          <p:cNvPr id="6" name="Shape 4"/>
          <p:cNvSpPr/>
          <p:nvPr/>
        </p:nvSpPr>
        <p:spPr>
          <a:xfrm>
            <a:off x="603504" y="1728216"/>
            <a:ext cx="2354580" cy="274320"/>
          </a:xfrm>
          <a:prstGeom prst="roundRect">
            <a:avLst>
              <a:gd name="adj" fmla="val 50000"/>
            </a:avLst>
          </a:prstGeom>
          <a:solidFill>
            <a:srgbClr val="1E2761"/>
          </a:solidFill>
          <a:ln/>
        </p:spPr>
      </p:sp>
      <p:sp>
        <p:nvSpPr>
          <p:cNvPr id="7" name="Text 5"/>
          <p:cNvSpPr txBox="1"/>
          <p:nvPr/>
        </p:nvSpPr>
        <p:spPr>
          <a:xfrm>
            <a:off x="603504" y="1728216"/>
            <a:ext cx="235458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PRIMARY PLATFORM</a:t>
            </a:r>
            <a:endParaRPr lang="en-US" sz="950" dirty="0"/>
          </a:p>
        </p:txBody>
      </p:sp>
      <p:sp>
        <p:nvSpPr>
          <p:cNvPr id="8" name="Text 6"/>
          <p:cNvSpPr txBox="1"/>
          <p:nvPr/>
        </p:nvSpPr>
        <p:spPr>
          <a:xfrm>
            <a:off x="603504" y="2075688"/>
            <a:ext cx="235458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AWS · me-central-1</a:t>
            </a:r>
            <a:endParaRPr lang="en-US" sz="1300" dirty="0"/>
          </a:p>
        </p:txBody>
      </p:sp>
      <p:sp>
        <p:nvSpPr>
          <p:cNvPr id="9" name="Text 7"/>
          <p:cNvSpPr txBox="1"/>
          <p:nvPr/>
        </p:nvSpPr>
        <p:spPr>
          <a:xfrm>
            <a:off x="603504" y="2423160"/>
            <a:ext cx="2354580" cy="3547872"/>
          </a:xfrm>
          <a:prstGeom prst="rect">
            <a:avLst/>
          </a:prstGeom>
          <a:noFill/>
          <a:ln/>
        </p:spPr>
        <p:txBody>
          <a:bodyPr wrap="square" lIns="0" tIns="0" rIns="0" bIns="0" rtlCol="0" anchor="t"/>
          <a:lstStyle/>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AhyaOS CMAP engine &amp; Tawazun marketplace</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EKS v1.28.4 + Karpenter v0.32.1</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Aurora PostgreSQL v15 (primary writer)</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WAFv2 + CloudFront + ALB + KMS</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$50,000/mo — 62.5% of spend</a:t>
            </a:r>
            <a:endParaRPr lang="en-US" sz="970" dirty="0"/>
          </a:p>
        </p:txBody>
      </p:sp>
      <p:sp>
        <p:nvSpPr>
          <p:cNvPr id="10" name="Shape 8"/>
          <p:cNvSpPr/>
          <p:nvPr/>
        </p:nvSpPr>
        <p:spPr>
          <a:xfrm>
            <a:off x="3332988" y="1600200"/>
            <a:ext cx="2647188" cy="4480560"/>
          </a:xfrm>
          <a:prstGeom prst="roundRect">
            <a:avLst>
              <a:gd name="adj" fmla="val 2418"/>
            </a:avLst>
          </a:prstGeom>
          <a:solidFill>
            <a:srgbClr val="EAF0FC"/>
          </a:solidFill>
          <a:ln/>
          <a:effectLst>
            <a:outerShdw sx="100000" sy="100000" kx="0" ky="0" algn="bl" rotWithShape="0" blurRad="63500" dist="25400" dir="5400000">
              <a:srgbClr val="1E2761">
                <a:alpha val="10000"/>
              </a:srgbClr>
            </a:outerShdw>
          </a:effectLst>
        </p:spPr>
      </p:sp>
      <p:sp>
        <p:nvSpPr>
          <p:cNvPr id="11" name="Shape 9"/>
          <p:cNvSpPr/>
          <p:nvPr/>
        </p:nvSpPr>
        <p:spPr>
          <a:xfrm>
            <a:off x="3479292" y="1728216"/>
            <a:ext cx="2354580" cy="274320"/>
          </a:xfrm>
          <a:prstGeom prst="roundRect">
            <a:avLst>
              <a:gd name="adj" fmla="val 50000"/>
            </a:avLst>
          </a:prstGeom>
          <a:solidFill>
            <a:srgbClr val="0B8484"/>
          </a:solidFill>
          <a:ln/>
        </p:spPr>
      </p:sp>
      <p:sp>
        <p:nvSpPr>
          <p:cNvPr id="12" name="Text 10"/>
          <p:cNvSpPr txBox="1"/>
          <p:nvPr/>
        </p:nvSpPr>
        <p:spPr>
          <a:xfrm>
            <a:off x="3479292" y="1728216"/>
            <a:ext cx="235458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HOT DR STANDBY</a:t>
            </a:r>
            <a:endParaRPr lang="en-US" sz="950" dirty="0"/>
          </a:p>
        </p:txBody>
      </p:sp>
      <p:sp>
        <p:nvSpPr>
          <p:cNvPr id="13" name="Text 11"/>
          <p:cNvSpPr txBox="1"/>
          <p:nvPr/>
        </p:nvSpPr>
        <p:spPr>
          <a:xfrm>
            <a:off x="3479292" y="2075688"/>
            <a:ext cx="235458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Azure · uaenorth</a:t>
            </a:r>
            <a:endParaRPr lang="en-US" sz="1300" dirty="0"/>
          </a:p>
        </p:txBody>
      </p:sp>
      <p:sp>
        <p:nvSpPr>
          <p:cNvPr id="14" name="Text 12"/>
          <p:cNvSpPr txBox="1"/>
          <p:nvPr/>
        </p:nvSpPr>
        <p:spPr>
          <a:xfrm>
            <a:off x="3479292" y="2423160"/>
            <a:ext cx="2354580" cy="3547872"/>
          </a:xfrm>
          <a:prstGeom prst="rect">
            <a:avLst/>
          </a:prstGeom>
          <a:noFill/>
          <a:ln/>
        </p:spPr>
        <p:txBody>
          <a:bodyPr wrap="square" lIns="0" tIns="0" rIns="0" bIns="0" rtlCol="0" anchor="t"/>
          <a:lstStyle/>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Instant regional disaster recovery</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AKS v1.28.3 + KEDA autoscaling</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PostgreSQL Flexible Server (pglogical)</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Front Door Premium WAF + Threat Intel</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$15,000/mo — 18.75% of spend</a:t>
            </a:r>
            <a:endParaRPr lang="en-US" sz="970" dirty="0"/>
          </a:p>
        </p:txBody>
      </p:sp>
      <p:sp>
        <p:nvSpPr>
          <p:cNvPr id="15" name="Shape 13"/>
          <p:cNvSpPr/>
          <p:nvPr/>
        </p:nvSpPr>
        <p:spPr>
          <a:xfrm>
            <a:off x="6208776" y="1600200"/>
            <a:ext cx="2647188" cy="4480560"/>
          </a:xfrm>
          <a:prstGeom prst="roundRect">
            <a:avLst>
              <a:gd name="adj" fmla="val 2418"/>
            </a:avLst>
          </a:prstGeom>
          <a:solidFill>
            <a:srgbClr val="EAF0FC"/>
          </a:solidFill>
          <a:ln/>
          <a:effectLst>
            <a:outerShdw sx="100000" sy="100000" kx="0" ky="0" algn="bl" rotWithShape="0" blurRad="63500" dist="25400" dir="5400000">
              <a:srgbClr val="1E2761">
                <a:alpha val="10000"/>
              </a:srgbClr>
            </a:outerShdw>
          </a:effectLst>
        </p:spPr>
      </p:sp>
      <p:sp>
        <p:nvSpPr>
          <p:cNvPr id="16" name="Shape 14"/>
          <p:cNvSpPr/>
          <p:nvPr/>
        </p:nvSpPr>
        <p:spPr>
          <a:xfrm>
            <a:off x="6355080" y="1728216"/>
            <a:ext cx="2354580" cy="274320"/>
          </a:xfrm>
          <a:prstGeom prst="roundRect">
            <a:avLst>
              <a:gd name="adj" fmla="val 50000"/>
            </a:avLst>
          </a:prstGeom>
          <a:solidFill>
            <a:srgbClr val="C9862B"/>
          </a:solidFill>
          <a:ln/>
        </p:spPr>
      </p:sp>
      <p:sp>
        <p:nvSpPr>
          <p:cNvPr id="17" name="Text 15"/>
          <p:cNvSpPr txBox="1"/>
          <p:nvPr/>
        </p:nvSpPr>
        <p:spPr>
          <a:xfrm>
            <a:off x="6355080" y="1728216"/>
            <a:ext cx="235458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KSA COMPLIANCE</a:t>
            </a:r>
            <a:endParaRPr lang="en-US" sz="950" dirty="0"/>
          </a:p>
        </p:txBody>
      </p:sp>
      <p:sp>
        <p:nvSpPr>
          <p:cNvPr id="18" name="Text 16"/>
          <p:cNvSpPr txBox="1"/>
          <p:nvPr/>
        </p:nvSpPr>
        <p:spPr>
          <a:xfrm>
            <a:off x="6355080" y="2075688"/>
            <a:ext cx="235458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Alibaba · Riyadh</a:t>
            </a:r>
            <a:endParaRPr lang="en-US" sz="1300" dirty="0"/>
          </a:p>
        </p:txBody>
      </p:sp>
      <p:sp>
        <p:nvSpPr>
          <p:cNvPr id="19" name="Text 17"/>
          <p:cNvSpPr txBox="1"/>
          <p:nvPr/>
        </p:nvSpPr>
        <p:spPr>
          <a:xfrm>
            <a:off x="6355080" y="2423160"/>
            <a:ext cx="2354580" cy="3547872"/>
          </a:xfrm>
          <a:prstGeom prst="rect">
            <a:avLst/>
          </a:prstGeom>
          <a:noFill/>
          <a:ln/>
        </p:spPr>
        <p:txBody>
          <a:bodyPr wrap="square" lIns="0" tIns="0" rIns="0" bIns="0" rtlCol="0" anchor="t"/>
          <a:lstStyle/>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Saudi NDMO regulatory compliance</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ACK v1.28.1 (Aliyun Container Svc)</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Alibaba RDS PostgreSQL + KMS</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Cloud Native WAF 3.0 on ingress</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$7,000/mo — 8.75% of spend</a:t>
            </a:r>
            <a:endParaRPr lang="en-US" sz="970" dirty="0"/>
          </a:p>
        </p:txBody>
      </p:sp>
      <p:sp>
        <p:nvSpPr>
          <p:cNvPr id="20" name="Shape 18"/>
          <p:cNvSpPr/>
          <p:nvPr/>
        </p:nvSpPr>
        <p:spPr>
          <a:xfrm>
            <a:off x="9084564" y="1600200"/>
            <a:ext cx="2647188" cy="4480560"/>
          </a:xfrm>
          <a:prstGeom prst="roundRect">
            <a:avLst>
              <a:gd name="adj" fmla="val 2418"/>
            </a:avLst>
          </a:prstGeom>
          <a:solidFill>
            <a:srgbClr val="EAF0FC"/>
          </a:solidFill>
          <a:ln/>
          <a:effectLst>
            <a:outerShdw sx="100000" sy="100000" kx="0" ky="0" algn="bl" rotWithShape="0" blurRad="63500" dist="25400" dir="5400000">
              <a:srgbClr val="1E2761">
                <a:alpha val="10000"/>
              </a:srgbClr>
            </a:outerShdw>
          </a:effectLst>
        </p:spPr>
      </p:sp>
      <p:sp>
        <p:nvSpPr>
          <p:cNvPr id="21" name="Shape 19"/>
          <p:cNvSpPr/>
          <p:nvPr/>
        </p:nvSpPr>
        <p:spPr>
          <a:xfrm>
            <a:off x="9230868" y="1728216"/>
            <a:ext cx="2354580" cy="274320"/>
          </a:xfrm>
          <a:prstGeom prst="roundRect">
            <a:avLst>
              <a:gd name="adj" fmla="val 50000"/>
            </a:avLst>
          </a:prstGeom>
          <a:solidFill>
            <a:srgbClr val="2A3577"/>
          </a:solidFill>
          <a:ln/>
        </p:spPr>
      </p:sp>
      <p:sp>
        <p:nvSpPr>
          <p:cNvPr id="22" name="Text 20"/>
          <p:cNvSpPr txBox="1"/>
          <p:nvPr/>
        </p:nvSpPr>
        <p:spPr>
          <a:xfrm>
            <a:off x="9230868" y="1728216"/>
            <a:ext cx="235458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DATA RESIDENCY</a:t>
            </a:r>
            <a:endParaRPr lang="en-US" sz="950" dirty="0"/>
          </a:p>
        </p:txBody>
      </p:sp>
      <p:sp>
        <p:nvSpPr>
          <p:cNvPr id="23" name="Text 21"/>
          <p:cNvSpPr txBox="1"/>
          <p:nvPr/>
        </p:nvSpPr>
        <p:spPr>
          <a:xfrm>
            <a:off x="9230868" y="2075688"/>
            <a:ext cx="235458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Multinet · Pakistan</a:t>
            </a:r>
            <a:endParaRPr lang="en-US" sz="1300" dirty="0"/>
          </a:p>
        </p:txBody>
      </p:sp>
      <p:sp>
        <p:nvSpPr>
          <p:cNvPr id="24" name="Text 22"/>
          <p:cNvSpPr txBox="1"/>
          <p:nvPr/>
        </p:nvSpPr>
        <p:spPr>
          <a:xfrm>
            <a:off x="9230868" y="2423160"/>
            <a:ext cx="2354580" cy="3547872"/>
          </a:xfrm>
          <a:prstGeom prst="rect">
            <a:avLst/>
          </a:prstGeom>
          <a:noFill/>
          <a:ln/>
        </p:spPr>
        <p:txBody>
          <a:bodyPr wrap="square" lIns="0" tIns="0" rIns="0" bIns="0" rtlCol="0" anchor="t"/>
          <a:lstStyle/>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Local residency &amp; batch ingestion</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Self-managed RKE2 v1.27.8 on VMware</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On-prem MinIO S3 + Ceph + LUKS</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OpenResty + Coraza WAF v3.0</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$8,000/mo — 10.0% of spend</a:t>
            </a:r>
            <a:endParaRPr lang="en-US" sz="970" dirty="0"/>
          </a:p>
        </p:txBody>
      </p:sp>
      <p:sp>
        <p:nvSpPr>
          <p:cNvPr id="25" name="Text 23"/>
          <p:cNvSpPr txBox="1"/>
          <p:nvPr/>
        </p:nvSpPr>
        <p:spPr>
          <a:xfrm>
            <a:off x="11521440" y="6473952"/>
            <a:ext cx="365760" cy="274320"/>
          </a:xfrm>
          <a:prstGeom prst="rect">
            <a:avLst/>
          </a:prstGeom>
          <a:noFill/>
          <a:ln/>
        </p:spPr>
        <p:txBody>
          <a:bodyPr wrap="square" lIns="0" tIns="0" rIns="0" bIns="0" rtlCol="0" anchor="ctr"/>
          <a:lstStyle/>
          <a:p>
            <a:pPr algn="r" indent="0" marL="0">
              <a:buNone/>
            </a:pPr>
            <a:r>
              <a:rPr lang="en-US" sz="900" dirty="0">
                <a:solidFill>
                  <a:srgbClr val="8891A3"/>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4552" cy="292608"/>
          </a:xfrm>
          <a:prstGeom prst="rect">
            <a:avLst/>
          </a:prstGeom>
          <a:noFill/>
          <a:ln/>
        </p:spPr>
        <p:txBody>
          <a:bodyPr wrap="square" lIns="0" tIns="0" rIns="0" bIns="0" rtlCol="0" anchor="ctr"/>
          <a:lstStyle/>
          <a:p>
            <a:pPr indent="0" marL="0">
              <a:buNone/>
            </a:pPr>
            <a:r>
              <a:rPr lang="en-US" sz="1200" b="1" spc="200" kern="0" dirty="0">
                <a:solidFill>
                  <a:srgbClr val="0B8484"/>
                </a:solidFill>
                <a:latin typeface="Calibri" pitchFamily="34" charset="0"/>
                <a:ea typeface="Calibri" pitchFamily="34" charset="-122"/>
                <a:cs typeface="Calibri" pitchFamily="34" charset="-120"/>
              </a:rPr>
              <a:t>QUESTION 1 · TERRAFORM ACROSS FOUR CLOUDS</a:t>
            </a:r>
            <a:endParaRPr lang="en-US" sz="1200" dirty="0"/>
          </a:p>
        </p:txBody>
      </p:sp>
      <p:sp>
        <p:nvSpPr>
          <p:cNvPr id="3" name="Text 1"/>
          <p:cNvSpPr txBox="1"/>
          <p:nvPr/>
        </p:nvSpPr>
        <p:spPr>
          <a:xfrm>
            <a:off x="457200" y="585216"/>
            <a:ext cx="11274552"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Modular Codebase Architecture &amp; Sovereign State Isolation</a:t>
            </a:r>
            <a:endParaRPr lang="en-US" sz="2700" dirty="0"/>
          </a:p>
        </p:txBody>
      </p:sp>
      <p:sp>
        <p:nvSpPr>
          <p:cNvPr id="4" name="Text 2"/>
          <p:cNvSpPr txBox="1"/>
          <p:nvPr/>
        </p:nvSpPr>
        <p:spPr>
          <a:xfrm>
            <a:off x="457200" y="1133856"/>
            <a:ext cx="11274552" cy="320040"/>
          </a:xfrm>
          <a:prstGeom prst="rect">
            <a:avLst/>
          </a:prstGeom>
          <a:noFill/>
          <a:ln/>
        </p:spPr>
        <p:txBody>
          <a:bodyPr wrap="square" lIns="0" tIns="0" rIns="0" bIns="0" rtlCol="0" anchor="ctr"/>
          <a:lstStyle/>
          <a:p>
            <a:pPr indent="0" marL="0">
              <a:buNone/>
            </a:pPr>
            <a:r>
              <a:rPr lang="en-US" sz="1350" i="1" dirty="0">
                <a:solidFill>
                  <a:srgbClr val="5B6478"/>
                </a:solidFill>
                <a:latin typeface="Calibri" pitchFamily="34" charset="0"/>
                <a:ea typeface="Calibri" pitchFamily="34" charset="-122"/>
                <a:cs typeface="Calibri" pitchFamily="34" charset="-120"/>
              </a:rPr>
              <a:t>Clean monorepo design, decoupled root modules, and strict compliance-driven backend isolation</a:t>
            </a:r>
            <a:endParaRPr lang="en-US" sz="1350" dirty="0"/>
          </a:p>
        </p:txBody>
      </p:sp>
      <p:sp>
        <p:nvSpPr>
          <p:cNvPr id="5" name="Shape 3"/>
          <p:cNvSpPr/>
          <p:nvPr/>
        </p:nvSpPr>
        <p:spPr>
          <a:xfrm>
            <a:off x="457200" y="1600200"/>
            <a:ext cx="5532120" cy="4480560"/>
          </a:xfrm>
          <a:prstGeom prst="roundRect">
            <a:avLst>
              <a:gd name="adj" fmla="val 1224"/>
            </a:avLst>
          </a:prstGeom>
          <a:solidFill>
            <a:srgbClr val="1E2761"/>
          </a:solidFill>
          <a:ln/>
        </p:spPr>
      </p:sp>
      <p:sp>
        <p:nvSpPr>
          <p:cNvPr id="6" name="Text 4"/>
          <p:cNvSpPr txBox="1"/>
          <p:nvPr/>
        </p:nvSpPr>
        <p:spPr>
          <a:xfrm>
            <a:off x="621792" y="1691640"/>
            <a:ext cx="5202936" cy="274320"/>
          </a:xfrm>
          <a:prstGeom prst="rect">
            <a:avLst/>
          </a:prstGeom>
          <a:noFill/>
          <a:ln/>
        </p:spPr>
        <p:txBody>
          <a:bodyPr wrap="square" lIns="0" tIns="0" rIns="0" bIns="0" rtlCol="0" anchor="ctr"/>
          <a:lstStyle/>
          <a:p>
            <a:pPr indent="0" marL="0">
              <a:buNone/>
            </a:pPr>
            <a:r>
              <a:rPr lang="en-US" sz="1100" b="1" dirty="0">
                <a:solidFill>
                  <a:srgbClr val="0EA5A5"/>
                </a:solidFill>
                <a:latin typeface="Calibri" pitchFamily="34" charset="0"/>
                <a:ea typeface="Calibri" pitchFamily="34" charset="-122"/>
                <a:cs typeface="Calibri" pitchFamily="34" charset="-120"/>
              </a:rPr>
              <a:t>Directory Structure — Decoupled Monorepo</a:t>
            </a:r>
            <a:endParaRPr lang="en-US" sz="1100" dirty="0"/>
          </a:p>
        </p:txBody>
      </p:sp>
      <p:sp>
        <p:nvSpPr>
          <p:cNvPr id="7" name="Text 5"/>
          <p:cNvSpPr txBox="1"/>
          <p:nvPr/>
        </p:nvSpPr>
        <p:spPr>
          <a:xfrm>
            <a:off x="621792" y="1984248"/>
            <a:ext cx="5202936" cy="3968496"/>
          </a:xfrm>
          <a:prstGeom prst="rect">
            <a:avLst/>
          </a:prstGeom>
          <a:noFill/>
          <a:ln/>
        </p:spPr>
        <p:txBody>
          <a:bodyPr wrap="square" lIns="0" tIns="0" rIns="0" bIns="0" rtlCol="0" anchor="t"/>
          <a:lstStyle/>
          <a:p>
            <a:pPr indent="0" marL="0">
              <a:lnSpc>
                <a:spcPct val="105000"/>
              </a:lnSpc>
              <a:buNone/>
            </a:pPr>
            <a:r>
              <a:rPr lang="en-US" sz="900" dirty="0">
                <a:solidFill>
                  <a:srgbClr val="D7E3F8"/>
                </a:solidFill>
                <a:latin typeface="Courier New" pitchFamily="34" charset="0"/>
                <a:ea typeface="Courier New" pitchFamily="34" charset="-122"/>
                <a:cs typeface="Courier New" pitchFamily="34" charset="-120"/>
              </a:rPr>
              <a:t>ahya-terraform-cloud/</a:t>
            </a:r>
            <a:endParaRPr lang="en-US" sz="900" dirty="0"/>
          </a:p>
          <a:p>
            <a:pPr indent="0" marL="0">
              <a:lnSpc>
                <a:spcPct val="105000"/>
              </a:lnSpc>
              <a:buNone/>
            </a:pPr>
            <a:r>
              <a:rPr lang="en-US" sz="900" dirty="0">
                <a:solidFill>
                  <a:srgbClr val="D7E3F8"/>
                </a:solidFill>
                <a:latin typeface="Courier New" pitchFamily="34" charset="0"/>
                <a:ea typeface="Courier New" pitchFamily="34" charset="-122"/>
                <a:cs typeface="Courier New" pitchFamily="34" charset="-120"/>
              </a:rPr>
              <a:t>├── environments/            # Isolated root modules</a:t>
            </a:r>
            <a:endParaRPr lang="en-US" sz="900" dirty="0"/>
          </a:p>
          <a:p>
            <a:pPr indent="0" marL="0">
              <a:lnSpc>
                <a:spcPct val="105000"/>
              </a:lnSpc>
              <a:buNone/>
            </a:pPr>
            <a:r>
              <a:rPr lang="en-US" sz="900" dirty="0">
                <a:solidFill>
                  <a:srgbClr val="D7E3F8"/>
                </a:solidFill>
                <a:latin typeface="Courier New" pitchFamily="34" charset="0"/>
                <a:ea typeface="Courier New" pitchFamily="34" charset="-122"/>
                <a:cs typeface="Courier New" pitchFamily="34" charset="-120"/>
              </a:rPr>
              <a:t>│   ├── aws-primary-uae/     backend.tf (S3), main.tf</a:t>
            </a:r>
            <a:endParaRPr lang="en-US" sz="900" dirty="0"/>
          </a:p>
          <a:p>
            <a:pPr indent="0" marL="0">
              <a:lnSpc>
                <a:spcPct val="105000"/>
              </a:lnSpc>
              <a:buNone/>
            </a:pPr>
            <a:r>
              <a:rPr lang="en-US" sz="900" dirty="0">
                <a:solidFill>
                  <a:srgbClr val="D7E3F8"/>
                </a:solidFill>
                <a:latin typeface="Courier New" pitchFamily="34" charset="0"/>
                <a:ea typeface="Courier New" pitchFamily="34" charset="-122"/>
                <a:cs typeface="Courier New" pitchFamily="34" charset="-120"/>
              </a:rPr>
              <a:t>│   ├── azure-dr-uae/        backend.tf (S3), main.tf</a:t>
            </a:r>
            <a:endParaRPr lang="en-US" sz="900" dirty="0"/>
          </a:p>
          <a:p>
            <a:pPr indent="0" marL="0">
              <a:lnSpc>
                <a:spcPct val="105000"/>
              </a:lnSpc>
              <a:buNone/>
            </a:pPr>
            <a:r>
              <a:rPr lang="en-US" sz="900" dirty="0">
                <a:solidFill>
                  <a:srgbClr val="D7E3F8"/>
                </a:solidFill>
                <a:latin typeface="Courier New" pitchFamily="34" charset="0"/>
                <a:ea typeface="Courier New" pitchFamily="34" charset="-122"/>
                <a:cs typeface="Courier New" pitchFamily="34" charset="-120"/>
              </a:rPr>
              <a:t>│   ├── multinet-residency-pk/  backend.tf (Consul/MinIO)</a:t>
            </a:r>
            <a:endParaRPr lang="en-US" sz="900" dirty="0"/>
          </a:p>
          <a:p>
            <a:pPr indent="0" marL="0">
              <a:lnSpc>
                <a:spcPct val="105000"/>
              </a:lnSpc>
              <a:buNone/>
            </a:pPr>
            <a:r>
              <a:rPr lang="en-US" sz="900" dirty="0">
                <a:solidFill>
                  <a:srgbClr val="D7E3F8"/>
                </a:solidFill>
                <a:latin typeface="Courier New" pitchFamily="34" charset="0"/>
                <a:ea typeface="Courier New" pitchFamily="34" charset="-122"/>
                <a:cs typeface="Courier New" pitchFamily="34" charset="-120"/>
              </a:rPr>
              <a:t>│   └── alibaba-compliance-ksa/ backend.tf (S3), main.tf</a:t>
            </a:r>
            <a:endParaRPr lang="en-US" sz="900" dirty="0"/>
          </a:p>
          <a:p>
            <a:pPr indent="0" marL="0">
              <a:lnSpc>
                <a:spcPct val="105000"/>
              </a:lnSpc>
              <a:buNone/>
            </a:pPr>
            <a:r>
              <a:rPr lang="en-US" sz="900" dirty="0">
                <a:solidFill>
                  <a:srgbClr val="D7E3F8"/>
                </a:solidFill>
                <a:latin typeface="Courier New" pitchFamily="34" charset="0"/>
                <a:ea typeface="Courier New" pitchFamily="34" charset="-122"/>
                <a:cs typeface="Courier New" pitchFamily="34" charset="-120"/>
              </a:rPr>
              <a:t>└── modules/                 # Reusable standard modules</a:t>
            </a:r>
            <a:endParaRPr lang="en-US" sz="900" dirty="0"/>
          </a:p>
          <a:p>
            <a:pPr indent="0" marL="0">
              <a:lnSpc>
                <a:spcPct val="105000"/>
              </a:lnSpc>
              <a:buNone/>
            </a:pPr>
            <a:r>
              <a:rPr lang="en-US" sz="900" dirty="0">
                <a:solidFill>
                  <a:srgbClr val="D7E3F8"/>
                </a:solidFill>
                <a:latin typeface="Courier New" pitchFamily="34" charset="0"/>
                <a:ea typeface="Courier New" pitchFamily="34" charset="-122"/>
                <a:cs typeface="Courier New" pitchFamily="34" charset="-120"/>
              </a:rPr>
              <a:t>    ├── aws/     (eks, rds_aurora, vpc, alb)</a:t>
            </a:r>
            <a:endParaRPr lang="en-US" sz="900" dirty="0"/>
          </a:p>
          <a:p>
            <a:pPr indent="0" marL="0">
              <a:lnSpc>
                <a:spcPct val="105000"/>
              </a:lnSpc>
              <a:buNone/>
            </a:pPr>
            <a:r>
              <a:rPr lang="en-US" sz="900" dirty="0">
                <a:solidFill>
                  <a:srgbClr val="D7E3F8"/>
                </a:solidFill>
                <a:latin typeface="Courier New" pitchFamily="34" charset="0"/>
                <a:ea typeface="Courier New" pitchFamily="34" charset="-122"/>
                <a:cs typeface="Courier New" pitchFamily="34" charset="-120"/>
              </a:rPr>
              <a:t>    ├── azure/   (aks, flexible_pg, vnet)</a:t>
            </a:r>
            <a:endParaRPr lang="en-US" sz="900" dirty="0"/>
          </a:p>
          <a:p>
            <a:pPr indent="0" marL="0">
              <a:lnSpc>
                <a:spcPct val="105000"/>
              </a:lnSpc>
              <a:buNone/>
            </a:pPr>
            <a:r>
              <a:rPr lang="en-US" sz="900" dirty="0">
                <a:solidFill>
                  <a:srgbClr val="D7E3F8"/>
                </a:solidFill>
                <a:latin typeface="Courier New" pitchFamily="34" charset="0"/>
                <a:ea typeface="Courier New" pitchFamily="34" charset="-122"/>
                <a:cs typeface="Courier New" pitchFamily="34" charset="-120"/>
              </a:rPr>
              <a:t>    ├── alibaba/ (ack, rds_pg, vpc)</a:t>
            </a:r>
            <a:endParaRPr lang="en-US" sz="900" dirty="0"/>
          </a:p>
          <a:p>
            <a:pPr indent="0" marL="0">
              <a:lnSpc>
                <a:spcPct val="105000"/>
              </a:lnSpc>
              <a:buNone/>
            </a:pPr>
            <a:r>
              <a:rPr lang="en-US" sz="900" dirty="0">
                <a:solidFill>
                  <a:srgbClr val="D7E3F8"/>
                </a:solidFill>
                <a:latin typeface="Courier New" pitchFamily="34" charset="0"/>
                <a:ea typeface="Courier New" pitchFamily="34" charset="-122"/>
                <a:cs typeface="Courier New" pitchFamily="34" charset="-120"/>
              </a:rPr>
              <a:t>    └── multinet/(vcd_vapp, vcd_vm, pgbouncer)</a:t>
            </a:r>
            <a:endParaRPr lang="en-US" sz="900" dirty="0"/>
          </a:p>
        </p:txBody>
      </p:sp>
      <p:sp>
        <p:nvSpPr>
          <p:cNvPr id="8" name="Shape 6"/>
          <p:cNvSpPr/>
          <p:nvPr/>
        </p:nvSpPr>
        <p:spPr>
          <a:xfrm>
            <a:off x="6199632" y="1600200"/>
            <a:ext cx="5532120" cy="2148840"/>
          </a:xfrm>
          <a:prstGeom prst="roundRect">
            <a:avLst>
              <a:gd name="adj" fmla="val 2979"/>
            </a:avLst>
          </a:prstGeom>
          <a:solidFill>
            <a:srgbClr val="EAF0FC"/>
          </a:solidFill>
          <a:ln/>
        </p:spPr>
      </p:sp>
      <p:sp>
        <p:nvSpPr>
          <p:cNvPr id="9" name="Text 7"/>
          <p:cNvSpPr txBox="1"/>
          <p:nvPr/>
        </p:nvSpPr>
        <p:spPr>
          <a:xfrm>
            <a:off x="6382512" y="1728216"/>
            <a:ext cx="5166360" cy="310896"/>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State Isolation &amp; Sovereign Residency</a:t>
            </a:r>
            <a:endParaRPr lang="en-US" sz="1400" dirty="0"/>
          </a:p>
        </p:txBody>
      </p:sp>
      <p:sp>
        <p:nvSpPr>
          <p:cNvPr id="10" name="Text 8"/>
          <p:cNvSpPr txBox="1"/>
          <p:nvPr/>
        </p:nvSpPr>
        <p:spPr>
          <a:xfrm>
            <a:off x="6382512" y="2093976"/>
            <a:ext cx="5166360" cy="1508760"/>
          </a:xfrm>
          <a:prstGeom prst="rect">
            <a:avLst/>
          </a:prstGeom>
          <a:noFill/>
          <a:ln/>
        </p:spPr>
        <p:txBody>
          <a:bodyPr wrap="square" lIns="0" tIns="0" rIns="0" bIns="0" rtlCol="0" anchor="t"/>
          <a:lstStyle/>
          <a:p>
            <a:pPr marL="152400" indent="-152400">
              <a:lnSpc>
                <a:spcPct val="116000"/>
              </a:lnSpc>
              <a:buSzPct val="100000"/>
              <a:buChar char="•"/>
            </a:pPr>
            <a:r>
              <a:rPr lang="en-US" sz="1030" dirty="0">
                <a:solidFill>
                  <a:srgbClr val="1A1A2E"/>
                </a:solidFill>
                <a:latin typeface="Calibri" pitchFamily="34" charset="0"/>
                <a:ea typeface="Calibri" pitchFamily="34" charset="-122"/>
                <a:cs typeface="Calibri" pitchFamily="34" charset="-120"/>
              </a:rPr>
              <a:t>Hyperscalers (AWS/Azure/Ali): state on AWS S3, AWS KMS encryption, DynamoDB distributed locking</a:t>
            </a:r>
            <a:endParaRPr lang="en-US" sz="1030" dirty="0"/>
          </a:p>
          <a:p>
            <a:pPr marL="152400" indent="-152400">
              <a:lnSpc>
                <a:spcPct val="116000"/>
              </a:lnSpc>
              <a:buSzPct val="100000"/>
              <a:buChar char="•"/>
            </a:pPr>
            <a:r>
              <a:rPr lang="en-US" sz="1030" dirty="0">
                <a:solidFill>
                  <a:srgbClr val="1A1A2E"/>
                </a:solidFill>
                <a:latin typeface="Calibri" pitchFamily="34" charset="0"/>
                <a:ea typeface="Calibri" pitchFamily="34" charset="-122"/>
                <a:cs typeface="Calibri" pitchFamily="34" charset="-120"/>
              </a:rPr>
              <a:t>Pakistan (Multinet): sovereignty law bars foreign storage — backend runs on on-prem MinIO</a:t>
            </a:r>
            <a:endParaRPr lang="en-US" sz="1030" dirty="0"/>
          </a:p>
          <a:p>
            <a:pPr marL="152400" indent="-152400">
              <a:lnSpc>
                <a:spcPct val="116000"/>
              </a:lnSpc>
              <a:buSzPct val="100000"/>
              <a:buChar char="•"/>
            </a:pPr>
            <a:r>
              <a:rPr lang="en-US" sz="1030" dirty="0">
                <a:solidFill>
                  <a:srgbClr val="1A1A2E"/>
                </a:solidFill>
                <a:latin typeface="Calibri" pitchFamily="34" charset="0"/>
                <a:ea typeface="Calibri" pitchFamily="34" charset="-122"/>
                <a:cs typeface="Calibri" pitchFamily="34" charset="-120"/>
              </a:rPr>
              <a:t>Consul distributed mutex: HashiCorp Consul v1.162 on a Linux VM locks concurrent state changes</a:t>
            </a:r>
            <a:endParaRPr lang="en-US" sz="1030" dirty="0"/>
          </a:p>
        </p:txBody>
      </p:sp>
      <p:sp>
        <p:nvSpPr>
          <p:cNvPr id="11" name="Shape 9"/>
          <p:cNvSpPr/>
          <p:nvPr/>
        </p:nvSpPr>
        <p:spPr>
          <a:xfrm>
            <a:off x="6199632" y="3931920"/>
            <a:ext cx="5532120" cy="2148840"/>
          </a:xfrm>
          <a:prstGeom prst="roundRect">
            <a:avLst>
              <a:gd name="adj" fmla="val 2979"/>
            </a:avLst>
          </a:prstGeom>
          <a:solidFill>
            <a:srgbClr val="EAF0FC"/>
          </a:solidFill>
          <a:ln/>
        </p:spPr>
      </p:sp>
      <p:sp>
        <p:nvSpPr>
          <p:cNvPr id="12" name="Text 10"/>
          <p:cNvSpPr txBox="1"/>
          <p:nvPr/>
        </p:nvSpPr>
        <p:spPr>
          <a:xfrm>
            <a:off x="6382512" y="4059936"/>
            <a:ext cx="5166360" cy="310896"/>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Dynamic Secrets &amp; Identity (Vault)</a:t>
            </a:r>
            <a:endParaRPr lang="en-US" sz="1400" dirty="0"/>
          </a:p>
        </p:txBody>
      </p:sp>
      <p:sp>
        <p:nvSpPr>
          <p:cNvPr id="13" name="Text 11"/>
          <p:cNvSpPr txBox="1"/>
          <p:nvPr/>
        </p:nvSpPr>
        <p:spPr>
          <a:xfrm>
            <a:off x="6382512" y="4425696"/>
            <a:ext cx="5166360" cy="1508760"/>
          </a:xfrm>
          <a:prstGeom prst="rect">
            <a:avLst/>
          </a:prstGeom>
          <a:noFill/>
          <a:ln/>
        </p:spPr>
        <p:txBody>
          <a:bodyPr wrap="square" lIns="0" tIns="0" rIns="0" bIns="0" rtlCol="0" anchor="t"/>
          <a:lstStyle/>
          <a:p>
            <a:pPr marL="152400" indent="-152400">
              <a:lnSpc>
                <a:spcPct val="116000"/>
              </a:lnSpc>
              <a:buSzPct val="100000"/>
              <a:buChar char="•"/>
            </a:pPr>
            <a:r>
              <a:rPr lang="en-US" sz="1030" dirty="0">
                <a:solidFill>
                  <a:srgbClr val="1A1A2E"/>
                </a:solidFill>
                <a:latin typeface="Calibri" pitchFamily="34" charset="0"/>
                <a:ea typeface="Calibri" pitchFamily="34" charset="-122"/>
                <a:cs typeface="Calibri" pitchFamily="34" charset="-120"/>
              </a:rPr>
              <a:t>Zero static credentials — no plaintext keys in .tfvars or version control</a:t>
            </a:r>
            <a:endParaRPr lang="en-US" sz="1030" dirty="0"/>
          </a:p>
          <a:p>
            <a:pPr marL="152400" indent="-152400">
              <a:lnSpc>
                <a:spcPct val="116000"/>
              </a:lnSpc>
              <a:buSzPct val="100000"/>
              <a:buChar char="•"/>
            </a:pPr>
            <a:r>
              <a:rPr lang="en-US" sz="1030" dirty="0">
                <a:solidFill>
                  <a:srgbClr val="1A1A2E"/>
                </a:solidFill>
                <a:latin typeface="Calibri" pitchFamily="34" charset="0"/>
                <a:ea typeface="Calibri" pitchFamily="34" charset="-122"/>
                <a:cs typeface="Calibri" pitchFamily="34" charset="-120"/>
              </a:rPr>
              <a:t>HashiCorp Vault v1.15.2 brokers short-lived tokens: AWS STS, Azure SP, Alibaba RAM STS</a:t>
            </a:r>
            <a:endParaRPr lang="en-US" sz="1030" dirty="0"/>
          </a:p>
          <a:p>
            <a:pPr marL="152400" indent="-152400">
              <a:lnSpc>
                <a:spcPct val="116000"/>
              </a:lnSpc>
              <a:buSzPct val="100000"/>
              <a:buChar char="•"/>
            </a:pPr>
            <a:r>
              <a:rPr lang="en-US" sz="1030" dirty="0">
                <a:solidFill>
                  <a:srgbClr val="1A1A2E"/>
                </a:solidFill>
                <a:latin typeface="Calibri" pitchFamily="34" charset="0"/>
                <a:ea typeface="Calibri" pitchFamily="34" charset="-122"/>
                <a:cs typeface="Calibri" pitchFamily="34" charset="-120"/>
              </a:rPr>
              <a:t>Multinet: Vault auto-generates &amp; refreshes vCD API sessions every 60 minutes</a:t>
            </a:r>
            <a:endParaRPr lang="en-US" sz="1030" dirty="0"/>
          </a:p>
        </p:txBody>
      </p:sp>
      <p:sp>
        <p:nvSpPr>
          <p:cNvPr id="14" name="Text 12"/>
          <p:cNvSpPr txBox="1"/>
          <p:nvPr/>
        </p:nvSpPr>
        <p:spPr>
          <a:xfrm>
            <a:off x="11521440" y="6473952"/>
            <a:ext cx="365760" cy="274320"/>
          </a:xfrm>
          <a:prstGeom prst="rect">
            <a:avLst/>
          </a:prstGeom>
          <a:noFill/>
          <a:ln/>
        </p:spPr>
        <p:txBody>
          <a:bodyPr wrap="square" lIns="0" tIns="0" rIns="0" bIns="0" rtlCol="0" anchor="ctr"/>
          <a:lstStyle/>
          <a:p>
            <a:pPr algn="r" indent="0" marL="0">
              <a:buNone/>
            </a:pPr>
            <a:r>
              <a:rPr lang="en-US" sz="900" dirty="0">
                <a:solidFill>
                  <a:srgbClr val="8891A3"/>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4552" cy="292608"/>
          </a:xfrm>
          <a:prstGeom prst="rect">
            <a:avLst/>
          </a:prstGeom>
          <a:noFill/>
          <a:ln/>
        </p:spPr>
        <p:txBody>
          <a:bodyPr wrap="square" lIns="0" tIns="0" rIns="0" bIns="0" rtlCol="0" anchor="ctr"/>
          <a:lstStyle/>
          <a:p>
            <a:pPr indent="0" marL="0">
              <a:buNone/>
            </a:pPr>
            <a:r>
              <a:rPr lang="en-US" sz="1200" b="1" spc="200" kern="0" dirty="0">
                <a:solidFill>
                  <a:srgbClr val="0B8484"/>
                </a:solidFill>
                <a:latin typeface="Calibri" pitchFamily="34" charset="0"/>
                <a:ea typeface="Calibri" pitchFamily="34" charset="-122"/>
                <a:cs typeface="Calibri" pitchFamily="34" charset="-120"/>
              </a:rPr>
              <a:t>QUESTION 1 · PRODUCTION WAR STORY</a:t>
            </a:r>
            <a:endParaRPr lang="en-US" sz="1200" dirty="0"/>
          </a:p>
        </p:txBody>
      </p:sp>
      <p:sp>
        <p:nvSpPr>
          <p:cNvPr id="3" name="Text 1"/>
          <p:cNvSpPr txBox="1"/>
          <p:nvPr/>
        </p:nvSpPr>
        <p:spPr>
          <a:xfrm>
            <a:off x="457200" y="585216"/>
            <a:ext cx="11274552"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Eliminating Cross-Cloud Coupling &amp; vCD Token Timeouts</a:t>
            </a:r>
            <a:endParaRPr lang="en-US" sz="2700" dirty="0"/>
          </a:p>
        </p:txBody>
      </p:sp>
      <p:sp>
        <p:nvSpPr>
          <p:cNvPr id="4" name="Text 2"/>
          <p:cNvSpPr txBox="1"/>
          <p:nvPr/>
        </p:nvSpPr>
        <p:spPr>
          <a:xfrm>
            <a:off x="457200" y="1133856"/>
            <a:ext cx="11274552" cy="320040"/>
          </a:xfrm>
          <a:prstGeom prst="rect">
            <a:avLst/>
          </a:prstGeom>
          <a:noFill/>
          <a:ln/>
        </p:spPr>
        <p:txBody>
          <a:bodyPr wrap="square" lIns="0" tIns="0" rIns="0" bIns="0" rtlCol="0" anchor="ctr"/>
          <a:lstStyle/>
          <a:p>
            <a:pPr indent="0" marL="0">
              <a:buNone/>
            </a:pPr>
            <a:r>
              <a:rPr lang="en-US" sz="1350" i="1" dirty="0">
                <a:solidFill>
                  <a:srgbClr val="5B6478"/>
                </a:solidFill>
                <a:latin typeface="Calibri" pitchFamily="34" charset="0"/>
                <a:ea typeface="Calibri" pitchFamily="34" charset="-122"/>
                <a:cs typeface="Calibri" pitchFamily="34" charset="-120"/>
              </a:rPr>
              <a:t>How a 30-minute API timeout in staging triggered an architectural refactor to decouple failure domains</a:t>
            </a:r>
            <a:endParaRPr lang="en-US" sz="1350" dirty="0"/>
          </a:p>
        </p:txBody>
      </p:sp>
      <p:sp>
        <p:nvSpPr>
          <p:cNvPr id="5" name="Shape 3"/>
          <p:cNvSpPr/>
          <p:nvPr/>
        </p:nvSpPr>
        <p:spPr>
          <a:xfrm>
            <a:off x="2025853" y="1691640"/>
            <a:ext cx="438912" cy="438912"/>
          </a:xfrm>
          <a:prstGeom prst="ellipse">
            <a:avLst/>
          </a:prstGeom>
          <a:solidFill>
            <a:srgbClr val="1E2761"/>
          </a:solidFill>
          <a:ln/>
        </p:spPr>
      </p:sp>
      <p:sp>
        <p:nvSpPr>
          <p:cNvPr id="6" name="Text 4"/>
          <p:cNvSpPr txBox="1"/>
          <p:nvPr/>
        </p:nvSpPr>
        <p:spPr>
          <a:xfrm>
            <a:off x="2025853" y="169164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457200" y="2240280"/>
            <a:ext cx="3576218" cy="50292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The Failure &amp; Mid-Apply Crash</a:t>
            </a:r>
            <a:endParaRPr lang="en-US" sz="1250" dirty="0"/>
          </a:p>
        </p:txBody>
      </p:sp>
      <p:sp>
        <p:nvSpPr>
          <p:cNvPr id="8" name="Shape 6"/>
          <p:cNvSpPr/>
          <p:nvPr/>
        </p:nvSpPr>
        <p:spPr>
          <a:xfrm>
            <a:off x="457200" y="2770632"/>
            <a:ext cx="3576218" cy="3355848"/>
          </a:xfrm>
          <a:prstGeom prst="roundRect">
            <a:avLst>
              <a:gd name="adj" fmla="val 1907"/>
            </a:avLst>
          </a:prstGeom>
          <a:solidFill>
            <a:srgbClr val="EAF0FC"/>
          </a:solidFill>
          <a:ln/>
        </p:spPr>
      </p:sp>
      <p:sp>
        <p:nvSpPr>
          <p:cNvPr id="9" name="Text 7"/>
          <p:cNvSpPr txBox="1"/>
          <p:nvPr/>
        </p:nvSpPr>
        <p:spPr>
          <a:xfrm>
            <a:off x="603504" y="2916936"/>
            <a:ext cx="3283610" cy="3063240"/>
          </a:xfrm>
          <a:prstGeom prst="rect">
            <a:avLst/>
          </a:prstGeom>
          <a:noFill/>
          <a:ln/>
        </p:spPr>
        <p:txBody>
          <a:bodyPr wrap="square" lIns="0" tIns="0" rIns="0" bIns="0" rtlCol="0" anchor="t"/>
          <a:lstStyle/>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Cross-cloud networking ran from one root module using multiple provider aliases</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Multinet vCD API session token timed out after 30 minutes mid-apply</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Pipeline halted: HTTP 401 Unauthorized on vcd_vapp_vm.worker[0]</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Blast radius spilled: orphaned AWS ALB target groups + stuck DynamoDB lock</a:t>
            </a:r>
            <a:endParaRPr lang="en-US" sz="1050" dirty="0"/>
          </a:p>
        </p:txBody>
      </p:sp>
      <p:sp>
        <p:nvSpPr>
          <p:cNvPr id="10" name="Text 8"/>
          <p:cNvSpPr txBox="1"/>
          <p:nvPr/>
        </p:nvSpPr>
        <p:spPr>
          <a:xfrm>
            <a:off x="4015130" y="2194560"/>
            <a:ext cx="310896" cy="457200"/>
          </a:xfrm>
          <a:prstGeom prst="rect">
            <a:avLst/>
          </a:prstGeom>
          <a:noFill/>
          <a:ln/>
        </p:spPr>
        <p:txBody>
          <a:bodyPr wrap="square" lIns="0" tIns="0" rIns="0" bIns="0" rtlCol="0" anchor="ctr"/>
          <a:lstStyle/>
          <a:p>
            <a:pPr algn="ctr" indent="0" marL="0">
              <a:buNone/>
            </a:pPr>
            <a:r>
              <a:rPr lang="en-US" sz="2200" b="1" dirty="0">
                <a:solidFill>
                  <a:srgbClr val="0EA5A5"/>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5876392" y="1691640"/>
            <a:ext cx="438912" cy="438912"/>
          </a:xfrm>
          <a:prstGeom prst="ellipse">
            <a:avLst/>
          </a:prstGeom>
          <a:solidFill>
            <a:srgbClr val="1E2761"/>
          </a:solidFill>
          <a:ln/>
        </p:spPr>
      </p:sp>
      <p:sp>
        <p:nvSpPr>
          <p:cNvPr id="12" name="Text 10"/>
          <p:cNvSpPr txBox="1"/>
          <p:nvPr/>
        </p:nvSpPr>
        <p:spPr>
          <a:xfrm>
            <a:off x="5876392" y="169164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4307738" y="2240280"/>
            <a:ext cx="3576218" cy="50292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Immediate 45-Min Incident Triage</a:t>
            </a:r>
            <a:endParaRPr lang="en-US" sz="1250" dirty="0"/>
          </a:p>
        </p:txBody>
      </p:sp>
      <p:sp>
        <p:nvSpPr>
          <p:cNvPr id="14" name="Shape 12"/>
          <p:cNvSpPr/>
          <p:nvPr/>
        </p:nvSpPr>
        <p:spPr>
          <a:xfrm>
            <a:off x="4307738" y="2770632"/>
            <a:ext cx="3576218" cy="3355848"/>
          </a:xfrm>
          <a:prstGeom prst="roundRect">
            <a:avLst>
              <a:gd name="adj" fmla="val 1907"/>
            </a:avLst>
          </a:prstGeom>
          <a:solidFill>
            <a:srgbClr val="EAF0FC"/>
          </a:solidFill>
          <a:ln/>
        </p:spPr>
      </p:sp>
      <p:sp>
        <p:nvSpPr>
          <p:cNvPr id="15" name="Text 13"/>
          <p:cNvSpPr txBox="1"/>
          <p:nvPr/>
        </p:nvSpPr>
        <p:spPr>
          <a:xfrm>
            <a:off x="4454042" y="2916936"/>
            <a:ext cx="3283610" cy="3063240"/>
          </a:xfrm>
          <a:prstGeom prst="rect">
            <a:avLst/>
          </a:prstGeom>
          <a:noFill/>
          <a:ln/>
        </p:spPr>
        <p:txBody>
          <a:bodyPr wrap="square" lIns="0" tIns="0" rIns="0" bIns="0" rtlCol="0" anchor="t"/>
          <a:lstStyle/>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Manual lock release: terraform force-unlock &lt;LOCK-ID&gt;</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Reconciled AWS ALB target groups; pruned dangling resources</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Raised vCD provider keepalive setting to 120 minutes</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Wrapped CI apply steps with pre-flight token validation &amp; retries</a:t>
            </a:r>
            <a:endParaRPr lang="en-US" sz="1050" dirty="0"/>
          </a:p>
        </p:txBody>
      </p:sp>
      <p:sp>
        <p:nvSpPr>
          <p:cNvPr id="16" name="Text 14"/>
          <p:cNvSpPr txBox="1"/>
          <p:nvPr/>
        </p:nvSpPr>
        <p:spPr>
          <a:xfrm>
            <a:off x="7865669" y="2194560"/>
            <a:ext cx="310896" cy="457200"/>
          </a:xfrm>
          <a:prstGeom prst="rect">
            <a:avLst/>
          </a:prstGeom>
          <a:noFill/>
          <a:ln/>
        </p:spPr>
        <p:txBody>
          <a:bodyPr wrap="square" lIns="0" tIns="0" rIns="0" bIns="0" rtlCol="0" anchor="ctr"/>
          <a:lstStyle/>
          <a:p>
            <a:pPr algn="ctr" indent="0" marL="0">
              <a:buNone/>
            </a:pPr>
            <a:r>
              <a:rPr lang="en-US" sz="2200" b="1" dirty="0">
                <a:solidFill>
                  <a:srgbClr val="0EA5A5"/>
                </a:solidFill>
                <a:latin typeface="Calibri" pitchFamily="34" charset="0"/>
                <a:ea typeface="Calibri" pitchFamily="34" charset="-122"/>
                <a:cs typeface="Calibri" pitchFamily="34" charset="-120"/>
              </a:rPr>
              <a:t>›</a:t>
            </a:r>
            <a:endParaRPr lang="en-US" sz="2200" dirty="0"/>
          </a:p>
        </p:txBody>
      </p:sp>
      <p:sp>
        <p:nvSpPr>
          <p:cNvPr id="17" name="Shape 15"/>
          <p:cNvSpPr/>
          <p:nvPr/>
        </p:nvSpPr>
        <p:spPr>
          <a:xfrm>
            <a:off x="9726930" y="1691640"/>
            <a:ext cx="438912" cy="438912"/>
          </a:xfrm>
          <a:prstGeom prst="ellipse">
            <a:avLst/>
          </a:prstGeom>
          <a:solidFill>
            <a:srgbClr val="1E2761"/>
          </a:solidFill>
          <a:ln/>
        </p:spPr>
      </p:sp>
      <p:sp>
        <p:nvSpPr>
          <p:cNvPr id="18" name="Text 16"/>
          <p:cNvSpPr txBox="1"/>
          <p:nvPr/>
        </p:nvSpPr>
        <p:spPr>
          <a:xfrm>
            <a:off x="9726930" y="169164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8158277" y="2240280"/>
            <a:ext cx="3576218" cy="50292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Permanent Decoupled Architecture</a:t>
            </a:r>
            <a:endParaRPr lang="en-US" sz="1250" dirty="0"/>
          </a:p>
        </p:txBody>
      </p:sp>
      <p:sp>
        <p:nvSpPr>
          <p:cNvPr id="20" name="Shape 18"/>
          <p:cNvSpPr/>
          <p:nvPr/>
        </p:nvSpPr>
        <p:spPr>
          <a:xfrm>
            <a:off x="8158277" y="2770632"/>
            <a:ext cx="3576218" cy="3355848"/>
          </a:xfrm>
          <a:prstGeom prst="roundRect">
            <a:avLst>
              <a:gd name="adj" fmla="val 1907"/>
            </a:avLst>
          </a:prstGeom>
          <a:solidFill>
            <a:srgbClr val="EAF0FC"/>
          </a:solidFill>
          <a:ln/>
        </p:spPr>
      </p:sp>
      <p:sp>
        <p:nvSpPr>
          <p:cNvPr id="21" name="Text 19"/>
          <p:cNvSpPr txBox="1"/>
          <p:nvPr/>
        </p:nvSpPr>
        <p:spPr>
          <a:xfrm>
            <a:off x="8304581" y="2916936"/>
            <a:ext cx="3283610" cy="3063240"/>
          </a:xfrm>
          <a:prstGeom prst="rect">
            <a:avLst/>
          </a:prstGeom>
          <a:noFill/>
          <a:ln/>
        </p:spPr>
        <p:txBody>
          <a:bodyPr wrap="square" lIns="0" tIns="0" rIns="0" bIns="0" rtlCol="0" anchor="t"/>
          <a:lstStyle/>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Split infrastructure into fully independent root modules per cloud</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Inter-cloud references now use terraform_remote_state only</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Blast radius = zero: Multinet ISP outage can't touch AWS/Azure</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Independent GitHub Actions pipelines with isolated locks &amp; secrets</a:t>
            </a:r>
            <a:endParaRPr lang="en-US" sz="1050" dirty="0"/>
          </a:p>
        </p:txBody>
      </p:sp>
      <p:sp>
        <p:nvSpPr>
          <p:cNvPr id="22" name="Text 20"/>
          <p:cNvSpPr txBox="1"/>
          <p:nvPr/>
        </p:nvSpPr>
        <p:spPr>
          <a:xfrm>
            <a:off x="11521440" y="6473952"/>
            <a:ext cx="365760" cy="274320"/>
          </a:xfrm>
          <a:prstGeom prst="rect">
            <a:avLst/>
          </a:prstGeom>
          <a:noFill/>
          <a:ln/>
        </p:spPr>
        <p:txBody>
          <a:bodyPr wrap="square" lIns="0" tIns="0" rIns="0" bIns="0" rtlCol="0" anchor="ctr"/>
          <a:lstStyle/>
          <a:p>
            <a:pPr algn="r" indent="0" marL="0">
              <a:buNone/>
            </a:pPr>
            <a:r>
              <a:rPr lang="en-US" sz="900" dirty="0">
                <a:solidFill>
                  <a:srgbClr val="8891A3"/>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4552" cy="292608"/>
          </a:xfrm>
          <a:prstGeom prst="rect">
            <a:avLst/>
          </a:prstGeom>
          <a:noFill/>
          <a:ln/>
        </p:spPr>
        <p:txBody>
          <a:bodyPr wrap="square" lIns="0" tIns="0" rIns="0" bIns="0" rtlCol="0" anchor="ctr"/>
          <a:lstStyle/>
          <a:p>
            <a:pPr indent="0" marL="0">
              <a:buNone/>
            </a:pPr>
            <a:r>
              <a:rPr lang="en-US" sz="1200" b="1" spc="200" kern="0" dirty="0">
                <a:solidFill>
                  <a:srgbClr val="0B8484"/>
                </a:solidFill>
                <a:latin typeface="Calibri" pitchFamily="34" charset="0"/>
                <a:ea typeface="Calibri" pitchFamily="34" charset="-122"/>
                <a:cs typeface="Calibri" pitchFamily="34" charset="-120"/>
              </a:rPr>
              <a:t>QUESTION 2 · KUBERNETES FLEET OPERATIONS</a:t>
            </a:r>
            <a:endParaRPr lang="en-US" sz="1200" dirty="0"/>
          </a:p>
        </p:txBody>
      </p:sp>
      <p:sp>
        <p:nvSpPr>
          <p:cNvPr id="3" name="Text 1"/>
          <p:cNvSpPr txBox="1"/>
          <p:nvPr/>
        </p:nvSpPr>
        <p:spPr>
          <a:xfrm>
            <a:off x="457200" y="585216"/>
            <a:ext cx="11274552"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Multi-Cloud GitOps Orchestration &amp; Storage Abstraction</a:t>
            </a:r>
            <a:endParaRPr lang="en-US" sz="2700" dirty="0"/>
          </a:p>
        </p:txBody>
      </p:sp>
      <p:sp>
        <p:nvSpPr>
          <p:cNvPr id="4" name="Text 2"/>
          <p:cNvSpPr txBox="1"/>
          <p:nvPr/>
        </p:nvSpPr>
        <p:spPr>
          <a:xfrm>
            <a:off x="457200" y="1133856"/>
            <a:ext cx="11274552" cy="320040"/>
          </a:xfrm>
          <a:prstGeom prst="rect">
            <a:avLst/>
          </a:prstGeom>
          <a:noFill/>
          <a:ln/>
        </p:spPr>
        <p:txBody>
          <a:bodyPr wrap="square" lIns="0" tIns="0" rIns="0" bIns="0" rtlCol="0" anchor="ctr"/>
          <a:lstStyle/>
          <a:p>
            <a:pPr indent="0" marL="0">
              <a:buNone/>
            </a:pPr>
            <a:r>
              <a:rPr lang="en-US" sz="1350" i="1" dirty="0">
                <a:solidFill>
                  <a:srgbClr val="5B6478"/>
                </a:solidFill>
                <a:latin typeface="Calibri" pitchFamily="34" charset="0"/>
                <a:ea typeface="Calibri" pitchFamily="34" charset="-122"/>
                <a:cs typeface="Calibri" pitchFamily="34" charset="-120"/>
              </a:rPr>
              <a:t>Unified declarative deployments across EKS, AKS, ACK &amp; RKE2 using Argo CD and Helm matrix generators</a:t>
            </a:r>
            <a:endParaRPr lang="en-US" sz="1350" dirty="0"/>
          </a:p>
        </p:txBody>
      </p:sp>
      <p:sp>
        <p:nvSpPr>
          <p:cNvPr id="5" name="Shape 3"/>
          <p:cNvSpPr/>
          <p:nvPr/>
        </p:nvSpPr>
        <p:spPr>
          <a:xfrm>
            <a:off x="457200" y="1600200"/>
            <a:ext cx="5532120" cy="4480560"/>
          </a:xfrm>
          <a:prstGeom prst="roundRect">
            <a:avLst>
              <a:gd name="adj" fmla="val 1224"/>
            </a:avLst>
          </a:prstGeom>
          <a:solidFill>
            <a:srgbClr val="1E2761"/>
          </a:solidFill>
          <a:ln/>
        </p:spPr>
      </p:sp>
      <p:sp>
        <p:nvSpPr>
          <p:cNvPr id="6" name="Text 4"/>
          <p:cNvSpPr txBox="1"/>
          <p:nvPr/>
        </p:nvSpPr>
        <p:spPr>
          <a:xfrm>
            <a:off x="621792" y="1691640"/>
            <a:ext cx="5202936" cy="274320"/>
          </a:xfrm>
          <a:prstGeom prst="rect">
            <a:avLst/>
          </a:prstGeom>
          <a:noFill/>
          <a:ln/>
        </p:spPr>
        <p:txBody>
          <a:bodyPr wrap="square" lIns="0" tIns="0" rIns="0" bIns="0" rtlCol="0" anchor="ctr"/>
          <a:lstStyle/>
          <a:p>
            <a:pPr indent="0" marL="0">
              <a:buNone/>
            </a:pPr>
            <a:r>
              <a:rPr lang="en-US" sz="1100" b="1" dirty="0">
                <a:solidFill>
                  <a:srgbClr val="0EA5A5"/>
                </a:solidFill>
                <a:latin typeface="Calibri" pitchFamily="34" charset="0"/>
                <a:ea typeface="Calibri" pitchFamily="34" charset="-122"/>
                <a:cs typeface="Calibri" pitchFamily="34" charset="-120"/>
              </a:rPr>
              <a:t>GitOps Engine — Argo CD ApplicationSet</a:t>
            </a:r>
            <a:endParaRPr lang="en-US" sz="1100" dirty="0"/>
          </a:p>
        </p:txBody>
      </p:sp>
      <p:sp>
        <p:nvSpPr>
          <p:cNvPr id="7" name="Text 5"/>
          <p:cNvSpPr txBox="1"/>
          <p:nvPr/>
        </p:nvSpPr>
        <p:spPr>
          <a:xfrm>
            <a:off x="621792" y="1984248"/>
            <a:ext cx="5202936" cy="3968496"/>
          </a:xfrm>
          <a:prstGeom prst="rect">
            <a:avLst/>
          </a:prstGeom>
          <a:noFill/>
          <a:ln/>
        </p:spPr>
        <p:txBody>
          <a:bodyPr wrap="square" lIns="0" tIns="0" rIns="0" bIns="0" rtlCol="0" anchor="t"/>
          <a:lstStyle/>
          <a:p>
            <a:pPr indent="0" marL="0">
              <a:lnSpc>
                <a:spcPct val="105000"/>
              </a:lnSpc>
              <a:buNone/>
            </a:pPr>
            <a:r>
              <a:rPr lang="en-US" sz="900" dirty="0">
                <a:solidFill>
                  <a:srgbClr val="D7E3F8"/>
                </a:solidFill>
                <a:latin typeface="Courier New" pitchFamily="34" charset="0"/>
                <a:ea typeface="Courier New" pitchFamily="34" charset="-122"/>
                <a:cs typeface="Courier New" pitchFamily="34" charset="-120"/>
              </a:rPr>
              <a:t>apiVersion: argoproj.io/v1alpha1</a:t>
            </a:r>
            <a:endParaRPr lang="en-US" sz="900" dirty="0"/>
          </a:p>
          <a:p>
            <a:pPr indent="0" marL="0">
              <a:lnSpc>
                <a:spcPct val="105000"/>
              </a:lnSpc>
              <a:buNone/>
            </a:pPr>
            <a:r>
              <a:rPr lang="en-US" sz="900" dirty="0">
                <a:solidFill>
                  <a:srgbClr val="D7E3F8"/>
                </a:solidFill>
                <a:latin typeface="Courier New" pitchFamily="34" charset="0"/>
                <a:ea typeface="Courier New" pitchFamily="34" charset="-122"/>
                <a:cs typeface="Courier New" pitchFamily="34" charset="-120"/>
              </a:rPr>
              <a:t>kind: ApplicationSet</a:t>
            </a:r>
            <a:endParaRPr lang="en-US" sz="900" dirty="0"/>
          </a:p>
          <a:p>
            <a:pPr indent="0" marL="0">
              <a:lnSpc>
                <a:spcPct val="105000"/>
              </a:lnSpc>
              <a:buNone/>
            </a:pPr>
            <a:r>
              <a:rPr lang="en-US" sz="900" dirty="0">
                <a:solidFill>
                  <a:srgbClr val="D7E3F8"/>
                </a:solidFill>
                <a:latin typeface="Courier New" pitchFamily="34" charset="0"/>
                <a:ea typeface="Courier New" pitchFamily="34" charset="-122"/>
                <a:cs typeface="Courier New" pitchFamily="34" charset="-120"/>
              </a:rPr>
              <a:t>metadata:</a:t>
            </a:r>
            <a:endParaRPr lang="en-US" sz="900" dirty="0"/>
          </a:p>
          <a:p>
            <a:pPr indent="0" marL="0">
              <a:lnSpc>
                <a:spcPct val="105000"/>
              </a:lnSpc>
              <a:buNone/>
            </a:pPr>
            <a:r>
              <a:rPr lang="en-US" sz="900" dirty="0">
                <a:solidFill>
                  <a:srgbClr val="D7E3F8"/>
                </a:solidFill>
                <a:latin typeface="Courier New" pitchFamily="34" charset="0"/>
                <a:ea typeface="Courier New" pitchFamily="34" charset="-122"/>
                <a:cs typeface="Courier New" pitchFamily="34" charset="-120"/>
              </a:rPr>
              <a:t>  name: ahyaos-emission-engine</a:t>
            </a:r>
            <a:endParaRPr lang="en-US" sz="900" dirty="0"/>
          </a:p>
          <a:p>
            <a:pPr indent="0" marL="0">
              <a:lnSpc>
                <a:spcPct val="105000"/>
              </a:lnSpc>
              <a:buNone/>
            </a:pPr>
            <a:r>
              <a:rPr lang="en-US" sz="900" dirty="0">
                <a:solidFill>
                  <a:srgbClr val="D7E3F8"/>
                </a:solidFill>
                <a:latin typeface="Courier New" pitchFamily="34" charset="0"/>
                <a:ea typeface="Courier New" pitchFamily="34" charset="-122"/>
                <a:cs typeface="Courier New" pitchFamily="34" charset="-120"/>
              </a:rPr>
              <a:t>spec:</a:t>
            </a:r>
            <a:endParaRPr lang="en-US" sz="900" dirty="0"/>
          </a:p>
          <a:p>
            <a:pPr indent="0" marL="0">
              <a:lnSpc>
                <a:spcPct val="105000"/>
              </a:lnSpc>
              <a:buNone/>
            </a:pPr>
            <a:r>
              <a:rPr lang="en-US" sz="900" dirty="0">
                <a:solidFill>
                  <a:srgbClr val="D7E3F8"/>
                </a:solidFill>
                <a:latin typeface="Courier New" pitchFamily="34" charset="0"/>
                <a:ea typeface="Courier New" pitchFamily="34" charset="-122"/>
                <a:cs typeface="Courier New" pitchFamily="34" charset="-120"/>
              </a:rPr>
              <a:t>  generators:</a:t>
            </a:r>
            <a:endParaRPr lang="en-US" sz="900" dirty="0"/>
          </a:p>
          <a:p>
            <a:pPr indent="0" marL="0">
              <a:lnSpc>
                <a:spcPct val="105000"/>
              </a:lnSpc>
              <a:buNone/>
            </a:pPr>
            <a:r>
              <a:rPr lang="en-US" sz="900" dirty="0">
                <a:solidFill>
                  <a:srgbClr val="D7E3F8"/>
                </a:solidFill>
                <a:latin typeface="Courier New" pitchFamily="34" charset="0"/>
                <a:ea typeface="Courier New" pitchFamily="34" charset="-122"/>
                <a:cs typeface="Courier New" pitchFamily="34" charset="-120"/>
              </a:rPr>
              <a:t>    - clusters:</a:t>
            </a:r>
            <a:endParaRPr lang="en-US" sz="900" dirty="0"/>
          </a:p>
          <a:p>
            <a:pPr indent="0" marL="0">
              <a:lnSpc>
                <a:spcPct val="105000"/>
              </a:lnSpc>
              <a:buNone/>
            </a:pPr>
            <a:r>
              <a:rPr lang="en-US" sz="900" dirty="0">
                <a:solidFill>
                  <a:srgbClr val="D7E3F8"/>
                </a:solidFill>
                <a:latin typeface="Courier New" pitchFamily="34" charset="0"/>
                <a:ea typeface="Courier New" pitchFamily="34" charset="-122"/>
                <a:cs typeface="Courier New" pitchFamily="34" charset="-120"/>
              </a:rPr>
              <a:t>        selector: {matchLabels: {tier: production}}</a:t>
            </a:r>
            <a:endParaRPr lang="en-US" sz="900" dirty="0"/>
          </a:p>
          <a:p>
            <a:pPr indent="0" marL="0">
              <a:lnSpc>
                <a:spcPct val="105000"/>
              </a:lnSpc>
              <a:buNone/>
            </a:pPr>
            <a:r>
              <a:rPr lang="en-US" sz="900" dirty="0">
                <a:solidFill>
                  <a:srgbClr val="D7E3F8"/>
                </a:solidFill>
                <a:latin typeface="Courier New" pitchFamily="34" charset="0"/>
                <a:ea typeface="Courier New" pitchFamily="34" charset="-122"/>
                <a:cs typeface="Courier New" pitchFamily="34" charset="-120"/>
              </a:rPr>
              <a:t>  template:</a:t>
            </a:r>
            <a:endParaRPr lang="en-US" sz="900" dirty="0"/>
          </a:p>
          <a:p>
            <a:pPr indent="0" marL="0">
              <a:lnSpc>
                <a:spcPct val="105000"/>
              </a:lnSpc>
              <a:buNone/>
            </a:pPr>
            <a:r>
              <a:rPr lang="en-US" sz="900" dirty="0">
                <a:solidFill>
                  <a:srgbClr val="D7E3F8"/>
                </a:solidFill>
                <a:latin typeface="Courier New" pitchFamily="34" charset="0"/>
                <a:ea typeface="Courier New" pitchFamily="34" charset="-122"/>
                <a:cs typeface="Courier New" pitchFamily="34" charset="-120"/>
              </a:rPr>
              <a:t>    spec:</a:t>
            </a:r>
            <a:endParaRPr lang="en-US" sz="900" dirty="0"/>
          </a:p>
          <a:p>
            <a:pPr indent="0" marL="0">
              <a:lnSpc>
                <a:spcPct val="105000"/>
              </a:lnSpc>
              <a:buNone/>
            </a:pPr>
            <a:r>
              <a:rPr lang="en-US" sz="900" dirty="0">
                <a:solidFill>
                  <a:srgbClr val="D7E3F8"/>
                </a:solidFill>
                <a:latin typeface="Courier New" pitchFamily="34" charset="0"/>
                <a:ea typeface="Courier New" pitchFamily="34" charset="-122"/>
                <a:cs typeface="Courier New" pitchFamily="34" charset="-120"/>
              </a:rPr>
              <a:t>      source:</a:t>
            </a:r>
            <a:endParaRPr lang="en-US" sz="900" dirty="0"/>
          </a:p>
          <a:p>
            <a:pPr indent="0" marL="0">
              <a:lnSpc>
                <a:spcPct val="105000"/>
              </a:lnSpc>
              <a:buNone/>
            </a:pPr>
            <a:r>
              <a:rPr lang="en-US" sz="900" dirty="0">
                <a:solidFill>
                  <a:srgbClr val="D7E3F8"/>
                </a:solidFill>
                <a:latin typeface="Courier New" pitchFamily="34" charset="0"/>
                <a:ea typeface="Courier New" pitchFamily="34" charset="-122"/>
                <a:cs typeface="Courier New" pitchFamily="34" charset="-120"/>
              </a:rPr>
              <a:t>        chart: charts/ahyaos-engine</a:t>
            </a:r>
            <a:endParaRPr lang="en-US" sz="900" dirty="0"/>
          </a:p>
          <a:p>
            <a:pPr indent="0" marL="0">
              <a:lnSpc>
                <a:spcPct val="105000"/>
              </a:lnSpc>
              <a:buNone/>
            </a:pPr>
            <a:r>
              <a:rPr lang="en-US" sz="900" dirty="0">
                <a:solidFill>
                  <a:srgbClr val="D7E3F8"/>
                </a:solidFill>
                <a:latin typeface="Courier New" pitchFamily="34" charset="0"/>
                <a:ea typeface="Courier New" pitchFamily="34" charset="-122"/>
                <a:cs typeface="Courier New" pitchFamily="34" charset="-120"/>
              </a:rPr>
              <a:t>        helm:</a:t>
            </a:r>
            <a:endParaRPr lang="en-US" sz="900" dirty="0"/>
          </a:p>
          <a:p>
            <a:pPr indent="0" marL="0">
              <a:lnSpc>
                <a:spcPct val="105000"/>
              </a:lnSpc>
              <a:buNone/>
            </a:pPr>
            <a:r>
              <a:rPr lang="en-US" sz="900" dirty="0">
                <a:solidFill>
                  <a:srgbClr val="D7E3F8"/>
                </a:solidFill>
                <a:latin typeface="Courier New" pitchFamily="34" charset="0"/>
                <a:ea typeface="Courier New" pitchFamily="34" charset="-122"/>
                <a:cs typeface="Courier New" pitchFamily="34" charset="-120"/>
              </a:rPr>
              <a:t>          valueFiles: ['values-{{cloud}}.yaml']</a:t>
            </a:r>
            <a:endParaRPr lang="en-US" sz="900" dirty="0"/>
          </a:p>
          <a:p>
            <a:pPr indent="0" marL="0">
              <a:lnSpc>
                <a:spcPct val="105000"/>
              </a:lnSpc>
              <a:buNone/>
            </a:pPr>
            <a:r>
              <a:rPr lang="en-US" sz="900" dirty="0">
                <a:solidFill>
                  <a:srgbClr val="D7E3F8"/>
                </a:solidFill>
                <a:latin typeface="Courier New" pitchFamily="34" charset="0"/>
                <a:ea typeface="Courier New" pitchFamily="34" charset="-122"/>
                <a:cs typeface="Courier New" pitchFamily="34" charset="-120"/>
              </a:rPr>
              <a:t>      destination: {server: '{{server}}'}</a:t>
            </a:r>
            <a:endParaRPr lang="en-US" sz="900" dirty="0"/>
          </a:p>
        </p:txBody>
      </p:sp>
      <p:sp>
        <p:nvSpPr>
          <p:cNvPr id="8" name="Shape 6"/>
          <p:cNvSpPr/>
          <p:nvPr/>
        </p:nvSpPr>
        <p:spPr>
          <a:xfrm>
            <a:off x="6199632" y="1600200"/>
            <a:ext cx="5532120" cy="2148840"/>
          </a:xfrm>
          <a:prstGeom prst="roundRect">
            <a:avLst>
              <a:gd name="adj" fmla="val 2979"/>
            </a:avLst>
          </a:prstGeom>
          <a:solidFill>
            <a:srgbClr val="EAF0FC"/>
          </a:solidFill>
          <a:ln/>
        </p:spPr>
      </p:sp>
      <p:sp>
        <p:nvSpPr>
          <p:cNvPr id="9" name="Text 7"/>
          <p:cNvSpPr txBox="1"/>
          <p:nvPr/>
        </p:nvSpPr>
        <p:spPr>
          <a:xfrm>
            <a:off x="6382512" y="1728216"/>
            <a:ext cx="5166360" cy="310896"/>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Cluster Fleet Topology &amp; Versions</a:t>
            </a:r>
            <a:endParaRPr lang="en-US" sz="1400" dirty="0"/>
          </a:p>
        </p:txBody>
      </p:sp>
      <p:sp>
        <p:nvSpPr>
          <p:cNvPr id="10" name="Text 8"/>
          <p:cNvSpPr txBox="1"/>
          <p:nvPr/>
        </p:nvSpPr>
        <p:spPr>
          <a:xfrm>
            <a:off x="6382512" y="2093976"/>
            <a:ext cx="5166360" cy="1508760"/>
          </a:xfrm>
          <a:prstGeom prst="rect">
            <a:avLst/>
          </a:prstGeom>
          <a:noFill/>
          <a:ln/>
        </p:spPr>
        <p:txBody>
          <a:bodyPr wrap="square" lIns="0" tIns="0" rIns="0" bIns="0" rtlCol="0" anchor="t"/>
          <a:lstStyle/>
          <a:p>
            <a:pPr marL="152400" indent="-152400">
              <a:lnSpc>
                <a:spcPct val="116000"/>
              </a:lnSpc>
              <a:buSzPct val="100000"/>
              <a:buChar char="•"/>
            </a:pPr>
            <a:r>
              <a:rPr lang="en-US" sz="1030" dirty="0">
                <a:solidFill>
                  <a:srgbClr val="1A1A2E"/>
                </a:solidFill>
                <a:latin typeface="Calibri" pitchFamily="34" charset="0"/>
                <a:ea typeface="Calibri" pitchFamily="34" charset="-122"/>
                <a:cs typeface="Calibri" pitchFamily="34" charset="-120"/>
              </a:rPr>
              <a:t>AWS EKS v1.28.4 — primary AhyaOS CMAP engine &amp; Tawazun exchange</a:t>
            </a:r>
            <a:endParaRPr lang="en-US" sz="1030" dirty="0"/>
          </a:p>
          <a:p>
            <a:pPr marL="152400" indent="-152400">
              <a:lnSpc>
                <a:spcPct val="116000"/>
              </a:lnSpc>
              <a:buSzPct val="100000"/>
              <a:buChar char="•"/>
            </a:pPr>
            <a:r>
              <a:rPr lang="en-US" sz="1030" dirty="0">
                <a:solidFill>
                  <a:srgbClr val="1A1A2E"/>
                </a:solidFill>
                <a:latin typeface="Calibri" pitchFamily="34" charset="0"/>
                <a:ea typeface="Calibri" pitchFamily="34" charset="-122"/>
                <a:cs typeface="Calibri" pitchFamily="34" charset="-120"/>
              </a:rPr>
              <a:t>Azure AKS v1.28.3 — hot standby DR, synced for instant failover</a:t>
            </a:r>
            <a:endParaRPr lang="en-US" sz="1030" dirty="0"/>
          </a:p>
          <a:p>
            <a:pPr marL="152400" indent="-152400">
              <a:lnSpc>
                <a:spcPct val="116000"/>
              </a:lnSpc>
              <a:buSzPct val="100000"/>
              <a:buChar char="•"/>
            </a:pPr>
            <a:r>
              <a:rPr lang="en-US" sz="1030" dirty="0">
                <a:solidFill>
                  <a:srgbClr val="1A1A2E"/>
                </a:solidFill>
                <a:latin typeface="Calibri" pitchFamily="34" charset="0"/>
                <a:ea typeface="Calibri" pitchFamily="34" charset="-122"/>
                <a:cs typeface="Calibri" pitchFamily="34" charset="-120"/>
              </a:rPr>
              <a:t>Alibaba ACK v1.28.1 — Riyadh cluster for Saudi NDMO compliance</a:t>
            </a:r>
            <a:endParaRPr lang="en-US" sz="1030" dirty="0"/>
          </a:p>
          <a:p>
            <a:pPr marL="152400" indent="-152400">
              <a:lnSpc>
                <a:spcPct val="116000"/>
              </a:lnSpc>
              <a:buSzPct val="100000"/>
              <a:buChar char="•"/>
            </a:pPr>
            <a:r>
              <a:rPr lang="en-US" sz="1030" dirty="0">
                <a:solidFill>
                  <a:srgbClr val="1A1A2E"/>
                </a:solidFill>
                <a:latin typeface="Calibri" pitchFamily="34" charset="0"/>
                <a:ea typeface="Calibri" pitchFamily="34" charset="-122"/>
                <a:cs typeface="Calibri" pitchFamily="34" charset="-120"/>
              </a:rPr>
              <a:t>Multinet RKE2 v1.27.8 — self-managed, Pakistan data residency</a:t>
            </a:r>
            <a:endParaRPr lang="en-US" sz="1030" dirty="0"/>
          </a:p>
        </p:txBody>
      </p:sp>
      <p:sp>
        <p:nvSpPr>
          <p:cNvPr id="11" name="Shape 9"/>
          <p:cNvSpPr/>
          <p:nvPr/>
        </p:nvSpPr>
        <p:spPr>
          <a:xfrm>
            <a:off x="6199632" y="3931920"/>
            <a:ext cx="5532120" cy="2148840"/>
          </a:xfrm>
          <a:prstGeom prst="roundRect">
            <a:avLst>
              <a:gd name="adj" fmla="val 2979"/>
            </a:avLst>
          </a:prstGeom>
          <a:solidFill>
            <a:srgbClr val="EAF0FC"/>
          </a:solidFill>
          <a:ln/>
        </p:spPr>
      </p:sp>
      <p:sp>
        <p:nvSpPr>
          <p:cNvPr id="12" name="Text 10"/>
          <p:cNvSpPr txBox="1"/>
          <p:nvPr/>
        </p:nvSpPr>
        <p:spPr>
          <a:xfrm>
            <a:off x="6382512" y="4059936"/>
            <a:ext cx="5166360" cy="310896"/>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Cloud-Native Storage Matrix</a:t>
            </a:r>
            <a:endParaRPr lang="en-US" sz="1400" dirty="0"/>
          </a:p>
        </p:txBody>
      </p:sp>
      <p:sp>
        <p:nvSpPr>
          <p:cNvPr id="13" name="Text 11"/>
          <p:cNvSpPr txBox="1"/>
          <p:nvPr/>
        </p:nvSpPr>
        <p:spPr>
          <a:xfrm>
            <a:off x="6382512" y="4425696"/>
            <a:ext cx="5166360" cy="1508760"/>
          </a:xfrm>
          <a:prstGeom prst="rect">
            <a:avLst/>
          </a:prstGeom>
          <a:noFill/>
          <a:ln/>
        </p:spPr>
        <p:txBody>
          <a:bodyPr wrap="square" lIns="0" tIns="0" rIns="0" bIns="0" rtlCol="0" anchor="t"/>
          <a:lstStyle/>
          <a:p>
            <a:pPr marL="152400" indent="-152400">
              <a:lnSpc>
                <a:spcPct val="116000"/>
              </a:lnSpc>
              <a:buSzPct val="100000"/>
              <a:buChar char="•"/>
            </a:pPr>
            <a:r>
              <a:rPr lang="en-US" sz="1030" dirty="0">
                <a:solidFill>
                  <a:srgbClr val="1A1A2E"/>
                </a:solidFill>
                <a:latin typeface="Calibri" pitchFamily="34" charset="0"/>
                <a:ea typeface="Calibri" pitchFamily="34" charset="-122"/>
                <a:cs typeface="Calibri" pitchFamily="34" charset="-120"/>
              </a:rPr>
              <a:t>Unified chart: devs write standard PVCs; storage class injected via values-&lt;cloud&gt;.yaml</a:t>
            </a:r>
            <a:endParaRPr lang="en-US" sz="1030" dirty="0"/>
          </a:p>
          <a:p>
            <a:pPr marL="152400" indent="-152400">
              <a:lnSpc>
                <a:spcPct val="116000"/>
              </a:lnSpc>
              <a:buSzPct val="100000"/>
              <a:buChar char="•"/>
            </a:pPr>
            <a:r>
              <a:rPr lang="en-US" sz="1030" dirty="0">
                <a:solidFill>
                  <a:srgbClr val="1A1A2E"/>
                </a:solidFill>
                <a:latin typeface="Calibri" pitchFamily="34" charset="0"/>
                <a:ea typeface="Calibri" pitchFamily="34" charset="-122"/>
                <a:cs typeface="Calibri" pitchFamily="34" charset="-120"/>
              </a:rPr>
              <a:t>AWS: gp3 (EBS CSI) · Azure: managed-csi (Premium SSD)</a:t>
            </a:r>
            <a:endParaRPr lang="en-US" sz="1030" dirty="0"/>
          </a:p>
          <a:p>
            <a:pPr marL="152400" indent="-152400">
              <a:lnSpc>
                <a:spcPct val="116000"/>
              </a:lnSpc>
              <a:buSzPct val="100000"/>
              <a:buChar char="•"/>
            </a:pPr>
            <a:r>
              <a:rPr lang="en-US" sz="1030" dirty="0">
                <a:solidFill>
                  <a:srgbClr val="1A1A2E"/>
                </a:solidFill>
                <a:latin typeface="Calibri" pitchFamily="34" charset="0"/>
                <a:ea typeface="Calibri" pitchFamily="34" charset="-122"/>
                <a:cs typeface="Calibri" pitchFamily="34" charset="-120"/>
              </a:rPr>
              <a:t>Alibaba: alicloud-disk-SSD · Multinet: local-path + Ceph</a:t>
            </a:r>
            <a:endParaRPr lang="en-US" sz="1030" dirty="0"/>
          </a:p>
        </p:txBody>
      </p:sp>
      <p:sp>
        <p:nvSpPr>
          <p:cNvPr id="14" name="Text 12"/>
          <p:cNvSpPr txBox="1"/>
          <p:nvPr/>
        </p:nvSpPr>
        <p:spPr>
          <a:xfrm>
            <a:off x="11521440" y="6473952"/>
            <a:ext cx="365760" cy="274320"/>
          </a:xfrm>
          <a:prstGeom prst="rect">
            <a:avLst/>
          </a:prstGeom>
          <a:noFill/>
          <a:ln/>
        </p:spPr>
        <p:txBody>
          <a:bodyPr wrap="square" lIns="0" tIns="0" rIns="0" bIns="0" rtlCol="0" anchor="ctr"/>
          <a:lstStyle/>
          <a:p>
            <a:pPr algn="r" indent="0" marL="0">
              <a:buNone/>
            </a:pPr>
            <a:r>
              <a:rPr lang="en-US" sz="900" dirty="0">
                <a:solidFill>
                  <a:srgbClr val="8891A3"/>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4552" cy="292608"/>
          </a:xfrm>
          <a:prstGeom prst="rect">
            <a:avLst/>
          </a:prstGeom>
          <a:noFill/>
          <a:ln/>
        </p:spPr>
        <p:txBody>
          <a:bodyPr wrap="square" lIns="0" tIns="0" rIns="0" bIns="0" rtlCol="0" anchor="ctr"/>
          <a:lstStyle/>
          <a:p>
            <a:pPr indent="0" marL="0">
              <a:buNone/>
            </a:pPr>
            <a:r>
              <a:rPr lang="en-US" sz="1200" b="1" spc="200" kern="0" dirty="0">
                <a:solidFill>
                  <a:srgbClr val="0B8484"/>
                </a:solidFill>
                <a:latin typeface="Calibri" pitchFamily="34" charset="0"/>
                <a:ea typeface="Calibri" pitchFamily="34" charset="-122"/>
                <a:cs typeface="Calibri" pitchFamily="34" charset="-120"/>
              </a:rPr>
              <a:t>QUESTION 2 · PRODUCTION WAR STORY</a:t>
            </a:r>
            <a:endParaRPr lang="en-US" sz="1200" dirty="0"/>
          </a:p>
        </p:txBody>
      </p:sp>
      <p:sp>
        <p:nvSpPr>
          <p:cNvPr id="3" name="Text 1"/>
          <p:cNvSpPr txBox="1"/>
          <p:nvPr/>
        </p:nvSpPr>
        <p:spPr>
          <a:xfrm>
            <a:off x="457200" y="585216"/>
            <a:ext cx="11274552"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Kernel-Level Cilium eBPF Outage &amp; Automated Node Patching</a:t>
            </a:r>
            <a:endParaRPr lang="en-US" sz="2700" dirty="0"/>
          </a:p>
        </p:txBody>
      </p:sp>
      <p:sp>
        <p:nvSpPr>
          <p:cNvPr id="4" name="Text 2"/>
          <p:cNvSpPr txBox="1"/>
          <p:nvPr/>
        </p:nvSpPr>
        <p:spPr>
          <a:xfrm>
            <a:off x="457200" y="1133856"/>
            <a:ext cx="11274552" cy="320040"/>
          </a:xfrm>
          <a:prstGeom prst="rect">
            <a:avLst/>
          </a:prstGeom>
          <a:noFill/>
          <a:ln/>
        </p:spPr>
        <p:txBody>
          <a:bodyPr wrap="square" lIns="0" tIns="0" rIns="0" bIns="0" rtlCol="0" anchor="ctr"/>
          <a:lstStyle/>
          <a:p>
            <a:pPr indent="0" marL="0">
              <a:buNone/>
            </a:pPr>
            <a:r>
              <a:rPr lang="en-US" sz="1350" i="1" dirty="0">
                <a:solidFill>
                  <a:srgbClr val="5B6478"/>
                </a:solidFill>
                <a:latin typeface="Calibri" pitchFamily="34" charset="0"/>
                <a:ea typeface="Calibri" pitchFamily="34" charset="-122"/>
                <a:cs typeface="Calibri" pitchFamily="34" charset="-120"/>
              </a:rPr>
              <a:t>Automating rolling updates across 4 clouds and troubleshooting eBPF map exhaustion during an RKE2 upgrade</a:t>
            </a:r>
            <a:endParaRPr lang="en-US" sz="1350" dirty="0"/>
          </a:p>
        </p:txBody>
      </p:sp>
      <p:sp>
        <p:nvSpPr>
          <p:cNvPr id="5" name="Shape 3"/>
          <p:cNvSpPr/>
          <p:nvPr/>
        </p:nvSpPr>
        <p:spPr>
          <a:xfrm>
            <a:off x="457200" y="1600200"/>
            <a:ext cx="11274552" cy="1417320"/>
          </a:xfrm>
          <a:prstGeom prst="roundRect">
            <a:avLst>
              <a:gd name="adj" fmla="val 4516"/>
            </a:avLst>
          </a:prstGeom>
          <a:solidFill>
            <a:srgbClr val="F7E9DD"/>
          </a:solidFill>
          <a:ln/>
        </p:spPr>
      </p:sp>
      <p:sp>
        <p:nvSpPr>
          <p:cNvPr id="6" name="Text 4"/>
          <p:cNvSpPr txBox="1"/>
          <p:nvPr/>
        </p:nvSpPr>
        <p:spPr>
          <a:xfrm>
            <a:off x="640080" y="1728216"/>
            <a:ext cx="10908792" cy="310896"/>
          </a:xfrm>
          <a:prstGeom prst="rect">
            <a:avLst/>
          </a:prstGeom>
          <a:noFill/>
          <a:ln/>
        </p:spPr>
        <p:txBody>
          <a:bodyPr wrap="square" lIns="0" tIns="0" rIns="0" bIns="0" rtlCol="0" anchor="ctr"/>
          <a:lstStyle/>
          <a:p>
            <a:pPr indent="0" marL="0">
              <a:buNone/>
            </a:pPr>
            <a:r>
              <a:rPr lang="en-US" sz="1400" b="1" dirty="0">
                <a:solidFill>
                  <a:srgbClr val="C9862B"/>
                </a:solidFill>
                <a:latin typeface="Calibri" pitchFamily="34" charset="0"/>
                <a:ea typeface="Calibri" pitchFamily="34" charset="-122"/>
                <a:cs typeface="Calibri" pitchFamily="34" charset="-120"/>
              </a:rPr>
              <a:t>The Incident — Cilium eBPF Allocation Crash</a:t>
            </a:r>
            <a:endParaRPr lang="en-US" sz="1400" dirty="0"/>
          </a:p>
        </p:txBody>
      </p:sp>
      <p:sp>
        <p:nvSpPr>
          <p:cNvPr id="7" name="Text 5"/>
          <p:cNvSpPr txBox="1"/>
          <p:nvPr/>
        </p:nvSpPr>
        <p:spPr>
          <a:xfrm>
            <a:off x="640080" y="2093976"/>
            <a:ext cx="10908792" cy="777240"/>
          </a:xfrm>
          <a:prstGeom prst="rect">
            <a:avLst/>
          </a:prstGeom>
          <a:noFill/>
          <a:ln/>
        </p:spPr>
        <p:txBody>
          <a:bodyPr wrap="square" lIns="0" tIns="0" rIns="0" bIns="0" rtlCol="0" anchor="t"/>
          <a:lstStyle/>
          <a:p>
            <a:pPr marL="152400" indent="-152400">
              <a:lnSpc>
                <a:spcPct val="116000"/>
              </a:lnSpc>
              <a:buSzPct val="100000"/>
              <a:buChar char="•"/>
            </a:pPr>
            <a:r>
              <a:rPr lang="en-US" sz="1080" dirty="0">
                <a:solidFill>
                  <a:srgbClr val="1A1A2E"/>
                </a:solidFill>
                <a:latin typeface="Calibri" pitchFamily="34" charset="0"/>
                <a:ea typeface="Calibri" pitchFamily="34" charset="-122"/>
                <a:cs typeface="Calibri" pitchFamily="34" charset="-120"/>
              </a:rPr>
              <a:t>Multinet RKE2 v1.26→v1.27 upgrade: batch pods stuck CrashLoopBackOff</a:t>
            </a:r>
            <a:endParaRPr lang="en-US" sz="1080" dirty="0"/>
          </a:p>
          <a:p>
            <a:pPr marL="152400" indent="-152400">
              <a:lnSpc>
                <a:spcPct val="116000"/>
              </a:lnSpc>
              <a:buSzPct val="100000"/>
              <a:buChar char="•"/>
            </a:pPr>
            <a:r>
              <a:rPr lang="en-US" sz="1080" dirty="0">
                <a:solidFill>
                  <a:srgbClr val="1A1A2E"/>
                </a:solidFill>
                <a:latin typeface="Calibri" pitchFamily="34" charset="0"/>
                <a:ea typeface="Calibri" pitchFamily="34" charset="-122"/>
                <a:cs typeface="Calibri" pitchFamily="34" charset="-120"/>
              </a:rPr>
              <a:t>Kubelet error: "cilium-cni: failed to create bpf map: cannot allocate memory"</a:t>
            </a:r>
            <a:endParaRPr lang="en-US" sz="1080" dirty="0"/>
          </a:p>
          <a:p>
            <a:pPr marL="152400" indent="-152400">
              <a:lnSpc>
                <a:spcPct val="116000"/>
              </a:lnSpc>
              <a:buSzPct val="100000"/>
              <a:buChar char="•"/>
            </a:pPr>
            <a:r>
              <a:rPr lang="en-US" sz="1080" dirty="0">
                <a:solidFill>
                  <a:srgbClr val="1A1A2E"/>
                </a:solidFill>
                <a:latin typeface="Calibri" pitchFamily="34" charset="0"/>
                <a:ea typeface="Calibri" pitchFamily="34" charset="-122"/>
                <a:cs typeface="Calibri" pitchFamily="34" charset="-120"/>
              </a:rPr>
              <a:t>Root cause: Ubuntu 20.04 / Kernel 5.4 default BPF memory exhausted at &gt;60 pods/node (Cilium v1.14.4)</a:t>
            </a:r>
            <a:endParaRPr lang="en-US" sz="1080" dirty="0"/>
          </a:p>
        </p:txBody>
      </p:sp>
      <p:sp>
        <p:nvSpPr>
          <p:cNvPr id="8" name="Shape 6"/>
          <p:cNvSpPr/>
          <p:nvPr/>
        </p:nvSpPr>
        <p:spPr>
          <a:xfrm>
            <a:off x="457200" y="3154680"/>
            <a:ext cx="3605784" cy="1463040"/>
          </a:xfrm>
          <a:prstGeom prst="roundRect">
            <a:avLst>
              <a:gd name="adj" fmla="val 4375"/>
            </a:avLst>
          </a:prstGeom>
          <a:solidFill>
            <a:srgbClr val="EAF0FC"/>
          </a:solidFill>
          <a:ln/>
          <a:effectLst>
            <a:outerShdw sx="100000" sy="100000" kx="0" ky="0" algn="bl" rotWithShape="0" blurRad="63500" dist="25400" dir="5400000">
              <a:srgbClr val="1E2761">
                <a:alpha val="10000"/>
              </a:srgbClr>
            </a:outerShdw>
          </a:effectLst>
        </p:spPr>
      </p:sp>
      <p:sp>
        <p:nvSpPr>
          <p:cNvPr id="9" name="Text 7"/>
          <p:cNvSpPr txBox="1"/>
          <p:nvPr/>
        </p:nvSpPr>
        <p:spPr>
          <a:xfrm>
            <a:off x="603504" y="3630168"/>
            <a:ext cx="3313176"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AWS EKS — Karpenter</a:t>
            </a:r>
            <a:endParaRPr lang="en-US" sz="1300" dirty="0"/>
          </a:p>
        </p:txBody>
      </p:sp>
      <p:sp>
        <p:nvSpPr>
          <p:cNvPr id="10" name="Text 8"/>
          <p:cNvSpPr txBox="1"/>
          <p:nvPr/>
        </p:nvSpPr>
        <p:spPr>
          <a:xfrm>
            <a:off x="603504" y="3977640"/>
            <a:ext cx="3313176" cy="530352"/>
          </a:xfrm>
          <a:prstGeom prst="rect">
            <a:avLst/>
          </a:prstGeom>
          <a:noFill/>
          <a:ln/>
        </p:spPr>
        <p:txBody>
          <a:bodyPr wrap="square" lIns="0" tIns="0" rIns="0" bIns="0" rtlCol="0" anchor="t"/>
          <a:lstStyle/>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JIT node provisioning, maxUnavailable: 1</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Detects new AMIs, replaces nodes gracefully</a:t>
            </a:r>
            <a:endParaRPr lang="en-US" sz="970" dirty="0"/>
          </a:p>
        </p:txBody>
      </p:sp>
      <p:sp>
        <p:nvSpPr>
          <p:cNvPr id="11" name="Shape 9"/>
          <p:cNvSpPr/>
          <p:nvPr/>
        </p:nvSpPr>
        <p:spPr>
          <a:xfrm>
            <a:off x="4291584" y="3154680"/>
            <a:ext cx="3605784" cy="1463040"/>
          </a:xfrm>
          <a:prstGeom prst="roundRect">
            <a:avLst>
              <a:gd name="adj" fmla="val 4375"/>
            </a:avLst>
          </a:prstGeom>
          <a:solidFill>
            <a:srgbClr val="EAF0FC"/>
          </a:solidFill>
          <a:ln/>
          <a:effectLst>
            <a:outerShdw sx="100000" sy="100000" kx="0" ky="0" algn="bl" rotWithShape="0" blurRad="63500" dist="25400" dir="5400000">
              <a:srgbClr val="1E2761">
                <a:alpha val="10000"/>
              </a:srgbClr>
            </a:outerShdw>
          </a:effectLst>
        </p:spPr>
      </p:sp>
      <p:sp>
        <p:nvSpPr>
          <p:cNvPr id="12" name="Text 10"/>
          <p:cNvSpPr txBox="1"/>
          <p:nvPr/>
        </p:nvSpPr>
        <p:spPr>
          <a:xfrm>
            <a:off x="4437888" y="3630168"/>
            <a:ext cx="3313176"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Azure AKS — Node Surge</a:t>
            </a:r>
            <a:endParaRPr lang="en-US" sz="1300" dirty="0"/>
          </a:p>
        </p:txBody>
      </p:sp>
      <p:sp>
        <p:nvSpPr>
          <p:cNvPr id="13" name="Text 11"/>
          <p:cNvSpPr txBox="1"/>
          <p:nvPr/>
        </p:nvSpPr>
        <p:spPr>
          <a:xfrm>
            <a:off x="4437888" y="3977640"/>
            <a:ext cx="3313176" cy="530352"/>
          </a:xfrm>
          <a:prstGeom prst="rect">
            <a:avLst/>
          </a:prstGeom>
          <a:noFill/>
          <a:ln/>
        </p:spPr>
        <p:txBody>
          <a:bodyPr wrap="square" lIns="0" tIns="0" rIns="0" bIns="0" rtlCol="0" anchor="t"/>
          <a:lstStyle/>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az aks nodepool upgrade --max-surge 33%</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New nodes provisioned before cordon — 100% capacity retained</a:t>
            </a:r>
            <a:endParaRPr lang="en-US" sz="970" dirty="0"/>
          </a:p>
        </p:txBody>
      </p:sp>
      <p:sp>
        <p:nvSpPr>
          <p:cNvPr id="14" name="Shape 12"/>
          <p:cNvSpPr/>
          <p:nvPr/>
        </p:nvSpPr>
        <p:spPr>
          <a:xfrm>
            <a:off x="8125968" y="3154680"/>
            <a:ext cx="3605784" cy="1463040"/>
          </a:xfrm>
          <a:prstGeom prst="roundRect">
            <a:avLst>
              <a:gd name="adj" fmla="val 4375"/>
            </a:avLst>
          </a:prstGeom>
          <a:solidFill>
            <a:srgbClr val="EAF0FC"/>
          </a:solidFill>
          <a:ln/>
          <a:effectLst>
            <a:outerShdw sx="100000" sy="100000" kx="0" ky="0" algn="bl" rotWithShape="0" blurRad="63500" dist="25400" dir="5400000">
              <a:srgbClr val="1E2761">
                <a:alpha val="10000"/>
              </a:srgbClr>
            </a:outerShdw>
          </a:effectLst>
        </p:spPr>
      </p:sp>
      <p:sp>
        <p:nvSpPr>
          <p:cNvPr id="15" name="Text 13"/>
          <p:cNvSpPr txBox="1"/>
          <p:nvPr/>
        </p:nvSpPr>
        <p:spPr>
          <a:xfrm>
            <a:off x="8272272" y="3630168"/>
            <a:ext cx="3313176"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Multinet RKE2 — Ansible</a:t>
            </a:r>
            <a:endParaRPr lang="en-US" sz="1300" dirty="0"/>
          </a:p>
        </p:txBody>
      </p:sp>
      <p:sp>
        <p:nvSpPr>
          <p:cNvPr id="16" name="Text 14"/>
          <p:cNvSpPr txBox="1"/>
          <p:nvPr/>
        </p:nvSpPr>
        <p:spPr>
          <a:xfrm>
            <a:off x="8272272" y="3977640"/>
            <a:ext cx="3313176" cy="530352"/>
          </a:xfrm>
          <a:prstGeom prst="rect">
            <a:avLst/>
          </a:prstGeom>
          <a:noFill/>
          <a:ln/>
        </p:spPr>
        <p:txBody>
          <a:bodyPr wrap="square" lIns="0" tIns="0" rIns="0" bIns="0" rtlCol="0" anchor="t"/>
          <a:lstStyle/>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cordon → drain (grace 180s) → upgrade rke2-agent → restart → uncordon</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Sequential per-node, maintains quorum</a:t>
            </a:r>
            <a:endParaRPr lang="en-US" sz="970" dirty="0"/>
          </a:p>
        </p:txBody>
      </p:sp>
      <p:sp>
        <p:nvSpPr>
          <p:cNvPr id="17" name="Shape 15"/>
          <p:cNvSpPr/>
          <p:nvPr/>
        </p:nvSpPr>
        <p:spPr>
          <a:xfrm>
            <a:off x="457200" y="4846320"/>
            <a:ext cx="11274552" cy="1234440"/>
          </a:xfrm>
          <a:prstGeom prst="roundRect">
            <a:avLst>
              <a:gd name="adj" fmla="val 5185"/>
            </a:avLst>
          </a:prstGeom>
          <a:solidFill>
            <a:srgbClr val="EAF0FC"/>
          </a:solidFill>
          <a:ln/>
        </p:spPr>
      </p:sp>
      <p:sp>
        <p:nvSpPr>
          <p:cNvPr id="18" name="Text 16"/>
          <p:cNvSpPr txBox="1"/>
          <p:nvPr/>
        </p:nvSpPr>
        <p:spPr>
          <a:xfrm>
            <a:off x="640080" y="4974336"/>
            <a:ext cx="10908792" cy="310896"/>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Kernel Remediation &amp; Golden Image Baking</a:t>
            </a:r>
            <a:endParaRPr lang="en-US" sz="1400" dirty="0"/>
          </a:p>
        </p:txBody>
      </p:sp>
      <p:sp>
        <p:nvSpPr>
          <p:cNvPr id="19" name="Text 17"/>
          <p:cNvSpPr txBox="1"/>
          <p:nvPr/>
        </p:nvSpPr>
        <p:spPr>
          <a:xfrm>
            <a:off x="640080" y="5340096"/>
            <a:ext cx="10908792" cy="594360"/>
          </a:xfrm>
          <a:prstGeom prst="rect">
            <a:avLst/>
          </a:prstGeom>
          <a:noFill/>
          <a:ln/>
        </p:spPr>
        <p:txBody>
          <a:bodyPr wrap="square" lIns="0" tIns="0" rIns="0" bIns="0" rtlCol="0" anchor="t"/>
          <a:lstStyle/>
          <a:p>
            <a:pPr marL="152400" indent="-152400">
              <a:lnSpc>
                <a:spcPct val="116000"/>
              </a:lnSpc>
              <a:buSzPct val="100000"/>
              <a:buChar char="•"/>
            </a:pPr>
            <a:r>
              <a:rPr lang="en-US" sz="1030" dirty="0">
                <a:solidFill>
                  <a:srgbClr val="1A1A2E"/>
                </a:solidFill>
                <a:latin typeface="Calibri" pitchFamily="34" charset="0"/>
                <a:ea typeface="Calibri" pitchFamily="34" charset="-122"/>
                <a:cs typeface="Calibri" pitchFamily="34" charset="-120"/>
              </a:rPr>
              <a:t>Immediate triage (14 min): sysctl net.core.bpf_jit_limit=1073741824; kernel.unprivileged_bpf_disabled=0 — all pods healthy</a:t>
            </a:r>
            <a:endParaRPr lang="en-US" sz="1030" dirty="0"/>
          </a:p>
          <a:p>
            <a:pPr marL="152400" indent="-152400">
              <a:lnSpc>
                <a:spcPct val="116000"/>
              </a:lnSpc>
              <a:buSzPct val="100000"/>
              <a:buChar char="•"/>
            </a:pPr>
            <a:r>
              <a:rPr lang="en-US" sz="1030" dirty="0">
                <a:solidFill>
                  <a:srgbClr val="1A1A2E"/>
                </a:solidFill>
                <a:latin typeface="Calibri" pitchFamily="34" charset="0"/>
                <a:ea typeface="Calibri" pitchFamily="34" charset="-122"/>
                <a:cs typeface="Calibri" pitchFamily="34" charset="-120"/>
              </a:rPr>
              <a:t>Packer golden image hardening: limits baked into /etc/sysctl.d/99-cilium-bpf.conf</a:t>
            </a:r>
            <a:endParaRPr lang="en-US" sz="1030" dirty="0"/>
          </a:p>
          <a:p>
            <a:pPr marL="152400" indent="-152400">
              <a:lnSpc>
                <a:spcPct val="116000"/>
              </a:lnSpc>
              <a:buSzPct val="100000"/>
              <a:buChar char="•"/>
            </a:pPr>
            <a:r>
              <a:rPr lang="en-US" sz="1030" dirty="0">
                <a:solidFill>
                  <a:srgbClr val="1A1A2E"/>
                </a:solidFill>
                <a:latin typeface="Calibri" pitchFamily="34" charset="0"/>
                <a:ea typeface="Calibri" pitchFamily="34" charset="-122"/>
                <a:cs typeface="Calibri" pitchFamily="34" charset="-120"/>
              </a:rPr>
              <a:t>Permanent outcome: every new Multinet node boots with hardened eBPF memory thresholds</a:t>
            </a:r>
            <a:endParaRPr lang="en-US" sz="1030" dirty="0"/>
          </a:p>
        </p:txBody>
      </p:sp>
      <p:sp>
        <p:nvSpPr>
          <p:cNvPr id="20" name="Text 18"/>
          <p:cNvSpPr txBox="1"/>
          <p:nvPr/>
        </p:nvSpPr>
        <p:spPr>
          <a:xfrm>
            <a:off x="11521440" y="6473952"/>
            <a:ext cx="365760" cy="274320"/>
          </a:xfrm>
          <a:prstGeom prst="rect">
            <a:avLst/>
          </a:prstGeom>
          <a:noFill/>
          <a:ln/>
        </p:spPr>
        <p:txBody>
          <a:bodyPr wrap="square" lIns="0" tIns="0" rIns="0" bIns="0" rtlCol="0" anchor="ctr"/>
          <a:lstStyle/>
          <a:p>
            <a:pPr algn="r" indent="0" marL="0">
              <a:buNone/>
            </a:pPr>
            <a:r>
              <a:rPr lang="en-US" sz="900" dirty="0">
                <a:solidFill>
                  <a:srgbClr val="8891A3"/>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4552" cy="292608"/>
          </a:xfrm>
          <a:prstGeom prst="rect">
            <a:avLst/>
          </a:prstGeom>
          <a:noFill/>
          <a:ln/>
        </p:spPr>
        <p:txBody>
          <a:bodyPr wrap="square" lIns="0" tIns="0" rIns="0" bIns="0" rtlCol="0" anchor="ctr"/>
          <a:lstStyle/>
          <a:p>
            <a:pPr indent="0" marL="0">
              <a:buNone/>
            </a:pPr>
            <a:r>
              <a:rPr lang="en-US" sz="1200" b="1" spc="200" kern="0" dirty="0">
                <a:solidFill>
                  <a:srgbClr val="0B8484"/>
                </a:solidFill>
                <a:latin typeface="Calibri" pitchFamily="34" charset="0"/>
                <a:ea typeface="Calibri" pitchFamily="34" charset="-122"/>
                <a:cs typeface="Calibri" pitchFamily="34" charset="-120"/>
              </a:rPr>
              <a:t>QUESTION 3 · PATCH MANAGEMENT &amp; DEVSECOPS</a:t>
            </a:r>
            <a:endParaRPr lang="en-US" sz="1200" dirty="0"/>
          </a:p>
        </p:txBody>
      </p:sp>
      <p:sp>
        <p:nvSpPr>
          <p:cNvPr id="3" name="Text 1"/>
          <p:cNvSpPr txBox="1"/>
          <p:nvPr/>
        </p:nvSpPr>
        <p:spPr>
          <a:xfrm>
            <a:off x="457200" y="585216"/>
            <a:ext cx="11274552"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Automated Fleet Maintenance Across 200 VMs &amp; 200+ Images</a:t>
            </a:r>
            <a:endParaRPr lang="en-US" sz="2700" dirty="0"/>
          </a:p>
        </p:txBody>
      </p:sp>
      <p:sp>
        <p:nvSpPr>
          <p:cNvPr id="4" name="Text 2"/>
          <p:cNvSpPr txBox="1"/>
          <p:nvPr/>
        </p:nvSpPr>
        <p:spPr>
          <a:xfrm>
            <a:off x="457200" y="1133856"/>
            <a:ext cx="11274552" cy="320040"/>
          </a:xfrm>
          <a:prstGeom prst="rect">
            <a:avLst/>
          </a:prstGeom>
          <a:noFill/>
          <a:ln/>
        </p:spPr>
        <p:txBody>
          <a:bodyPr wrap="square" lIns="0" tIns="0" rIns="0" bIns="0" rtlCol="0" anchor="ctr"/>
          <a:lstStyle/>
          <a:p>
            <a:pPr indent="0" marL="0">
              <a:buNone/>
            </a:pPr>
            <a:r>
              <a:rPr lang="en-US" sz="1350" i="1" dirty="0">
                <a:solidFill>
                  <a:srgbClr val="5B6478"/>
                </a:solidFill>
                <a:latin typeface="Calibri" pitchFamily="34" charset="0"/>
                <a:ea typeface="Calibri" pitchFamily="34" charset="-122"/>
                <a:cs typeface="Calibri" pitchFamily="34" charset="-120"/>
              </a:rPr>
              <a:t>Progressive ring deployment, Windows WinRM management, CIS golden images, and Trivy security gates</a:t>
            </a:r>
            <a:endParaRPr lang="en-US" sz="1350" dirty="0"/>
          </a:p>
        </p:txBody>
      </p:sp>
      <p:sp>
        <p:nvSpPr>
          <p:cNvPr id="5" name="Shape 3"/>
          <p:cNvSpPr/>
          <p:nvPr/>
        </p:nvSpPr>
        <p:spPr>
          <a:xfrm>
            <a:off x="2025853" y="1691640"/>
            <a:ext cx="438912" cy="438912"/>
          </a:xfrm>
          <a:prstGeom prst="ellipse">
            <a:avLst/>
          </a:prstGeom>
          <a:solidFill>
            <a:srgbClr val="1E2761"/>
          </a:solidFill>
          <a:ln/>
        </p:spPr>
      </p:sp>
      <p:sp>
        <p:nvSpPr>
          <p:cNvPr id="6" name="Text 4"/>
          <p:cNvSpPr txBox="1"/>
          <p:nvPr/>
        </p:nvSpPr>
        <p:spPr>
          <a:xfrm>
            <a:off x="2025853" y="169164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457200" y="2240280"/>
            <a:ext cx="3576218" cy="50292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Fleet Scope &amp; Ring Deployment</a:t>
            </a:r>
            <a:endParaRPr lang="en-US" sz="1250" dirty="0"/>
          </a:p>
        </p:txBody>
      </p:sp>
      <p:sp>
        <p:nvSpPr>
          <p:cNvPr id="8" name="Shape 6"/>
          <p:cNvSpPr/>
          <p:nvPr/>
        </p:nvSpPr>
        <p:spPr>
          <a:xfrm>
            <a:off x="457200" y="2770632"/>
            <a:ext cx="3576218" cy="3355848"/>
          </a:xfrm>
          <a:prstGeom prst="roundRect">
            <a:avLst>
              <a:gd name="adj" fmla="val 1907"/>
            </a:avLst>
          </a:prstGeom>
          <a:solidFill>
            <a:srgbClr val="EAF0FC"/>
          </a:solidFill>
          <a:ln/>
        </p:spPr>
      </p:sp>
      <p:sp>
        <p:nvSpPr>
          <p:cNvPr id="9" name="Text 7"/>
          <p:cNvSpPr txBox="1"/>
          <p:nvPr/>
        </p:nvSpPr>
        <p:spPr>
          <a:xfrm>
            <a:off x="603504" y="2916936"/>
            <a:ext cx="3283610" cy="3063240"/>
          </a:xfrm>
          <a:prstGeom prst="rect">
            <a:avLst/>
          </a:prstGeom>
          <a:noFill/>
          <a:ln/>
        </p:spPr>
        <p:txBody>
          <a:bodyPr wrap="square" lIns="0" tIns="0" rIns="0" bIns="0" rtlCol="0" anchor="t"/>
          <a:lstStyle/>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150 Linux VMs (Ubuntu/RHEL: Kafka, Redis, ML) + 50 Windows Server 2022 (SAP/Dynamics ERP)</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Ansible Core v2.15.4 via AWX, dynamic inventory across AWS/Azure/Multinet</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Ring 0 Dev (10% canary) → Ring 1 Staging (100%) → Ring 2 Prod (20% batches, max_fail 0%)</a:t>
            </a:r>
            <a:endParaRPr lang="en-US" sz="1050" dirty="0"/>
          </a:p>
        </p:txBody>
      </p:sp>
      <p:sp>
        <p:nvSpPr>
          <p:cNvPr id="10" name="Text 8"/>
          <p:cNvSpPr txBox="1"/>
          <p:nvPr/>
        </p:nvSpPr>
        <p:spPr>
          <a:xfrm>
            <a:off x="4015130" y="2194560"/>
            <a:ext cx="310896" cy="457200"/>
          </a:xfrm>
          <a:prstGeom prst="rect">
            <a:avLst/>
          </a:prstGeom>
          <a:noFill/>
          <a:ln/>
        </p:spPr>
        <p:txBody>
          <a:bodyPr wrap="square" lIns="0" tIns="0" rIns="0" bIns="0" rtlCol="0" anchor="ctr"/>
          <a:lstStyle/>
          <a:p>
            <a:pPr algn="ctr" indent="0" marL="0">
              <a:buNone/>
            </a:pPr>
            <a:r>
              <a:rPr lang="en-US" sz="2200" b="1" dirty="0">
                <a:solidFill>
                  <a:srgbClr val="0EA5A5"/>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5876392" y="1691640"/>
            <a:ext cx="438912" cy="438912"/>
          </a:xfrm>
          <a:prstGeom prst="ellipse">
            <a:avLst/>
          </a:prstGeom>
          <a:solidFill>
            <a:srgbClr val="1E2761"/>
          </a:solidFill>
          <a:ln/>
        </p:spPr>
      </p:sp>
      <p:sp>
        <p:nvSpPr>
          <p:cNvPr id="12" name="Text 10"/>
          <p:cNvSpPr txBox="1"/>
          <p:nvPr/>
        </p:nvSpPr>
        <p:spPr>
          <a:xfrm>
            <a:off x="5876392" y="169164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4307738" y="2240280"/>
            <a:ext cx="3576218" cy="50292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Windows Fleet &amp; WinRM Hardening</a:t>
            </a:r>
            <a:endParaRPr lang="en-US" sz="1250" dirty="0"/>
          </a:p>
        </p:txBody>
      </p:sp>
      <p:sp>
        <p:nvSpPr>
          <p:cNvPr id="14" name="Shape 12"/>
          <p:cNvSpPr/>
          <p:nvPr/>
        </p:nvSpPr>
        <p:spPr>
          <a:xfrm>
            <a:off x="4307738" y="2770632"/>
            <a:ext cx="3576218" cy="3355848"/>
          </a:xfrm>
          <a:prstGeom prst="roundRect">
            <a:avLst>
              <a:gd name="adj" fmla="val 1907"/>
            </a:avLst>
          </a:prstGeom>
          <a:solidFill>
            <a:srgbClr val="EAF0FC"/>
          </a:solidFill>
          <a:ln/>
        </p:spPr>
      </p:sp>
      <p:sp>
        <p:nvSpPr>
          <p:cNvPr id="15" name="Text 13"/>
          <p:cNvSpPr txBox="1"/>
          <p:nvPr/>
        </p:nvSpPr>
        <p:spPr>
          <a:xfrm>
            <a:off x="4454042" y="2916936"/>
            <a:ext cx="3283610" cy="3063240"/>
          </a:xfrm>
          <a:prstGeom prst="rect">
            <a:avLst/>
          </a:prstGeom>
          <a:noFill/>
          <a:ln/>
        </p:spPr>
        <p:txBody>
          <a:bodyPr wrap="square" lIns="0" tIns="0" rIns="0" bIns="0" rtlCol="0" anchor="t"/>
          <a:lstStyle/>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50 Windows VMs bridge AhyaOS carbon accounting to SAP / Dynamics ERPs</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Ansible over WinRM HTTPS (5986) only — plaintext 5985 disabled</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Vault dynamically rotates WinRM TLS certs</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reboot_timeout: 1200s to survive cumulative update reboots</a:t>
            </a:r>
            <a:endParaRPr lang="en-US" sz="1050" dirty="0"/>
          </a:p>
        </p:txBody>
      </p:sp>
      <p:sp>
        <p:nvSpPr>
          <p:cNvPr id="16" name="Text 14"/>
          <p:cNvSpPr txBox="1"/>
          <p:nvPr/>
        </p:nvSpPr>
        <p:spPr>
          <a:xfrm>
            <a:off x="7865669" y="2194560"/>
            <a:ext cx="310896" cy="457200"/>
          </a:xfrm>
          <a:prstGeom prst="rect">
            <a:avLst/>
          </a:prstGeom>
          <a:noFill/>
          <a:ln/>
        </p:spPr>
        <p:txBody>
          <a:bodyPr wrap="square" lIns="0" tIns="0" rIns="0" bIns="0" rtlCol="0" anchor="ctr"/>
          <a:lstStyle/>
          <a:p>
            <a:pPr algn="ctr" indent="0" marL="0">
              <a:buNone/>
            </a:pPr>
            <a:r>
              <a:rPr lang="en-US" sz="2200" b="1" dirty="0">
                <a:solidFill>
                  <a:srgbClr val="0EA5A5"/>
                </a:solidFill>
                <a:latin typeface="Calibri" pitchFamily="34" charset="0"/>
                <a:ea typeface="Calibri" pitchFamily="34" charset="-122"/>
                <a:cs typeface="Calibri" pitchFamily="34" charset="-120"/>
              </a:rPr>
              <a:t>›</a:t>
            </a:r>
            <a:endParaRPr lang="en-US" sz="2200" dirty="0"/>
          </a:p>
        </p:txBody>
      </p:sp>
      <p:sp>
        <p:nvSpPr>
          <p:cNvPr id="17" name="Shape 15"/>
          <p:cNvSpPr/>
          <p:nvPr/>
        </p:nvSpPr>
        <p:spPr>
          <a:xfrm>
            <a:off x="9726930" y="1691640"/>
            <a:ext cx="438912" cy="438912"/>
          </a:xfrm>
          <a:prstGeom prst="ellipse">
            <a:avLst/>
          </a:prstGeom>
          <a:solidFill>
            <a:srgbClr val="1E2761"/>
          </a:solidFill>
          <a:ln/>
        </p:spPr>
      </p:sp>
      <p:sp>
        <p:nvSpPr>
          <p:cNvPr id="18" name="Text 16"/>
          <p:cNvSpPr txBox="1"/>
          <p:nvPr/>
        </p:nvSpPr>
        <p:spPr>
          <a:xfrm>
            <a:off x="9726930" y="169164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8158277" y="2240280"/>
            <a:ext cx="3576218" cy="50292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Immutable Nodes &amp; Container Pipeline</a:t>
            </a:r>
            <a:endParaRPr lang="en-US" sz="1250" dirty="0"/>
          </a:p>
        </p:txBody>
      </p:sp>
      <p:sp>
        <p:nvSpPr>
          <p:cNvPr id="20" name="Shape 18"/>
          <p:cNvSpPr/>
          <p:nvPr/>
        </p:nvSpPr>
        <p:spPr>
          <a:xfrm>
            <a:off x="8158277" y="2770632"/>
            <a:ext cx="3576218" cy="3355848"/>
          </a:xfrm>
          <a:prstGeom prst="roundRect">
            <a:avLst>
              <a:gd name="adj" fmla="val 1907"/>
            </a:avLst>
          </a:prstGeom>
          <a:solidFill>
            <a:srgbClr val="EAF0FC"/>
          </a:solidFill>
          <a:ln/>
        </p:spPr>
      </p:sp>
      <p:sp>
        <p:nvSpPr>
          <p:cNvPr id="21" name="Text 19"/>
          <p:cNvSpPr txBox="1"/>
          <p:nvPr/>
        </p:nvSpPr>
        <p:spPr>
          <a:xfrm>
            <a:off x="8304581" y="2916936"/>
            <a:ext cx="3283610" cy="3063240"/>
          </a:xfrm>
          <a:prstGeom prst="rect">
            <a:avLst/>
          </a:prstGeom>
          <a:noFill/>
          <a:ln/>
        </p:spPr>
        <p:txBody>
          <a:bodyPr wrap="square" lIns="0" tIns="0" rIns="0" bIns="0" rtlCol="0" anchor="t"/>
          <a:lstStyle/>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Packer bakes CIS-hardened AMIs/VHDs bi-weekly; nodes recycled, not patched in place</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Trivy CI gate: fails build on HIGH/CRITICAL vulns</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Chainguard + Distroless base images cut attack surface ~90%</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Renovate opens weekly dependency upgrade PRs</a:t>
            </a:r>
            <a:endParaRPr lang="en-US" sz="1050" dirty="0"/>
          </a:p>
        </p:txBody>
      </p:sp>
      <p:sp>
        <p:nvSpPr>
          <p:cNvPr id="22" name="Text 20"/>
          <p:cNvSpPr txBox="1"/>
          <p:nvPr/>
        </p:nvSpPr>
        <p:spPr>
          <a:xfrm>
            <a:off x="11521440" y="6473952"/>
            <a:ext cx="365760" cy="274320"/>
          </a:xfrm>
          <a:prstGeom prst="rect">
            <a:avLst/>
          </a:prstGeom>
          <a:noFill/>
          <a:ln/>
        </p:spPr>
        <p:txBody>
          <a:bodyPr wrap="square" lIns="0" tIns="0" rIns="0" bIns="0" rtlCol="0" anchor="ctr"/>
          <a:lstStyle/>
          <a:p>
            <a:pPr algn="r" indent="0" marL="0">
              <a:buNone/>
            </a:pPr>
            <a:r>
              <a:rPr lang="en-US" sz="900" dirty="0">
                <a:solidFill>
                  <a:srgbClr val="8891A3"/>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4552" cy="292608"/>
          </a:xfrm>
          <a:prstGeom prst="rect">
            <a:avLst/>
          </a:prstGeom>
          <a:noFill/>
          <a:ln/>
        </p:spPr>
        <p:txBody>
          <a:bodyPr wrap="square" lIns="0" tIns="0" rIns="0" bIns="0" rtlCol="0" anchor="ctr"/>
          <a:lstStyle/>
          <a:p>
            <a:pPr indent="0" marL="0">
              <a:buNone/>
            </a:pPr>
            <a:r>
              <a:rPr lang="en-US" sz="1200" b="1" spc="200" kern="0" dirty="0">
                <a:solidFill>
                  <a:srgbClr val="0B8484"/>
                </a:solidFill>
                <a:latin typeface="Calibri" pitchFamily="34" charset="0"/>
                <a:ea typeface="Calibri" pitchFamily="34" charset="-122"/>
                <a:cs typeface="Calibri" pitchFamily="34" charset="-120"/>
              </a:rPr>
              <a:t>QUESTION 3 · PRODUCTION WAR STORY</a:t>
            </a:r>
            <a:endParaRPr lang="en-US" sz="1200" dirty="0"/>
          </a:p>
        </p:txBody>
      </p:sp>
      <p:sp>
        <p:nvSpPr>
          <p:cNvPr id="3" name="Text 1"/>
          <p:cNvSpPr txBox="1"/>
          <p:nvPr/>
        </p:nvSpPr>
        <p:spPr>
          <a:xfrm>
            <a:off x="457200" y="585216"/>
            <a:ext cx="11274552"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CVE-2023-4911 ("Looney Tunables") Zero-Day Response</a:t>
            </a:r>
            <a:endParaRPr lang="en-US" sz="2700" dirty="0"/>
          </a:p>
        </p:txBody>
      </p:sp>
      <p:sp>
        <p:nvSpPr>
          <p:cNvPr id="4" name="Text 2"/>
          <p:cNvSpPr txBox="1"/>
          <p:nvPr/>
        </p:nvSpPr>
        <p:spPr>
          <a:xfrm>
            <a:off x="457200" y="1133856"/>
            <a:ext cx="11274552" cy="320040"/>
          </a:xfrm>
          <a:prstGeom prst="rect">
            <a:avLst/>
          </a:prstGeom>
          <a:noFill/>
          <a:ln/>
        </p:spPr>
        <p:txBody>
          <a:bodyPr wrap="square" lIns="0" tIns="0" rIns="0" bIns="0" rtlCol="0" anchor="ctr"/>
          <a:lstStyle/>
          <a:p>
            <a:pPr indent="0" marL="0">
              <a:buNone/>
            </a:pPr>
            <a:r>
              <a:rPr lang="en-US" sz="1350" i="1" dirty="0">
                <a:solidFill>
                  <a:srgbClr val="5B6478"/>
                </a:solidFill>
                <a:latin typeface="Calibri" pitchFamily="34" charset="0"/>
                <a:ea typeface="Calibri" pitchFamily="34" charset="-122"/>
                <a:cs typeface="Calibri" pitchFamily="34" charset="-120"/>
              </a:rPr>
              <a:t>Remediating a critical Linux vulnerability within 4 hours while resolving Windows Update lockouts (0x80070422)</a:t>
            </a:r>
            <a:endParaRPr lang="en-US" sz="1350" dirty="0"/>
          </a:p>
        </p:txBody>
      </p:sp>
      <p:sp>
        <p:nvSpPr>
          <p:cNvPr id="5" name="Shape 3"/>
          <p:cNvSpPr/>
          <p:nvPr/>
        </p:nvSpPr>
        <p:spPr>
          <a:xfrm>
            <a:off x="457200" y="1600200"/>
            <a:ext cx="2668448" cy="914400"/>
          </a:xfrm>
          <a:prstGeom prst="roundRect">
            <a:avLst>
              <a:gd name="adj" fmla="val 8000"/>
            </a:avLst>
          </a:prstGeom>
          <a:solidFill>
            <a:srgbClr val="EAF0FC"/>
          </a:solidFill>
          <a:ln/>
          <a:effectLst>
            <a:outerShdw sx="100000" sy="100000" kx="0" ky="0" algn="bl" rotWithShape="0" blurRad="76200" dist="25400" dir="5400000">
              <a:srgbClr val="1E2761">
                <a:alpha val="12000"/>
              </a:srgbClr>
            </a:outerShdw>
          </a:effectLst>
        </p:spPr>
      </p:sp>
      <p:sp>
        <p:nvSpPr>
          <p:cNvPr id="6" name="Text 4"/>
          <p:cNvSpPr txBox="1"/>
          <p:nvPr/>
        </p:nvSpPr>
        <p:spPr>
          <a:xfrm>
            <a:off x="457200" y="1691640"/>
            <a:ext cx="2668448" cy="457200"/>
          </a:xfrm>
          <a:prstGeom prst="rect">
            <a:avLst/>
          </a:prstGeom>
          <a:noFill/>
          <a:ln/>
        </p:spPr>
        <p:txBody>
          <a:bodyPr wrap="square" lIns="0" tIns="0" rIns="0" bIns="0" rtlCol="0" anchor="ctr"/>
          <a:lstStyle/>
          <a:p>
            <a:pPr algn="ctr" indent="0" marL="0">
              <a:buNone/>
            </a:pPr>
            <a:r>
              <a:rPr lang="en-US" sz="2200" b="1" dirty="0">
                <a:solidFill>
                  <a:srgbClr val="B23A48"/>
                </a:solidFill>
                <a:latin typeface="Calibri" pitchFamily="34" charset="0"/>
                <a:ea typeface="Calibri" pitchFamily="34" charset="-122"/>
                <a:cs typeface="Calibri" pitchFamily="34" charset="-120"/>
              </a:rPr>
              <a:t>CVE-2023-4911</a:t>
            </a:r>
            <a:endParaRPr lang="en-US" sz="2200" dirty="0"/>
          </a:p>
        </p:txBody>
      </p:sp>
      <p:sp>
        <p:nvSpPr>
          <p:cNvPr id="7" name="Text 5"/>
          <p:cNvSpPr txBox="1"/>
          <p:nvPr/>
        </p:nvSpPr>
        <p:spPr>
          <a:xfrm>
            <a:off x="530352" y="2185416"/>
            <a:ext cx="2522144" cy="292608"/>
          </a:xfrm>
          <a:prstGeom prst="rect">
            <a:avLst/>
          </a:prstGeom>
          <a:noFill/>
          <a:ln/>
        </p:spPr>
        <p:txBody>
          <a:bodyPr wrap="square" lIns="0" tIns="0" rIns="0" bIns="0" rtlCol="0" anchor="ctr"/>
          <a:lstStyle/>
          <a:p>
            <a:pPr algn="ctr" indent="0" marL="0">
              <a:buNone/>
            </a:pPr>
            <a:r>
              <a:rPr lang="en-US" sz="950" dirty="0">
                <a:solidFill>
                  <a:srgbClr val="5B6478"/>
                </a:solidFill>
                <a:latin typeface="Calibri" pitchFamily="34" charset="0"/>
                <a:ea typeface="Calibri" pitchFamily="34" charset="-122"/>
                <a:cs typeface="Calibri" pitchFamily="34" charset="-120"/>
              </a:rPr>
              <a:t>LOONEY TUNABLES · GLIBC</a:t>
            </a:r>
            <a:endParaRPr lang="en-US" sz="950" dirty="0"/>
          </a:p>
        </p:txBody>
      </p:sp>
      <p:sp>
        <p:nvSpPr>
          <p:cNvPr id="8" name="Shape 6"/>
          <p:cNvSpPr/>
          <p:nvPr/>
        </p:nvSpPr>
        <p:spPr>
          <a:xfrm>
            <a:off x="3326816" y="1600200"/>
            <a:ext cx="2668448" cy="914400"/>
          </a:xfrm>
          <a:prstGeom prst="roundRect">
            <a:avLst>
              <a:gd name="adj" fmla="val 8000"/>
            </a:avLst>
          </a:prstGeom>
          <a:solidFill>
            <a:srgbClr val="EAF0FC"/>
          </a:solidFill>
          <a:ln/>
          <a:effectLst>
            <a:outerShdw sx="100000" sy="100000" kx="0" ky="0" algn="bl" rotWithShape="0" blurRad="76200" dist="25400" dir="5400000">
              <a:srgbClr val="1E2761">
                <a:alpha val="12000"/>
              </a:srgbClr>
            </a:outerShdw>
          </a:effectLst>
        </p:spPr>
      </p:sp>
      <p:sp>
        <p:nvSpPr>
          <p:cNvPr id="9" name="Text 7"/>
          <p:cNvSpPr txBox="1"/>
          <p:nvPr/>
        </p:nvSpPr>
        <p:spPr>
          <a:xfrm>
            <a:off x="3326816" y="1691640"/>
            <a:ext cx="2668448" cy="457200"/>
          </a:xfrm>
          <a:prstGeom prst="rect">
            <a:avLst/>
          </a:prstGeom>
          <a:noFill/>
          <a:ln/>
        </p:spPr>
        <p:txBody>
          <a:bodyPr wrap="square" lIns="0" tIns="0" rIns="0" bIns="0" rtlCol="0" anchor="ctr"/>
          <a:lstStyle/>
          <a:p>
            <a:pPr algn="ctr" indent="0" marL="0">
              <a:buNone/>
            </a:pPr>
            <a:r>
              <a:rPr lang="en-US" sz="2200" b="1" dirty="0">
                <a:solidFill>
                  <a:srgbClr val="1E2761"/>
                </a:solidFill>
                <a:latin typeface="Calibri" pitchFamily="34" charset="0"/>
                <a:ea typeface="Calibri" pitchFamily="34" charset="-122"/>
                <a:cs typeface="Calibri" pitchFamily="34" charset="-120"/>
              </a:rPr>
              <a:t>4h SLA</a:t>
            </a:r>
            <a:endParaRPr lang="en-US" sz="2200" dirty="0"/>
          </a:p>
        </p:txBody>
      </p:sp>
      <p:sp>
        <p:nvSpPr>
          <p:cNvPr id="10" name="Text 8"/>
          <p:cNvSpPr txBox="1"/>
          <p:nvPr/>
        </p:nvSpPr>
        <p:spPr>
          <a:xfrm>
            <a:off x="3399968" y="2185416"/>
            <a:ext cx="2522144" cy="292608"/>
          </a:xfrm>
          <a:prstGeom prst="rect">
            <a:avLst/>
          </a:prstGeom>
          <a:noFill/>
          <a:ln/>
        </p:spPr>
        <p:txBody>
          <a:bodyPr wrap="square" lIns="0" tIns="0" rIns="0" bIns="0" rtlCol="0" anchor="ctr"/>
          <a:lstStyle/>
          <a:p>
            <a:pPr algn="ctr" indent="0" marL="0">
              <a:buNone/>
            </a:pPr>
            <a:r>
              <a:rPr lang="en-US" sz="950" dirty="0">
                <a:solidFill>
                  <a:srgbClr val="5B6478"/>
                </a:solidFill>
                <a:latin typeface="Calibri" pitchFamily="34" charset="0"/>
                <a:ea typeface="Calibri" pitchFamily="34" charset="-122"/>
                <a:cs typeface="Calibri" pitchFamily="34" charset="-120"/>
              </a:rPr>
              <a:t>SECURITY POLICY TARGET</a:t>
            </a:r>
            <a:endParaRPr lang="en-US" sz="950" dirty="0"/>
          </a:p>
        </p:txBody>
      </p:sp>
      <p:sp>
        <p:nvSpPr>
          <p:cNvPr id="11" name="Shape 9"/>
          <p:cNvSpPr/>
          <p:nvPr/>
        </p:nvSpPr>
        <p:spPr>
          <a:xfrm>
            <a:off x="6196432" y="1600200"/>
            <a:ext cx="2668448" cy="914400"/>
          </a:xfrm>
          <a:prstGeom prst="roundRect">
            <a:avLst>
              <a:gd name="adj" fmla="val 8000"/>
            </a:avLst>
          </a:prstGeom>
          <a:solidFill>
            <a:srgbClr val="EAF0FC"/>
          </a:solidFill>
          <a:ln/>
          <a:effectLst>
            <a:outerShdw sx="100000" sy="100000" kx="0" ky="0" algn="bl" rotWithShape="0" blurRad="76200" dist="25400" dir="5400000">
              <a:srgbClr val="1E2761">
                <a:alpha val="12000"/>
              </a:srgbClr>
            </a:outerShdw>
          </a:effectLst>
        </p:spPr>
      </p:sp>
      <p:sp>
        <p:nvSpPr>
          <p:cNvPr id="12" name="Text 10"/>
          <p:cNvSpPr txBox="1"/>
          <p:nvPr/>
        </p:nvSpPr>
        <p:spPr>
          <a:xfrm>
            <a:off x="6196432" y="1691640"/>
            <a:ext cx="2668448" cy="457200"/>
          </a:xfrm>
          <a:prstGeom prst="rect">
            <a:avLst/>
          </a:prstGeom>
          <a:noFill/>
          <a:ln/>
        </p:spPr>
        <p:txBody>
          <a:bodyPr wrap="square" lIns="0" tIns="0" rIns="0" bIns="0" rtlCol="0" anchor="ctr"/>
          <a:lstStyle/>
          <a:p>
            <a:pPr algn="ctr" indent="0" marL="0">
              <a:buNone/>
            </a:pPr>
            <a:r>
              <a:rPr lang="en-US" sz="2200" b="1" dirty="0">
                <a:solidFill>
                  <a:srgbClr val="0B8484"/>
                </a:solidFill>
                <a:latin typeface="Calibri" pitchFamily="34" charset="0"/>
                <a:ea typeface="Calibri" pitchFamily="34" charset="-122"/>
                <a:cs typeface="Calibri" pitchFamily="34" charset="-120"/>
              </a:rPr>
              <a:t>3h 12m</a:t>
            </a:r>
            <a:endParaRPr lang="en-US" sz="2200" dirty="0"/>
          </a:p>
        </p:txBody>
      </p:sp>
      <p:sp>
        <p:nvSpPr>
          <p:cNvPr id="13" name="Text 11"/>
          <p:cNvSpPr txBox="1"/>
          <p:nvPr/>
        </p:nvSpPr>
        <p:spPr>
          <a:xfrm>
            <a:off x="6269584" y="2185416"/>
            <a:ext cx="2522144" cy="292608"/>
          </a:xfrm>
          <a:prstGeom prst="rect">
            <a:avLst/>
          </a:prstGeom>
          <a:noFill/>
          <a:ln/>
        </p:spPr>
        <p:txBody>
          <a:bodyPr wrap="square" lIns="0" tIns="0" rIns="0" bIns="0" rtlCol="0" anchor="ctr"/>
          <a:lstStyle/>
          <a:p>
            <a:pPr algn="ctr" indent="0" marL="0">
              <a:buNone/>
            </a:pPr>
            <a:r>
              <a:rPr lang="en-US" sz="950" dirty="0">
                <a:solidFill>
                  <a:srgbClr val="5B6478"/>
                </a:solidFill>
                <a:latin typeface="Calibri" pitchFamily="34" charset="0"/>
                <a:ea typeface="Calibri" pitchFamily="34" charset="-122"/>
                <a:cs typeface="Calibri" pitchFamily="34" charset="-120"/>
              </a:rPr>
              <a:t>ACTUAL FULL REMEDIATION</a:t>
            </a:r>
            <a:endParaRPr lang="en-US" sz="950" dirty="0"/>
          </a:p>
        </p:txBody>
      </p:sp>
      <p:sp>
        <p:nvSpPr>
          <p:cNvPr id="14" name="Shape 12"/>
          <p:cNvSpPr/>
          <p:nvPr/>
        </p:nvSpPr>
        <p:spPr>
          <a:xfrm>
            <a:off x="9066047" y="1600200"/>
            <a:ext cx="2668448" cy="914400"/>
          </a:xfrm>
          <a:prstGeom prst="roundRect">
            <a:avLst>
              <a:gd name="adj" fmla="val 8000"/>
            </a:avLst>
          </a:prstGeom>
          <a:solidFill>
            <a:srgbClr val="EAF0FC"/>
          </a:solidFill>
          <a:ln/>
          <a:effectLst>
            <a:outerShdw sx="100000" sy="100000" kx="0" ky="0" algn="bl" rotWithShape="0" blurRad="76200" dist="25400" dir="5400000">
              <a:srgbClr val="1E2761">
                <a:alpha val="12000"/>
              </a:srgbClr>
            </a:outerShdw>
          </a:effectLst>
        </p:spPr>
      </p:sp>
      <p:sp>
        <p:nvSpPr>
          <p:cNvPr id="15" name="Text 13"/>
          <p:cNvSpPr txBox="1"/>
          <p:nvPr/>
        </p:nvSpPr>
        <p:spPr>
          <a:xfrm>
            <a:off x="9066047" y="1691640"/>
            <a:ext cx="2668448" cy="457200"/>
          </a:xfrm>
          <a:prstGeom prst="rect">
            <a:avLst/>
          </a:prstGeom>
          <a:noFill/>
          <a:ln/>
        </p:spPr>
        <p:txBody>
          <a:bodyPr wrap="square" lIns="0" tIns="0" rIns="0" bIns="0" rtlCol="0" anchor="ctr"/>
          <a:lstStyle/>
          <a:p>
            <a:pPr algn="ctr" indent="0" marL="0">
              <a:buNone/>
            </a:pPr>
            <a:r>
              <a:rPr lang="en-US" sz="2200" b="1" dirty="0">
                <a:solidFill>
                  <a:srgbClr val="0B8484"/>
                </a:solidFill>
                <a:latin typeface="Calibri" pitchFamily="34" charset="0"/>
                <a:ea typeface="Calibri" pitchFamily="34" charset="-122"/>
                <a:cs typeface="Calibri" pitchFamily="34" charset="-120"/>
              </a:rPr>
              <a:t>100%</a:t>
            </a:r>
            <a:endParaRPr lang="en-US" sz="2200" dirty="0"/>
          </a:p>
        </p:txBody>
      </p:sp>
      <p:sp>
        <p:nvSpPr>
          <p:cNvPr id="16" name="Text 14"/>
          <p:cNvSpPr txBox="1"/>
          <p:nvPr/>
        </p:nvSpPr>
        <p:spPr>
          <a:xfrm>
            <a:off x="9139199" y="2185416"/>
            <a:ext cx="2522144" cy="292608"/>
          </a:xfrm>
          <a:prstGeom prst="rect">
            <a:avLst/>
          </a:prstGeom>
          <a:noFill/>
          <a:ln/>
        </p:spPr>
        <p:txBody>
          <a:bodyPr wrap="square" lIns="0" tIns="0" rIns="0" bIns="0" rtlCol="0" anchor="ctr"/>
          <a:lstStyle/>
          <a:p>
            <a:pPr algn="ctr" indent="0" marL="0">
              <a:buNone/>
            </a:pPr>
            <a:r>
              <a:rPr lang="en-US" sz="950" dirty="0">
                <a:solidFill>
                  <a:srgbClr val="5B6478"/>
                </a:solidFill>
                <a:latin typeface="Calibri" pitchFamily="34" charset="0"/>
                <a:ea typeface="Calibri" pitchFamily="34" charset="-122"/>
                <a:cs typeface="Calibri" pitchFamily="34" charset="-120"/>
              </a:rPr>
              <a:t>FLEET — LINUX + WINDOWS</a:t>
            </a:r>
            <a:endParaRPr lang="en-US" sz="950" dirty="0"/>
          </a:p>
        </p:txBody>
      </p:sp>
      <p:sp>
        <p:nvSpPr>
          <p:cNvPr id="17" name="Shape 15"/>
          <p:cNvSpPr/>
          <p:nvPr/>
        </p:nvSpPr>
        <p:spPr>
          <a:xfrm>
            <a:off x="457200" y="2697480"/>
            <a:ext cx="5532120" cy="3383280"/>
          </a:xfrm>
          <a:prstGeom prst="roundRect">
            <a:avLst>
              <a:gd name="adj" fmla="val 1892"/>
            </a:avLst>
          </a:prstGeom>
          <a:solidFill>
            <a:srgbClr val="EAF0FC"/>
          </a:solidFill>
          <a:ln/>
        </p:spPr>
      </p:sp>
      <p:sp>
        <p:nvSpPr>
          <p:cNvPr id="18" name="Text 16"/>
          <p:cNvSpPr txBox="1"/>
          <p:nvPr/>
        </p:nvSpPr>
        <p:spPr>
          <a:xfrm>
            <a:off x="640080" y="2825496"/>
            <a:ext cx="5166360" cy="310896"/>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The Roadblock — Windows ERP Patching Failure</a:t>
            </a:r>
            <a:endParaRPr lang="en-US" sz="1400" dirty="0"/>
          </a:p>
        </p:txBody>
      </p:sp>
      <p:sp>
        <p:nvSpPr>
          <p:cNvPr id="19" name="Text 17"/>
          <p:cNvSpPr txBox="1"/>
          <p:nvPr/>
        </p:nvSpPr>
        <p:spPr>
          <a:xfrm>
            <a:off x="640080" y="3191256"/>
            <a:ext cx="5166360" cy="2743200"/>
          </a:xfrm>
          <a:prstGeom prst="rect">
            <a:avLst/>
          </a:prstGeom>
          <a:noFill/>
          <a:ln/>
        </p:spPr>
        <p:txBody>
          <a:bodyPr wrap="square" lIns="0" tIns="0" rIns="0" bIns="0" rtlCol="0" anchor="t"/>
          <a:lstStyle/>
          <a:p>
            <a:pPr marL="152400" indent="-152400">
              <a:lnSpc>
                <a:spcPct val="116000"/>
              </a:lnSpc>
              <a:buSzPct val="100000"/>
              <a:buChar char="•"/>
            </a:pPr>
            <a:r>
              <a:rPr lang="en-US" sz="1060" dirty="0">
                <a:solidFill>
                  <a:srgbClr val="1A1A2E"/>
                </a:solidFill>
                <a:latin typeface="Calibri" pitchFamily="34" charset="0"/>
                <a:ea typeface="Calibri" pitchFamily="34" charset="-122"/>
                <a:cs typeface="Calibri" pitchFamily="34" charset="-120"/>
              </a:rPr>
              <a:t>Security mandate: full fleet remediation within 4 hours of active-exploit disclosure</a:t>
            </a:r>
            <a:endParaRPr lang="en-US" sz="1060" dirty="0"/>
          </a:p>
          <a:p>
            <a:pPr marL="152400" indent="-152400">
              <a:lnSpc>
                <a:spcPct val="116000"/>
              </a:lnSpc>
              <a:buSzPct val="100000"/>
              <a:buChar char="•"/>
            </a:pPr>
            <a:r>
              <a:rPr lang="en-US" sz="1060" dirty="0">
                <a:solidFill>
                  <a:srgbClr val="1A1A2E"/>
                </a:solidFill>
                <a:latin typeface="Calibri" pitchFamily="34" charset="0"/>
                <a:ea typeface="Calibri" pitchFamily="34" charset="-122"/>
                <a:cs typeface="Calibri" pitchFamily="34" charset="-120"/>
              </a:rPr>
              <a:t>Linux success: 150 servers + 8 K8s clusters patched cleanly in 90 min via AWX</a:t>
            </a:r>
            <a:endParaRPr lang="en-US" sz="1060" dirty="0"/>
          </a:p>
          <a:p>
            <a:pPr marL="152400" indent="-152400">
              <a:lnSpc>
                <a:spcPct val="116000"/>
              </a:lnSpc>
              <a:buSzPct val="100000"/>
              <a:buChar char="•"/>
            </a:pPr>
            <a:r>
              <a:rPr lang="en-US" sz="1060" dirty="0">
                <a:solidFill>
                  <a:srgbClr val="1A1A2E"/>
                </a:solidFill>
                <a:latin typeface="Calibri" pitchFamily="34" charset="0"/>
                <a:ea typeface="Calibri" pitchFamily="34" charset="-122"/>
                <a:cs typeface="Calibri" pitchFamily="34" charset="-120"/>
              </a:rPr>
              <a:t>Windows failure: Ansible run hung across 6 Multinet ERP connectors</a:t>
            </a:r>
            <a:endParaRPr lang="en-US" sz="1060" dirty="0"/>
          </a:p>
          <a:p>
            <a:pPr marL="152400" indent="-152400">
              <a:lnSpc>
                <a:spcPct val="116000"/>
              </a:lnSpc>
              <a:buSzPct val="100000"/>
              <a:buChar char="•"/>
            </a:pPr>
            <a:r>
              <a:rPr lang="en-US" sz="1060" dirty="0">
                <a:solidFill>
                  <a:srgbClr val="1A1A2E"/>
                </a:solidFill>
                <a:latin typeface="Calibri" pitchFamily="34" charset="0"/>
                <a:ea typeface="Calibri" pitchFamily="34" charset="-122"/>
                <a:cs typeface="Calibri" pitchFamily="34" charset="-120"/>
              </a:rPr>
              <a:t>Error: "service cannot be started... HRESULT: 0x80070422"</a:t>
            </a:r>
            <a:endParaRPr lang="en-US" sz="1060" dirty="0"/>
          </a:p>
          <a:p>
            <a:pPr marL="152400" indent="-152400">
              <a:lnSpc>
                <a:spcPct val="116000"/>
              </a:lnSpc>
              <a:buSzPct val="100000"/>
              <a:buChar char="•"/>
            </a:pPr>
            <a:r>
              <a:rPr lang="en-US" sz="1060" dirty="0">
                <a:solidFill>
                  <a:srgbClr val="1A1A2E"/>
                </a:solidFill>
                <a:latin typeface="Calibri" pitchFamily="34" charset="0"/>
                <a:ea typeface="Calibri" pitchFamily="34" charset="-122"/>
                <a:cs typeface="Calibri" pitchFamily="34" charset="-120"/>
              </a:rPr>
              <a:t>Root cause: wuauserv had been manually disabled during a finance audit to avoid surprise reboots</a:t>
            </a:r>
            <a:endParaRPr lang="en-US" sz="1060" dirty="0"/>
          </a:p>
        </p:txBody>
      </p:sp>
      <p:sp>
        <p:nvSpPr>
          <p:cNvPr id="20" name="Shape 18"/>
          <p:cNvSpPr/>
          <p:nvPr/>
        </p:nvSpPr>
        <p:spPr>
          <a:xfrm>
            <a:off x="6199632" y="2697480"/>
            <a:ext cx="5532120" cy="3383280"/>
          </a:xfrm>
          <a:prstGeom prst="roundRect">
            <a:avLst>
              <a:gd name="adj" fmla="val 1892"/>
            </a:avLst>
          </a:prstGeom>
          <a:solidFill>
            <a:srgbClr val="EAF0FC"/>
          </a:solidFill>
          <a:ln/>
        </p:spPr>
      </p:sp>
      <p:sp>
        <p:nvSpPr>
          <p:cNvPr id="21" name="Text 19"/>
          <p:cNvSpPr txBox="1"/>
          <p:nvPr/>
        </p:nvSpPr>
        <p:spPr>
          <a:xfrm>
            <a:off x="6382512" y="2825496"/>
            <a:ext cx="5166360" cy="310896"/>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The Engineering Resolution &amp; Playbook Fix</a:t>
            </a:r>
            <a:endParaRPr lang="en-US" sz="1400" dirty="0"/>
          </a:p>
        </p:txBody>
      </p:sp>
      <p:sp>
        <p:nvSpPr>
          <p:cNvPr id="22" name="Text 20"/>
          <p:cNvSpPr txBox="1"/>
          <p:nvPr/>
        </p:nvSpPr>
        <p:spPr>
          <a:xfrm>
            <a:off x="6382512" y="3191256"/>
            <a:ext cx="5166360" cy="2743200"/>
          </a:xfrm>
          <a:prstGeom prst="rect">
            <a:avLst/>
          </a:prstGeom>
          <a:noFill/>
          <a:ln/>
        </p:spPr>
        <p:txBody>
          <a:bodyPr wrap="square" lIns="0" tIns="0" rIns="0" bIns="0" rtlCol="0" anchor="t"/>
          <a:lstStyle/>
          <a:p>
            <a:pPr marL="152400" indent="-152400">
              <a:lnSpc>
                <a:spcPct val="116000"/>
              </a:lnSpc>
              <a:buSzPct val="100000"/>
              <a:buChar char="•"/>
            </a:pPr>
            <a:r>
              <a:rPr lang="en-US" sz="1060" dirty="0">
                <a:solidFill>
                  <a:srgbClr val="1A1A2E"/>
                </a:solidFill>
                <a:latin typeface="Calibri" pitchFamily="34" charset="0"/>
                <a:ea typeface="Calibri" pitchFamily="34" charset="-122"/>
                <a:cs typeface="Calibri" pitchFamily="34" charset="-120"/>
              </a:rPr>
              <a:t>Injected an idempotent pre-task into patch_fleet.yml to re-enable wuauserv before win_updates runs</a:t>
            </a:r>
            <a:endParaRPr lang="en-US" sz="1060" dirty="0"/>
          </a:p>
          <a:p>
            <a:pPr marL="152400" indent="-152400">
              <a:lnSpc>
                <a:spcPct val="116000"/>
              </a:lnSpc>
              <a:buSzPct val="100000"/>
              <a:buChar char="•"/>
            </a:pPr>
            <a:r>
              <a:rPr lang="en-US" sz="1060" dirty="0">
                <a:solidFill>
                  <a:srgbClr val="1A1A2E"/>
                </a:solidFill>
                <a:latin typeface="Calibri" pitchFamily="34" charset="0"/>
                <a:ea typeface="Calibri" pitchFamily="34" charset="-122"/>
                <a:cs typeface="Calibri" pitchFamily="34" charset="-120"/>
              </a:rPr>
              <a:t>Purged stale SoftwareDistribution\Download locks via PowerShell</a:t>
            </a:r>
            <a:endParaRPr lang="en-US" sz="1060" dirty="0"/>
          </a:p>
          <a:p>
            <a:pPr marL="152400" indent="-152400">
              <a:lnSpc>
                <a:spcPct val="116000"/>
              </a:lnSpc>
              <a:buSzPct val="100000"/>
              <a:buChar char="•"/>
            </a:pPr>
            <a:r>
              <a:rPr lang="en-US" sz="1060" dirty="0">
                <a:solidFill>
                  <a:srgbClr val="1A1A2E"/>
                </a:solidFill>
                <a:latin typeface="Calibri" pitchFamily="34" charset="0"/>
                <a:ea typeface="Calibri" pitchFamily="34" charset="-122"/>
                <a:cs typeface="Calibri" pitchFamily="34" charset="-120"/>
              </a:rPr>
              <a:t>Re-triggered AWX playbook across all 50 Windows servers — clean updates + restarts</a:t>
            </a:r>
            <a:endParaRPr lang="en-US" sz="1060" dirty="0"/>
          </a:p>
          <a:p>
            <a:pPr marL="152400" indent="-152400">
              <a:lnSpc>
                <a:spcPct val="116000"/>
              </a:lnSpc>
              <a:buSzPct val="100000"/>
              <a:buChar char="•"/>
            </a:pPr>
            <a:r>
              <a:rPr lang="en-US" sz="1060" dirty="0">
                <a:solidFill>
                  <a:srgbClr val="1A1A2E"/>
                </a:solidFill>
                <a:latin typeface="Calibri" pitchFamily="34" charset="0"/>
                <a:ea typeface="Calibri" pitchFamily="34" charset="-122"/>
                <a:cs typeface="Calibri" pitchFamily="34" charset="-120"/>
              </a:rPr>
              <a:t>SLA exceeded: 200 VMs / 8 clusters fully patched &amp; verified in 3h 12m — 48 minutes ahead of SLA</a:t>
            </a:r>
            <a:endParaRPr lang="en-US" sz="1060" dirty="0"/>
          </a:p>
        </p:txBody>
      </p:sp>
      <p:sp>
        <p:nvSpPr>
          <p:cNvPr id="23" name="Text 21"/>
          <p:cNvSpPr txBox="1"/>
          <p:nvPr/>
        </p:nvSpPr>
        <p:spPr>
          <a:xfrm>
            <a:off x="11521440" y="6473952"/>
            <a:ext cx="365760" cy="274320"/>
          </a:xfrm>
          <a:prstGeom prst="rect">
            <a:avLst/>
          </a:prstGeom>
          <a:noFill/>
          <a:ln/>
        </p:spPr>
        <p:txBody>
          <a:bodyPr wrap="square" lIns="0" tIns="0" rIns="0" bIns="0" rtlCol="0" anchor="ctr"/>
          <a:lstStyle/>
          <a:p>
            <a:pPr algn="r" indent="0" marL="0">
              <a:buNone/>
            </a:pPr>
            <a:r>
              <a:rPr lang="en-US" sz="900" dirty="0">
                <a:solidFill>
                  <a:srgbClr val="8891A3"/>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4552" cy="292608"/>
          </a:xfrm>
          <a:prstGeom prst="rect">
            <a:avLst/>
          </a:prstGeom>
          <a:noFill/>
          <a:ln/>
        </p:spPr>
        <p:txBody>
          <a:bodyPr wrap="square" lIns="0" tIns="0" rIns="0" bIns="0" rtlCol="0" anchor="ctr"/>
          <a:lstStyle/>
          <a:p>
            <a:pPr indent="0" marL="0">
              <a:buNone/>
            </a:pPr>
            <a:r>
              <a:rPr lang="en-US" sz="1200" b="1" spc="200" kern="0" dirty="0">
                <a:solidFill>
                  <a:srgbClr val="0B8484"/>
                </a:solidFill>
                <a:latin typeface="Calibri" pitchFamily="34" charset="0"/>
                <a:ea typeface="Calibri" pitchFamily="34" charset="-122"/>
                <a:cs typeface="Calibri" pitchFamily="34" charset="-120"/>
              </a:rPr>
              <a:t>QUESTION 4 · WAF &amp; SECURITY HARDENING</a:t>
            </a:r>
            <a:endParaRPr lang="en-US" sz="1200" dirty="0"/>
          </a:p>
        </p:txBody>
      </p:sp>
      <p:sp>
        <p:nvSpPr>
          <p:cNvPr id="3" name="Text 1"/>
          <p:cNvSpPr txBox="1"/>
          <p:nvPr/>
        </p:nvSpPr>
        <p:spPr>
          <a:xfrm>
            <a:off x="457200" y="585216"/>
            <a:ext cx="11274552"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Multi-Cloud Perimeter Defense, OWASP CRS &amp; Zero-Trust</a:t>
            </a:r>
            <a:endParaRPr lang="en-US" sz="2700" dirty="0"/>
          </a:p>
        </p:txBody>
      </p:sp>
      <p:sp>
        <p:nvSpPr>
          <p:cNvPr id="4" name="Text 2"/>
          <p:cNvSpPr txBox="1"/>
          <p:nvPr/>
        </p:nvSpPr>
        <p:spPr>
          <a:xfrm>
            <a:off x="457200" y="1133856"/>
            <a:ext cx="11274552" cy="320040"/>
          </a:xfrm>
          <a:prstGeom prst="rect">
            <a:avLst/>
          </a:prstGeom>
          <a:noFill/>
          <a:ln/>
        </p:spPr>
        <p:txBody>
          <a:bodyPr wrap="square" lIns="0" tIns="0" rIns="0" bIns="0" rtlCol="0" anchor="ctr"/>
          <a:lstStyle/>
          <a:p>
            <a:pPr indent="0" marL="0">
              <a:buNone/>
            </a:pPr>
            <a:r>
              <a:rPr lang="en-US" sz="1350" i="1" dirty="0">
                <a:solidFill>
                  <a:srgbClr val="5B6478"/>
                </a:solidFill>
                <a:latin typeface="Calibri" pitchFamily="34" charset="0"/>
                <a:ea typeface="Calibri" pitchFamily="34" charset="-122"/>
                <a:cs typeface="Calibri" pitchFamily="34" charset="-120"/>
              </a:rPr>
              <a:t>Layer-7 protection across 4 clouds, strict auth rate-limiting, and end-to-end cryptographic posture</a:t>
            </a:r>
            <a:endParaRPr lang="en-US" sz="1350" dirty="0"/>
          </a:p>
        </p:txBody>
      </p:sp>
      <p:sp>
        <p:nvSpPr>
          <p:cNvPr id="5" name="Shape 3"/>
          <p:cNvSpPr/>
          <p:nvPr/>
        </p:nvSpPr>
        <p:spPr>
          <a:xfrm>
            <a:off x="457200" y="1600200"/>
            <a:ext cx="2647188" cy="3657600"/>
          </a:xfrm>
          <a:prstGeom prst="roundRect">
            <a:avLst>
              <a:gd name="adj" fmla="val 2418"/>
            </a:avLst>
          </a:prstGeom>
          <a:solidFill>
            <a:srgbClr val="EAF0FC"/>
          </a:solidFill>
          <a:ln/>
          <a:effectLst>
            <a:outerShdw sx="100000" sy="100000" kx="0" ky="0" algn="bl" rotWithShape="0" blurRad="63500" dist="25400" dir="5400000">
              <a:srgbClr val="1E2761">
                <a:alpha val="10000"/>
              </a:srgbClr>
            </a:outerShdw>
          </a:effectLst>
        </p:spPr>
      </p:sp>
      <p:sp>
        <p:nvSpPr>
          <p:cNvPr id="6" name="Shape 4"/>
          <p:cNvSpPr/>
          <p:nvPr/>
        </p:nvSpPr>
        <p:spPr>
          <a:xfrm>
            <a:off x="603504" y="1728216"/>
            <a:ext cx="2354580" cy="274320"/>
          </a:xfrm>
          <a:prstGeom prst="roundRect">
            <a:avLst>
              <a:gd name="adj" fmla="val 50000"/>
            </a:avLst>
          </a:prstGeom>
          <a:solidFill>
            <a:srgbClr val="1E2761"/>
          </a:solidFill>
          <a:ln/>
        </p:spPr>
      </p:sp>
      <p:sp>
        <p:nvSpPr>
          <p:cNvPr id="7" name="Text 5"/>
          <p:cNvSpPr txBox="1"/>
          <p:nvPr/>
        </p:nvSpPr>
        <p:spPr>
          <a:xfrm>
            <a:off x="603504" y="1728216"/>
            <a:ext cx="235458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AWS EDGE PROTECTION</a:t>
            </a:r>
            <a:endParaRPr lang="en-US" sz="950" dirty="0"/>
          </a:p>
        </p:txBody>
      </p:sp>
      <p:sp>
        <p:nvSpPr>
          <p:cNvPr id="8" name="Text 6"/>
          <p:cNvSpPr txBox="1"/>
          <p:nvPr/>
        </p:nvSpPr>
        <p:spPr>
          <a:xfrm>
            <a:off x="603504" y="2075688"/>
            <a:ext cx="235458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WAFv2 + CloudFront + ALB</a:t>
            </a:r>
            <a:endParaRPr lang="en-US" sz="1300" dirty="0"/>
          </a:p>
        </p:txBody>
      </p:sp>
      <p:sp>
        <p:nvSpPr>
          <p:cNvPr id="9" name="Text 7"/>
          <p:cNvSpPr txBox="1"/>
          <p:nvPr/>
        </p:nvSpPr>
        <p:spPr>
          <a:xfrm>
            <a:off x="603504" y="2423160"/>
            <a:ext cx="2354580" cy="2724912"/>
          </a:xfrm>
          <a:prstGeom prst="rect">
            <a:avLst/>
          </a:prstGeom>
          <a:noFill/>
          <a:ln/>
        </p:spPr>
        <p:txBody>
          <a:bodyPr wrap="square" lIns="0" tIns="0" rIns="0" bIns="0" rtlCol="0" anchor="t"/>
          <a:lstStyle/>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AWSManagedRulesCommonRuleSet + KnownBadInputs</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300 req / 5 min per IP on /api/v1/auth/</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Deep inspection of headers, params &amp; JSON</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Logs via Kinesis Firehose → S3 + Athena</a:t>
            </a:r>
            <a:endParaRPr lang="en-US" sz="970" dirty="0"/>
          </a:p>
        </p:txBody>
      </p:sp>
      <p:sp>
        <p:nvSpPr>
          <p:cNvPr id="10" name="Shape 8"/>
          <p:cNvSpPr/>
          <p:nvPr/>
        </p:nvSpPr>
        <p:spPr>
          <a:xfrm>
            <a:off x="3332988" y="1600200"/>
            <a:ext cx="2647188" cy="3657600"/>
          </a:xfrm>
          <a:prstGeom prst="roundRect">
            <a:avLst>
              <a:gd name="adj" fmla="val 2418"/>
            </a:avLst>
          </a:prstGeom>
          <a:solidFill>
            <a:srgbClr val="EAF0FC"/>
          </a:solidFill>
          <a:ln/>
          <a:effectLst>
            <a:outerShdw sx="100000" sy="100000" kx="0" ky="0" algn="bl" rotWithShape="0" blurRad="63500" dist="25400" dir="5400000">
              <a:srgbClr val="1E2761">
                <a:alpha val="10000"/>
              </a:srgbClr>
            </a:outerShdw>
          </a:effectLst>
        </p:spPr>
      </p:sp>
      <p:sp>
        <p:nvSpPr>
          <p:cNvPr id="11" name="Shape 9"/>
          <p:cNvSpPr/>
          <p:nvPr/>
        </p:nvSpPr>
        <p:spPr>
          <a:xfrm>
            <a:off x="3479292" y="1728216"/>
            <a:ext cx="2354580" cy="274320"/>
          </a:xfrm>
          <a:prstGeom prst="roundRect">
            <a:avLst>
              <a:gd name="adj" fmla="val 50000"/>
            </a:avLst>
          </a:prstGeom>
          <a:solidFill>
            <a:srgbClr val="0B8484"/>
          </a:solidFill>
          <a:ln/>
        </p:spPr>
      </p:sp>
      <p:sp>
        <p:nvSpPr>
          <p:cNvPr id="12" name="Text 10"/>
          <p:cNvSpPr txBox="1"/>
          <p:nvPr/>
        </p:nvSpPr>
        <p:spPr>
          <a:xfrm>
            <a:off x="3479292" y="1728216"/>
            <a:ext cx="235458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AZURE EDGE PROTECTION</a:t>
            </a:r>
            <a:endParaRPr lang="en-US" sz="950" dirty="0"/>
          </a:p>
        </p:txBody>
      </p:sp>
      <p:sp>
        <p:nvSpPr>
          <p:cNvPr id="13" name="Text 11"/>
          <p:cNvSpPr txBox="1"/>
          <p:nvPr/>
        </p:nvSpPr>
        <p:spPr>
          <a:xfrm>
            <a:off x="3479292" y="2075688"/>
            <a:ext cx="235458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Front Door Premium WAF</a:t>
            </a:r>
            <a:endParaRPr lang="en-US" sz="1300" dirty="0"/>
          </a:p>
        </p:txBody>
      </p:sp>
      <p:sp>
        <p:nvSpPr>
          <p:cNvPr id="14" name="Text 12"/>
          <p:cNvSpPr txBox="1"/>
          <p:nvPr/>
        </p:nvSpPr>
        <p:spPr>
          <a:xfrm>
            <a:off x="3479292" y="2423160"/>
            <a:ext cx="2354580" cy="2724912"/>
          </a:xfrm>
          <a:prstGeom prst="rect">
            <a:avLst/>
          </a:prstGeom>
          <a:noFill/>
          <a:ln/>
        </p:spPr>
        <p:txBody>
          <a:bodyPr wrap="square" lIns="0" tIns="0" rIns="0" bIns="0" rtlCol="0" anchor="t"/>
          <a:lstStyle/>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Microsoft Threat Intelligence IP reputation</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DR origin shield with instant health probing</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Custom rate-limiting + geo-blocking</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Bot protection: challenge / captcha</a:t>
            </a:r>
            <a:endParaRPr lang="en-US" sz="970" dirty="0"/>
          </a:p>
        </p:txBody>
      </p:sp>
      <p:sp>
        <p:nvSpPr>
          <p:cNvPr id="15" name="Shape 13"/>
          <p:cNvSpPr/>
          <p:nvPr/>
        </p:nvSpPr>
        <p:spPr>
          <a:xfrm>
            <a:off x="6208776" y="1600200"/>
            <a:ext cx="2647188" cy="3657600"/>
          </a:xfrm>
          <a:prstGeom prst="roundRect">
            <a:avLst>
              <a:gd name="adj" fmla="val 2418"/>
            </a:avLst>
          </a:prstGeom>
          <a:solidFill>
            <a:srgbClr val="EAF0FC"/>
          </a:solidFill>
          <a:ln/>
          <a:effectLst>
            <a:outerShdw sx="100000" sy="100000" kx="0" ky="0" algn="bl" rotWithShape="0" blurRad="63500" dist="25400" dir="5400000">
              <a:srgbClr val="1E2761">
                <a:alpha val="10000"/>
              </a:srgbClr>
            </a:outerShdw>
          </a:effectLst>
        </p:spPr>
      </p:sp>
      <p:sp>
        <p:nvSpPr>
          <p:cNvPr id="16" name="Shape 14"/>
          <p:cNvSpPr/>
          <p:nvPr/>
        </p:nvSpPr>
        <p:spPr>
          <a:xfrm>
            <a:off x="6355080" y="1728216"/>
            <a:ext cx="2354580" cy="274320"/>
          </a:xfrm>
          <a:prstGeom prst="roundRect">
            <a:avLst>
              <a:gd name="adj" fmla="val 50000"/>
            </a:avLst>
          </a:prstGeom>
          <a:solidFill>
            <a:srgbClr val="C9862B"/>
          </a:solidFill>
          <a:ln/>
        </p:spPr>
      </p:sp>
      <p:sp>
        <p:nvSpPr>
          <p:cNvPr id="17" name="Text 15"/>
          <p:cNvSpPr txBox="1"/>
          <p:nvPr/>
        </p:nvSpPr>
        <p:spPr>
          <a:xfrm>
            <a:off x="6355080" y="1728216"/>
            <a:ext cx="235458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ALIBABA CLOUD NATIVE WAF</a:t>
            </a:r>
            <a:endParaRPr lang="en-US" sz="950" dirty="0"/>
          </a:p>
        </p:txBody>
      </p:sp>
      <p:sp>
        <p:nvSpPr>
          <p:cNvPr id="18" name="Text 16"/>
          <p:cNvSpPr txBox="1"/>
          <p:nvPr/>
        </p:nvSpPr>
        <p:spPr>
          <a:xfrm>
            <a:off x="6355080" y="2075688"/>
            <a:ext cx="235458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Cloud Native WAF 3.0 (Riyadh)</a:t>
            </a:r>
            <a:endParaRPr lang="en-US" sz="1300" dirty="0"/>
          </a:p>
        </p:txBody>
      </p:sp>
      <p:sp>
        <p:nvSpPr>
          <p:cNvPr id="19" name="Text 17"/>
          <p:cNvSpPr txBox="1"/>
          <p:nvPr/>
        </p:nvSpPr>
        <p:spPr>
          <a:xfrm>
            <a:off x="6355080" y="2423160"/>
            <a:ext cx="2354580" cy="2724912"/>
          </a:xfrm>
          <a:prstGeom prst="rect">
            <a:avLst/>
          </a:prstGeom>
          <a:noFill/>
          <a:ln/>
        </p:spPr>
        <p:txBody>
          <a:bodyPr wrap="square" lIns="0" tIns="0" rIns="0" bIns="0" rtlCol="0" anchor="t"/>
          <a:lstStyle/>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Protects ingress on the Saudi ACK cluster</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NDMO sovereign compliance rules</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Built-in anti-DDoS scrubbing in Riyadh</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HTTP/2 enforcement + header validation</a:t>
            </a:r>
            <a:endParaRPr lang="en-US" sz="970" dirty="0"/>
          </a:p>
        </p:txBody>
      </p:sp>
      <p:sp>
        <p:nvSpPr>
          <p:cNvPr id="20" name="Shape 18"/>
          <p:cNvSpPr/>
          <p:nvPr/>
        </p:nvSpPr>
        <p:spPr>
          <a:xfrm>
            <a:off x="9084564" y="1600200"/>
            <a:ext cx="2647188" cy="3657600"/>
          </a:xfrm>
          <a:prstGeom prst="roundRect">
            <a:avLst>
              <a:gd name="adj" fmla="val 2418"/>
            </a:avLst>
          </a:prstGeom>
          <a:solidFill>
            <a:srgbClr val="EAF0FC"/>
          </a:solidFill>
          <a:ln/>
          <a:effectLst>
            <a:outerShdw sx="100000" sy="100000" kx="0" ky="0" algn="bl" rotWithShape="0" blurRad="63500" dist="25400" dir="5400000">
              <a:srgbClr val="1E2761">
                <a:alpha val="10000"/>
              </a:srgbClr>
            </a:outerShdw>
          </a:effectLst>
        </p:spPr>
      </p:sp>
      <p:sp>
        <p:nvSpPr>
          <p:cNvPr id="21" name="Shape 19"/>
          <p:cNvSpPr/>
          <p:nvPr/>
        </p:nvSpPr>
        <p:spPr>
          <a:xfrm>
            <a:off x="9230868" y="1728216"/>
            <a:ext cx="2354580" cy="274320"/>
          </a:xfrm>
          <a:prstGeom prst="roundRect">
            <a:avLst>
              <a:gd name="adj" fmla="val 50000"/>
            </a:avLst>
          </a:prstGeom>
          <a:solidFill>
            <a:srgbClr val="2A3577"/>
          </a:solidFill>
          <a:ln/>
        </p:spPr>
      </p:sp>
      <p:sp>
        <p:nvSpPr>
          <p:cNvPr id="22" name="Text 20"/>
          <p:cNvSpPr txBox="1"/>
          <p:nvPr/>
        </p:nvSpPr>
        <p:spPr>
          <a:xfrm>
            <a:off x="9230868" y="1728216"/>
            <a:ext cx="2354580" cy="274320"/>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MULTINET PAKISTAN WAF</a:t>
            </a:r>
            <a:endParaRPr lang="en-US" sz="950" dirty="0"/>
          </a:p>
        </p:txBody>
      </p:sp>
      <p:sp>
        <p:nvSpPr>
          <p:cNvPr id="23" name="Text 21"/>
          <p:cNvSpPr txBox="1"/>
          <p:nvPr/>
        </p:nvSpPr>
        <p:spPr>
          <a:xfrm>
            <a:off x="9230868" y="2075688"/>
            <a:ext cx="235458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OpenResty + Coraza WAF v3.0</a:t>
            </a:r>
            <a:endParaRPr lang="en-US" sz="1300" dirty="0"/>
          </a:p>
        </p:txBody>
      </p:sp>
      <p:sp>
        <p:nvSpPr>
          <p:cNvPr id="24" name="Text 22"/>
          <p:cNvSpPr txBox="1"/>
          <p:nvPr/>
        </p:nvSpPr>
        <p:spPr>
          <a:xfrm>
            <a:off x="9230868" y="2423160"/>
            <a:ext cx="2354580" cy="2724912"/>
          </a:xfrm>
          <a:prstGeom prst="rect">
            <a:avLst/>
          </a:prstGeom>
          <a:noFill/>
          <a:ln/>
        </p:spPr>
        <p:txBody>
          <a:bodyPr wrap="square" lIns="0" tIns="0" rIns="0" bIns="0" rtlCol="0" anchor="t"/>
          <a:lstStyle/>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Coraza (Golang engine) + OWASP CRS v4.0</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SecRule REQUEST_URI @beginsWith /api/v1/auth/</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Rate limit chain: deny 429, +1 per 300s</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Paranoia level 1 — tuned to minimize FPs</a:t>
            </a:r>
            <a:endParaRPr lang="en-US" sz="970" dirty="0"/>
          </a:p>
        </p:txBody>
      </p:sp>
      <p:sp>
        <p:nvSpPr>
          <p:cNvPr id="25" name="Shape 23"/>
          <p:cNvSpPr/>
          <p:nvPr/>
        </p:nvSpPr>
        <p:spPr>
          <a:xfrm>
            <a:off x="457200" y="5394960"/>
            <a:ext cx="11274552" cy="777240"/>
          </a:xfrm>
          <a:prstGeom prst="roundRect">
            <a:avLst>
              <a:gd name="adj" fmla="val 8235"/>
            </a:avLst>
          </a:prstGeom>
          <a:solidFill>
            <a:srgbClr val="EAF0FC"/>
          </a:solidFill>
          <a:ln/>
        </p:spPr>
      </p:sp>
      <p:sp>
        <p:nvSpPr>
          <p:cNvPr id="26" name="Text 24"/>
          <p:cNvSpPr txBox="1"/>
          <p:nvPr/>
        </p:nvSpPr>
        <p:spPr>
          <a:xfrm>
            <a:off x="640080" y="5522976"/>
            <a:ext cx="10908792" cy="310896"/>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Zero-Trust, Uniformly Enforced</a:t>
            </a:r>
            <a:endParaRPr lang="en-US" sz="1400" dirty="0"/>
          </a:p>
        </p:txBody>
      </p:sp>
      <p:sp>
        <p:nvSpPr>
          <p:cNvPr id="27" name="Text 25"/>
          <p:cNvSpPr txBox="1"/>
          <p:nvPr/>
        </p:nvSpPr>
        <p:spPr>
          <a:xfrm>
            <a:off x="640080" y="5888736"/>
            <a:ext cx="10908792" cy="137160"/>
          </a:xfrm>
          <a:prstGeom prst="rect">
            <a:avLst/>
          </a:prstGeom>
          <a:noFill/>
          <a:ln/>
        </p:spPr>
        <p:txBody>
          <a:bodyPr wrap="square" lIns="0" tIns="0" rIns="0" bIns="0" rtlCol="0" anchor="t"/>
          <a:lstStyle/>
          <a:p>
            <a:pPr marL="152400" indent="-152400">
              <a:lnSpc>
                <a:spcPct val="116000"/>
              </a:lnSpc>
              <a:buSzPct val="100000"/>
              <a:buChar char="•"/>
            </a:pPr>
            <a:r>
              <a:rPr lang="en-US" sz="1050" dirty="0">
                <a:solidFill>
                  <a:srgbClr val="1A1A2E"/>
                </a:solidFill>
                <a:latin typeface="Calibri" pitchFamily="34" charset="0"/>
                <a:ea typeface="Calibri" pitchFamily="34" charset="-122"/>
                <a:cs typeface="Calibri" pitchFamily="34" charset="-120"/>
              </a:rPr>
              <a:t>Auth endpoints rate-limited to 300 req/5min per IP on every cloud — no exceptions</a:t>
            </a:r>
            <a:endParaRPr lang="en-US" sz="1050" dirty="0"/>
          </a:p>
          <a:p>
            <a:pPr marL="152400" indent="-152400">
              <a:lnSpc>
                <a:spcPct val="116000"/>
              </a:lnSpc>
              <a:buSzPct val="100000"/>
              <a:buChar char="•"/>
            </a:pPr>
            <a:r>
              <a:rPr lang="en-US" sz="1050" dirty="0">
                <a:solidFill>
                  <a:srgbClr val="1A1A2E"/>
                </a:solidFill>
                <a:latin typeface="Calibri" pitchFamily="34" charset="0"/>
                <a:ea typeface="Calibri" pitchFamily="34" charset="-122"/>
                <a:cs typeface="Calibri" pitchFamily="34" charset="-120"/>
              </a:rPr>
              <a:t>TLS 1.3 externally · Cilium Service Mesh mTLS internally · Vault rotates PostgreSQL creds every 24h</a:t>
            </a:r>
            <a:endParaRPr lang="en-US" sz="1050" dirty="0"/>
          </a:p>
        </p:txBody>
      </p:sp>
      <p:sp>
        <p:nvSpPr>
          <p:cNvPr id="28" name="Text 26"/>
          <p:cNvSpPr txBox="1"/>
          <p:nvPr/>
        </p:nvSpPr>
        <p:spPr>
          <a:xfrm>
            <a:off x="11521440" y="6473952"/>
            <a:ext cx="365760" cy="274320"/>
          </a:xfrm>
          <a:prstGeom prst="rect">
            <a:avLst/>
          </a:prstGeom>
          <a:noFill/>
          <a:ln/>
        </p:spPr>
        <p:txBody>
          <a:bodyPr wrap="square" lIns="0" tIns="0" rIns="0" bIns="0" rtlCol="0" anchor="ctr"/>
          <a:lstStyle/>
          <a:p>
            <a:pPr algn="r" indent="0" marL="0">
              <a:buNone/>
            </a:pPr>
            <a:r>
              <a:rPr lang="en-US" sz="900" dirty="0">
                <a:solidFill>
                  <a:srgbClr val="8891A3"/>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4552" cy="292608"/>
          </a:xfrm>
          <a:prstGeom prst="rect">
            <a:avLst/>
          </a:prstGeom>
          <a:noFill/>
          <a:ln/>
        </p:spPr>
        <p:txBody>
          <a:bodyPr wrap="square" lIns="0" tIns="0" rIns="0" bIns="0" rtlCol="0" anchor="ctr"/>
          <a:lstStyle/>
          <a:p>
            <a:pPr indent="0" marL="0">
              <a:buNone/>
            </a:pPr>
            <a:r>
              <a:rPr lang="en-US" sz="1200" b="1" spc="200" kern="0" dirty="0">
                <a:solidFill>
                  <a:srgbClr val="0B8484"/>
                </a:solidFill>
                <a:latin typeface="Calibri" pitchFamily="34" charset="0"/>
                <a:ea typeface="Calibri" pitchFamily="34" charset="-122"/>
                <a:cs typeface="Calibri" pitchFamily="34" charset="-120"/>
              </a:rPr>
              <a:t>QUESTION 4 · PRODUCTION WAR STORY</a:t>
            </a:r>
            <a:endParaRPr lang="en-US" sz="1200" dirty="0"/>
          </a:p>
        </p:txBody>
      </p:sp>
      <p:sp>
        <p:nvSpPr>
          <p:cNvPr id="3" name="Text 1"/>
          <p:cNvSpPr txBox="1"/>
          <p:nvPr/>
        </p:nvSpPr>
        <p:spPr>
          <a:xfrm>
            <a:off x="457200" y="585216"/>
            <a:ext cx="11274552"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The KPMG Audit Blocker: Surgical False-Positive Fix</a:t>
            </a:r>
            <a:endParaRPr lang="en-US" sz="2700" dirty="0"/>
          </a:p>
        </p:txBody>
      </p:sp>
      <p:sp>
        <p:nvSpPr>
          <p:cNvPr id="4" name="Text 2"/>
          <p:cNvSpPr txBox="1"/>
          <p:nvPr/>
        </p:nvSpPr>
        <p:spPr>
          <a:xfrm>
            <a:off x="457200" y="1133856"/>
            <a:ext cx="11274552" cy="320040"/>
          </a:xfrm>
          <a:prstGeom prst="rect">
            <a:avLst/>
          </a:prstGeom>
          <a:noFill/>
          <a:ln/>
        </p:spPr>
        <p:txBody>
          <a:bodyPr wrap="square" lIns="0" tIns="0" rIns="0" bIns="0" rtlCol="0" anchor="ctr"/>
          <a:lstStyle/>
          <a:p>
            <a:pPr indent="0" marL="0">
              <a:buNone/>
            </a:pPr>
            <a:r>
              <a:rPr lang="en-US" sz="1350" i="1" dirty="0">
                <a:solidFill>
                  <a:srgbClr val="5B6478"/>
                </a:solidFill>
                <a:latin typeface="Calibri" pitchFamily="34" charset="0"/>
                <a:ea typeface="Calibri" pitchFamily="34" charset="-122"/>
                <a:cs typeface="Calibri" pitchFamily="34" charset="-120"/>
              </a:rPr>
              <a:t>Resolving a 42% submission failure during an annual carbon audit in 11 minutes — without disabling WAF</a:t>
            </a:r>
            <a:endParaRPr lang="en-US" sz="1350" dirty="0"/>
          </a:p>
        </p:txBody>
      </p:sp>
      <p:sp>
        <p:nvSpPr>
          <p:cNvPr id="5" name="Shape 3"/>
          <p:cNvSpPr/>
          <p:nvPr/>
        </p:nvSpPr>
        <p:spPr>
          <a:xfrm>
            <a:off x="2025853" y="1691640"/>
            <a:ext cx="438912" cy="438912"/>
          </a:xfrm>
          <a:prstGeom prst="ellipse">
            <a:avLst/>
          </a:prstGeom>
          <a:solidFill>
            <a:srgbClr val="1E2761"/>
          </a:solidFill>
          <a:ln/>
        </p:spPr>
      </p:sp>
      <p:sp>
        <p:nvSpPr>
          <p:cNvPr id="6" name="Text 4"/>
          <p:cNvSpPr txBox="1"/>
          <p:nvPr/>
        </p:nvSpPr>
        <p:spPr>
          <a:xfrm>
            <a:off x="2025853" y="169164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457200" y="2240280"/>
            <a:ext cx="3576218" cy="50292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The Midnight Incident (11:30 PM)</a:t>
            </a:r>
            <a:endParaRPr lang="en-US" sz="1250" dirty="0"/>
          </a:p>
        </p:txBody>
      </p:sp>
      <p:sp>
        <p:nvSpPr>
          <p:cNvPr id="8" name="Shape 6"/>
          <p:cNvSpPr/>
          <p:nvPr/>
        </p:nvSpPr>
        <p:spPr>
          <a:xfrm>
            <a:off x="457200" y="2770632"/>
            <a:ext cx="3576218" cy="3355848"/>
          </a:xfrm>
          <a:prstGeom prst="roundRect">
            <a:avLst>
              <a:gd name="adj" fmla="val 1907"/>
            </a:avLst>
          </a:prstGeom>
          <a:solidFill>
            <a:srgbClr val="EAF0FC"/>
          </a:solidFill>
          <a:ln/>
        </p:spPr>
      </p:sp>
      <p:sp>
        <p:nvSpPr>
          <p:cNvPr id="9" name="Text 7"/>
          <p:cNvSpPr txBox="1"/>
          <p:nvPr/>
        </p:nvSpPr>
        <p:spPr>
          <a:xfrm>
            <a:off x="603504" y="2916936"/>
            <a:ext cx="3283610" cy="3063240"/>
          </a:xfrm>
          <a:prstGeom prst="rect">
            <a:avLst/>
          </a:prstGeom>
          <a:noFill/>
          <a:ln/>
        </p:spPr>
        <p:txBody>
          <a:bodyPr wrap="square" lIns="0" tIns="0" rIns="0" bIns="0" rtlCol="0" anchor="t"/>
          <a:lstStyle/>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KPMG auditors uploading multi-MB JSON for Scope 3 carbon verification</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42% of legitimate uploads rejected with HTTP 403 across AWS WAF &amp; Coraza WAF</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Audit deadline at stake — escalation threatened to C-level</a:t>
            </a:r>
            <a:endParaRPr lang="en-US" sz="1050" dirty="0"/>
          </a:p>
        </p:txBody>
      </p:sp>
      <p:sp>
        <p:nvSpPr>
          <p:cNvPr id="10" name="Text 8"/>
          <p:cNvSpPr txBox="1"/>
          <p:nvPr/>
        </p:nvSpPr>
        <p:spPr>
          <a:xfrm>
            <a:off x="4015130" y="2194560"/>
            <a:ext cx="310896" cy="457200"/>
          </a:xfrm>
          <a:prstGeom prst="rect">
            <a:avLst/>
          </a:prstGeom>
          <a:noFill/>
          <a:ln/>
        </p:spPr>
        <p:txBody>
          <a:bodyPr wrap="square" lIns="0" tIns="0" rIns="0" bIns="0" rtlCol="0" anchor="ctr"/>
          <a:lstStyle/>
          <a:p>
            <a:pPr algn="ctr" indent="0" marL="0">
              <a:buNone/>
            </a:pPr>
            <a:r>
              <a:rPr lang="en-US" sz="2200" b="1" dirty="0">
                <a:solidFill>
                  <a:srgbClr val="0EA5A5"/>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5876392" y="1691640"/>
            <a:ext cx="438912" cy="438912"/>
          </a:xfrm>
          <a:prstGeom prst="ellipse">
            <a:avLst/>
          </a:prstGeom>
          <a:solidFill>
            <a:srgbClr val="1E2761"/>
          </a:solidFill>
          <a:ln/>
        </p:spPr>
      </p:sp>
      <p:sp>
        <p:nvSpPr>
          <p:cNvPr id="12" name="Text 10"/>
          <p:cNvSpPr txBox="1"/>
          <p:nvPr/>
        </p:nvSpPr>
        <p:spPr>
          <a:xfrm>
            <a:off x="5876392" y="169164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4307738" y="2240280"/>
            <a:ext cx="3576218" cy="50292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Deep Root Cause Analysis</a:t>
            </a:r>
            <a:endParaRPr lang="en-US" sz="1250" dirty="0"/>
          </a:p>
        </p:txBody>
      </p:sp>
      <p:sp>
        <p:nvSpPr>
          <p:cNvPr id="14" name="Shape 12"/>
          <p:cNvSpPr/>
          <p:nvPr/>
        </p:nvSpPr>
        <p:spPr>
          <a:xfrm>
            <a:off x="4307738" y="2770632"/>
            <a:ext cx="3576218" cy="3355848"/>
          </a:xfrm>
          <a:prstGeom prst="roundRect">
            <a:avLst>
              <a:gd name="adj" fmla="val 1907"/>
            </a:avLst>
          </a:prstGeom>
          <a:solidFill>
            <a:srgbClr val="EAF0FC"/>
          </a:solidFill>
          <a:ln/>
        </p:spPr>
      </p:sp>
      <p:sp>
        <p:nvSpPr>
          <p:cNvPr id="15" name="Text 13"/>
          <p:cNvSpPr txBox="1"/>
          <p:nvPr/>
        </p:nvSpPr>
        <p:spPr>
          <a:xfrm>
            <a:off x="4454042" y="2916936"/>
            <a:ext cx="3283610" cy="3063240"/>
          </a:xfrm>
          <a:prstGeom prst="rect">
            <a:avLst/>
          </a:prstGeom>
          <a:noFill/>
          <a:ln/>
        </p:spPr>
        <p:txBody>
          <a:bodyPr wrap="square" lIns="0" tIns="0" rIns="0" bIns="0" rtlCol="0" anchor="t"/>
          <a:lstStyle/>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WAF log: BLOCK on AWSManagedRulesCommonRuleSet #SQLi_BODY</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ESG auditor text contained SQL-like syntax, e.g. "SELECT * FROM sub_contractors..."</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OWASP CRS rule 942100 flagged it as an SQLi probe</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Disabling SQLi_BODY globally was unacceptable — real risk exposure</a:t>
            </a:r>
            <a:endParaRPr lang="en-US" sz="1050" dirty="0"/>
          </a:p>
        </p:txBody>
      </p:sp>
      <p:sp>
        <p:nvSpPr>
          <p:cNvPr id="16" name="Text 14"/>
          <p:cNvSpPr txBox="1"/>
          <p:nvPr/>
        </p:nvSpPr>
        <p:spPr>
          <a:xfrm>
            <a:off x="7865669" y="2194560"/>
            <a:ext cx="310896" cy="457200"/>
          </a:xfrm>
          <a:prstGeom prst="rect">
            <a:avLst/>
          </a:prstGeom>
          <a:noFill/>
          <a:ln/>
        </p:spPr>
        <p:txBody>
          <a:bodyPr wrap="square" lIns="0" tIns="0" rIns="0" bIns="0" rtlCol="0" anchor="ctr"/>
          <a:lstStyle/>
          <a:p>
            <a:pPr algn="ctr" indent="0" marL="0">
              <a:buNone/>
            </a:pPr>
            <a:r>
              <a:rPr lang="en-US" sz="2200" b="1" dirty="0">
                <a:solidFill>
                  <a:srgbClr val="0EA5A5"/>
                </a:solidFill>
                <a:latin typeface="Calibri" pitchFamily="34" charset="0"/>
                <a:ea typeface="Calibri" pitchFamily="34" charset="-122"/>
                <a:cs typeface="Calibri" pitchFamily="34" charset="-120"/>
              </a:rPr>
              <a:t>›</a:t>
            </a:r>
            <a:endParaRPr lang="en-US" sz="2200" dirty="0"/>
          </a:p>
        </p:txBody>
      </p:sp>
      <p:sp>
        <p:nvSpPr>
          <p:cNvPr id="17" name="Shape 15"/>
          <p:cNvSpPr/>
          <p:nvPr/>
        </p:nvSpPr>
        <p:spPr>
          <a:xfrm>
            <a:off x="9726930" y="1691640"/>
            <a:ext cx="438912" cy="438912"/>
          </a:xfrm>
          <a:prstGeom prst="ellipse">
            <a:avLst/>
          </a:prstGeom>
          <a:solidFill>
            <a:srgbClr val="1E2761"/>
          </a:solidFill>
          <a:ln/>
        </p:spPr>
      </p:sp>
      <p:sp>
        <p:nvSpPr>
          <p:cNvPr id="18" name="Text 16"/>
          <p:cNvSpPr txBox="1"/>
          <p:nvPr/>
        </p:nvSpPr>
        <p:spPr>
          <a:xfrm>
            <a:off x="9726930" y="169164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8158277" y="2240280"/>
            <a:ext cx="3576218" cy="50292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Surgical Terraform Fix in 11 Min</a:t>
            </a:r>
            <a:endParaRPr lang="en-US" sz="1250" dirty="0"/>
          </a:p>
        </p:txBody>
      </p:sp>
      <p:sp>
        <p:nvSpPr>
          <p:cNvPr id="20" name="Shape 18"/>
          <p:cNvSpPr/>
          <p:nvPr/>
        </p:nvSpPr>
        <p:spPr>
          <a:xfrm>
            <a:off x="8158277" y="2770632"/>
            <a:ext cx="3576218" cy="3355848"/>
          </a:xfrm>
          <a:prstGeom prst="roundRect">
            <a:avLst>
              <a:gd name="adj" fmla="val 1907"/>
            </a:avLst>
          </a:prstGeom>
          <a:solidFill>
            <a:srgbClr val="EAF0FC"/>
          </a:solidFill>
          <a:ln/>
        </p:spPr>
      </p:sp>
      <p:sp>
        <p:nvSpPr>
          <p:cNvPr id="21" name="Text 19"/>
          <p:cNvSpPr txBox="1"/>
          <p:nvPr/>
        </p:nvSpPr>
        <p:spPr>
          <a:xfrm>
            <a:off x="8304581" y="2916936"/>
            <a:ext cx="3283610" cy="3063240"/>
          </a:xfrm>
          <a:prstGeom prst="rect">
            <a:avLst/>
          </a:prstGeom>
          <a:noFill/>
          <a:ln/>
        </p:spPr>
        <p:txBody>
          <a:bodyPr wrap="square" lIns="0" tIns="0" rIns="0" bIns="0" rtlCol="0" anchor="t"/>
          <a:lstStyle/>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excluded_rule { name = "SQLi_BODY" } scoped only to the batch-upload URI</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Payloads routed to async queue with Pydantic + parameterized SQL binding</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Zero downtime; all auditor submissions succeeded immediately</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Added synthetic ESG payloads to CI WAF regression tests</a:t>
            </a:r>
            <a:endParaRPr lang="en-US" sz="1050" dirty="0"/>
          </a:p>
        </p:txBody>
      </p:sp>
      <p:sp>
        <p:nvSpPr>
          <p:cNvPr id="22" name="Text 20"/>
          <p:cNvSpPr txBox="1"/>
          <p:nvPr/>
        </p:nvSpPr>
        <p:spPr>
          <a:xfrm>
            <a:off x="11521440" y="6473952"/>
            <a:ext cx="365760" cy="274320"/>
          </a:xfrm>
          <a:prstGeom prst="rect">
            <a:avLst/>
          </a:prstGeom>
          <a:noFill/>
          <a:ln/>
        </p:spPr>
        <p:txBody>
          <a:bodyPr wrap="square" lIns="0" tIns="0" rIns="0" bIns="0" rtlCol="0" anchor="ctr"/>
          <a:lstStyle/>
          <a:p>
            <a:pPr algn="r" indent="0" marL="0">
              <a:buNone/>
            </a:pPr>
            <a:r>
              <a:rPr lang="en-US" sz="900" dirty="0">
                <a:solidFill>
                  <a:srgbClr val="8891A3"/>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4552" cy="292608"/>
          </a:xfrm>
          <a:prstGeom prst="rect">
            <a:avLst/>
          </a:prstGeom>
          <a:noFill/>
          <a:ln/>
        </p:spPr>
        <p:txBody>
          <a:bodyPr wrap="square" lIns="0" tIns="0" rIns="0" bIns="0" rtlCol="0" anchor="ctr"/>
          <a:lstStyle/>
          <a:p>
            <a:pPr indent="0" marL="0">
              <a:buNone/>
            </a:pPr>
            <a:r>
              <a:rPr lang="en-US" sz="1200" b="1" spc="200" kern="0" dirty="0">
                <a:solidFill>
                  <a:srgbClr val="0B8484"/>
                </a:solidFill>
                <a:latin typeface="Calibri" pitchFamily="34" charset="0"/>
                <a:ea typeface="Calibri" pitchFamily="34" charset="-122"/>
                <a:cs typeface="Calibri" pitchFamily="34" charset="-120"/>
              </a:rPr>
              <a:t>QUESTION 5 · FINOPS &amp; COST OPTIMIZATION</a:t>
            </a:r>
            <a:endParaRPr lang="en-US" sz="1200" dirty="0"/>
          </a:p>
        </p:txBody>
      </p:sp>
      <p:sp>
        <p:nvSpPr>
          <p:cNvPr id="3" name="Text 1"/>
          <p:cNvSpPr txBox="1"/>
          <p:nvPr/>
        </p:nvSpPr>
        <p:spPr>
          <a:xfrm>
            <a:off x="457200" y="585216"/>
            <a:ext cx="11274552"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Engineering 20% Recurring Savings ($16,000/Month)</a:t>
            </a:r>
            <a:endParaRPr lang="en-US" sz="2700" dirty="0"/>
          </a:p>
        </p:txBody>
      </p:sp>
      <p:sp>
        <p:nvSpPr>
          <p:cNvPr id="4" name="Text 2"/>
          <p:cNvSpPr txBox="1"/>
          <p:nvPr/>
        </p:nvSpPr>
        <p:spPr>
          <a:xfrm>
            <a:off x="457200" y="1133856"/>
            <a:ext cx="11274552" cy="320040"/>
          </a:xfrm>
          <a:prstGeom prst="rect">
            <a:avLst/>
          </a:prstGeom>
          <a:noFill/>
          <a:ln/>
        </p:spPr>
        <p:txBody>
          <a:bodyPr wrap="square" lIns="0" tIns="0" rIns="0" bIns="0" rtlCol="0" anchor="ctr"/>
          <a:lstStyle/>
          <a:p>
            <a:pPr indent="0" marL="0">
              <a:buNone/>
            </a:pPr>
            <a:r>
              <a:rPr lang="en-US" sz="1350" i="1" dirty="0">
                <a:solidFill>
                  <a:srgbClr val="5B6478"/>
                </a:solidFill>
                <a:latin typeface="Calibri" pitchFamily="34" charset="0"/>
                <a:ea typeface="Calibri" pitchFamily="34" charset="-122"/>
                <a:cs typeface="Calibri" pitchFamily="34" charset="-120"/>
              </a:rPr>
              <a:t>Data-driven cost reduction across compute, storage, DR standby &amp; connectivity — with zero SLO impact</a:t>
            </a:r>
            <a:endParaRPr lang="en-US" sz="1350" dirty="0"/>
          </a:p>
        </p:txBody>
      </p:sp>
      <p:sp>
        <p:nvSpPr>
          <p:cNvPr id="5" name="Shape 3"/>
          <p:cNvSpPr/>
          <p:nvPr/>
        </p:nvSpPr>
        <p:spPr>
          <a:xfrm>
            <a:off x="457200" y="1600200"/>
            <a:ext cx="2668448" cy="914400"/>
          </a:xfrm>
          <a:prstGeom prst="roundRect">
            <a:avLst>
              <a:gd name="adj" fmla="val 8000"/>
            </a:avLst>
          </a:prstGeom>
          <a:solidFill>
            <a:srgbClr val="EAF0FC"/>
          </a:solidFill>
          <a:ln/>
          <a:effectLst>
            <a:outerShdw sx="100000" sy="100000" kx="0" ky="0" algn="bl" rotWithShape="0" blurRad="76200" dist="25400" dir="5400000">
              <a:srgbClr val="1E2761">
                <a:alpha val="12000"/>
              </a:srgbClr>
            </a:outerShdw>
          </a:effectLst>
        </p:spPr>
      </p:sp>
      <p:sp>
        <p:nvSpPr>
          <p:cNvPr id="6" name="Text 4"/>
          <p:cNvSpPr txBox="1"/>
          <p:nvPr/>
        </p:nvSpPr>
        <p:spPr>
          <a:xfrm>
            <a:off x="457200" y="1691640"/>
            <a:ext cx="2668448" cy="457200"/>
          </a:xfrm>
          <a:prstGeom prst="rect">
            <a:avLst/>
          </a:prstGeom>
          <a:noFill/>
          <a:ln/>
        </p:spPr>
        <p:txBody>
          <a:bodyPr wrap="square" lIns="0" tIns="0" rIns="0" bIns="0" rtlCol="0" anchor="ctr"/>
          <a:lstStyle/>
          <a:p>
            <a:pPr algn="ctr" indent="0" marL="0">
              <a:buNone/>
            </a:pPr>
            <a:r>
              <a:rPr lang="en-US" sz="2200" b="1" dirty="0">
                <a:solidFill>
                  <a:srgbClr val="5B6478"/>
                </a:solidFill>
                <a:latin typeface="Calibri" pitchFamily="34" charset="0"/>
                <a:ea typeface="Calibri" pitchFamily="34" charset="-122"/>
                <a:cs typeface="Calibri" pitchFamily="34" charset="-120"/>
              </a:rPr>
              <a:t>$80,000/mo</a:t>
            </a:r>
            <a:endParaRPr lang="en-US" sz="2200" dirty="0"/>
          </a:p>
        </p:txBody>
      </p:sp>
      <p:sp>
        <p:nvSpPr>
          <p:cNvPr id="7" name="Text 5"/>
          <p:cNvSpPr txBox="1"/>
          <p:nvPr/>
        </p:nvSpPr>
        <p:spPr>
          <a:xfrm>
            <a:off x="530352" y="2185416"/>
            <a:ext cx="2522144" cy="292608"/>
          </a:xfrm>
          <a:prstGeom prst="rect">
            <a:avLst/>
          </a:prstGeom>
          <a:noFill/>
          <a:ln/>
        </p:spPr>
        <p:txBody>
          <a:bodyPr wrap="square" lIns="0" tIns="0" rIns="0" bIns="0" rtlCol="0" anchor="ctr"/>
          <a:lstStyle/>
          <a:p>
            <a:pPr algn="ctr" indent="0" marL="0">
              <a:buNone/>
            </a:pPr>
            <a:r>
              <a:rPr lang="en-US" sz="950" dirty="0">
                <a:solidFill>
                  <a:srgbClr val="5B6478"/>
                </a:solidFill>
                <a:latin typeface="Calibri" pitchFamily="34" charset="0"/>
                <a:ea typeface="Calibri" pitchFamily="34" charset="-122"/>
                <a:cs typeface="Calibri" pitchFamily="34" charset="-120"/>
              </a:rPr>
              <a:t>ORIGINAL SPEND BASELINE</a:t>
            </a:r>
            <a:endParaRPr lang="en-US" sz="950" dirty="0"/>
          </a:p>
        </p:txBody>
      </p:sp>
      <p:sp>
        <p:nvSpPr>
          <p:cNvPr id="8" name="Shape 6"/>
          <p:cNvSpPr/>
          <p:nvPr/>
        </p:nvSpPr>
        <p:spPr>
          <a:xfrm>
            <a:off x="3326816" y="1600200"/>
            <a:ext cx="2668448" cy="914400"/>
          </a:xfrm>
          <a:prstGeom prst="roundRect">
            <a:avLst>
              <a:gd name="adj" fmla="val 8000"/>
            </a:avLst>
          </a:prstGeom>
          <a:solidFill>
            <a:srgbClr val="EAF0FC"/>
          </a:solidFill>
          <a:ln/>
          <a:effectLst>
            <a:outerShdw sx="100000" sy="100000" kx="0" ky="0" algn="bl" rotWithShape="0" blurRad="76200" dist="25400" dir="5400000">
              <a:srgbClr val="1E2761">
                <a:alpha val="12000"/>
              </a:srgbClr>
            </a:outerShdw>
          </a:effectLst>
        </p:spPr>
      </p:sp>
      <p:sp>
        <p:nvSpPr>
          <p:cNvPr id="9" name="Text 7"/>
          <p:cNvSpPr txBox="1"/>
          <p:nvPr/>
        </p:nvSpPr>
        <p:spPr>
          <a:xfrm>
            <a:off x="3326816" y="1691640"/>
            <a:ext cx="2668448" cy="457200"/>
          </a:xfrm>
          <a:prstGeom prst="rect">
            <a:avLst/>
          </a:prstGeom>
          <a:noFill/>
          <a:ln/>
        </p:spPr>
        <p:txBody>
          <a:bodyPr wrap="square" lIns="0" tIns="0" rIns="0" bIns="0" rtlCol="0" anchor="ctr"/>
          <a:lstStyle/>
          <a:p>
            <a:pPr algn="ctr" indent="0" marL="0">
              <a:buNone/>
            </a:pPr>
            <a:r>
              <a:rPr lang="en-US" sz="2200" b="1" dirty="0">
                <a:solidFill>
                  <a:srgbClr val="1E2761"/>
                </a:solidFill>
                <a:latin typeface="Calibri" pitchFamily="34" charset="0"/>
                <a:ea typeface="Calibri" pitchFamily="34" charset="-122"/>
                <a:cs typeface="Calibri" pitchFamily="34" charset="-120"/>
              </a:rPr>
              <a:t>$64,000/mo</a:t>
            </a:r>
            <a:endParaRPr lang="en-US" sz="2200" dirty="0"/>
          </a:p>
        </p:txBody>
      </p:sp>
      <p:sp>
        <p:nvSpPr>
          <p:cNvPr id="10" name="Text 8"/>
          <p:cNvSpPr txBox="1"/>
          <p:nvPr/>
        </p:nvSpPr>
        <p:spPr>
          <a:xfrm>
            <a:off x="3399968" y="2185416"/>
            <a:ext cx="2522144" cy="292608"/>
          </a:xfrm>
          <a:prstGeom prst="rect">
            <a:avLst/>
          </a:prstGeom>
          <a:noFill/>
          <a:ln/>
        </p:spPr>
        <p:txBody>
          <a:bodyPr wrap="square" lIns="0" tIns="0" rIns="0" bIns="0" rtlCol="0" anchor="ctr"/>
          <a:lstStyle/>
          <a:p>
            <a:pPr algn="ctr" indent="0" marL="0">
              <a:buNone/>
            </a:pPr>
            <a:r>
              <a:rPr lang="en-US" sz="950" dirty="0">
                <a:solidFill>
                  <a:srgbClr val="5B6478"/>
                </a:solidFill>
                <a:latin typeface="Calibri" pitchFamily="34" charset="0"/>
                <a:ea typeface="Calibri" pitchFamily="34" charset="-122"/>
                <a:cs typeface="Calibri" pitchFamily="34" charset="-120"/>
              </a:rPr>
              <a:t>OPTIMIZED RUN-RATE SPEND</a:t>
            </a:r>
            <a:endParaRPr lang="en-US" sz="950" dirty="0"/>
          </a:p>
        </p:txBody>
      </p:sp>
      <p:sp>
        <p:nvSpPr>
          <p:cNvPr id="11" name="Shape 9"/>
          <p:cNvSpPr/>
          <p:nvPr/>
        </p:nvSpPr>
        <p:spPr>
          <a:xfrm>
            <a:off x="6196432" y="1600200"/>
            <a:ext cx="2668448" cy="914400"/>
          </a:xfrm>
          <a:prstGeom prst="roundRect">
            <a:avLst>
              <a:gd name="adj" fmla="val 8000"/>
            </a:avLst>
          </a:prstGeom>
          <a:solidFill>
            <a:srgbClr val="DCF3EF"/>
          </a:solidFill>
          <a:ln/>
          <a:effectLst>
            <a:outerShdw sx="100000" sy="100000" kx="0" ky="0" algn="bl" rotWithShape="0" blurRad="76200" dist="25400" dir="5400000">
              <a:srgbClr val="1E2761">
                <a:alpha val="12000"/>
              </a:srgbClr>
            </a:outerShdw>
          </a:effectLst>
        </p:spPr>
      </p:sp>
      <p:sp>
        <p:nvSpPr>
          <p:cNvPr id="12" name="Text 10"/>
          <p:cNvSpPr txBox="1"/>
          <p:nvPr/>
        </p:nvSpPr>
        <p:spPr>
          <a:xfrm>
            <a:off x="6196432" y="1691640"/>
            <a:ext cx="2668448" cy="457200"/>
          </a:xfrm>
          <a:prstGeom prst="rect">
            <a:avLst/>
          </a:prstGeom>
          <a:noFill/>
          <a:ln/>
        </p:spPr>
        <p:txBody>
          <a:bodyPr wrap="square" lIns="0" tIns="0" rIns="0" bIns="0" rtlCol="0" anchor="ctr"/>
          <a:lstStyle/>
          <a:p>
            <a:pPr algn="ctr" indent="0" marL="0">
              <a:buNone/>
            </a:pPr>
            <a:r>
              <a:rPr lang="en-US" sz="2200" b="1" dirty="0">
                <a:solidFill>
                  <a:srgbClr val="0B8484"/>
                </a:solidFill>
                <a:latin typeface="Calibri" pitchFamily="34" charset="0"/>
                <a:ea typeface="Calibri" pitchFamily="34" charset="-122"/>
                <a:cs typeface="Calibri" pitchFamily="34" charset="-120"/>
              </a:rPr>
              <a:t>$16,000/mo</a:t>
            </a:r>
            <a:endParaRPr lang="en-US" sz="2200" dirty="0"/>
          </a:p>
        </p:txBody>
      </p:sp>
      <p:sp>
        <p:nvSpPr>
          <p:cNvPr id="13" name="Text 11"/>
          <p:cNvSpPr txBox="1"/>
          <p:nvPr/>
        </p:nvSpPr>
        <p:spPr>
          <a:xfrm>
            <a:off x="6269584" y="2185416"/>
            <a:ext cx="2522144" cy="292608"/>
          </a:xfrm>
          <a:prstGeom prst="rect">
            <a:avLst/>
          </a:prstGeom>
          <a:noFill/>
          <a:ln/>
        </p:spPr>
        <p:txBody>
          <a:bodyPr wrap="square" lIns="0" tIns="0" rIns="0" bIns="0" rtlCol="0" anchor="ctr"/>
          <a:lstStyle/>
          <a:p>
            <a:pPr algn="ctr" indent="0" marL="0">
              <a:buNone/>
            </a:pPr>
            <a:r>
              <a:rPr lang="en-US" sz="950" dirty="0">
                <a:solidFill>
                  <a:srgbClr val="5B6478"/>
                </a:solidFill>
                <a:latin typeface="Calibri" pitchFamily="34" charset="0"/>
                <a:ea typeface="Calibri" pitchFamily="34" charset="-122"/>
                <a:cs typeface="Calibri" pitchFamily="34" charset="-120"/>
              </a:rPr>
              <a:t>TOTAL RECURRING SAVINGS</a:t>
            </a:r>
            <a:endParaRPr lang="en-US" sz="950" dirty="0"/>
          </a:p>
        </p:txBody>
      </p:sp>
      <p:sp>
        <p:nvSpPr>
          <p:cNvPr id="14" name="Shape 12"/>
          <p:cNvSpPr/>
          <p:nvPr/>
        </p:nvSpPr>
        <p:spPr>
          <a:xfrm>
            <a:off x="9066047" y="1600200"/>
            <a:ext cx="2668448" cy="914400"/>
          </a:xfrm>
          <a:prstGeom prst="roundRect">
            <a:avLst>
              <a:gd name="adj" fmla="val 8000"/>
            </a:avLst>
          </a:prstGeom>
          <a:solidFill>
            <a:srgbClr val="DCF3EF"/>
          </a:solidFill>
          <a:ln/>
          <a:effectLst>
            <a:outerShdw sx="100000" sy="100000" kx="0" ky="0" algn="bl" rotWithShape="0" blurRad="76200" dist="25400" dir="5400000">
              <a:srgbClr val="1E2761">
                <a:alpha val="12000"/>
              </a:srgbClr>
            </a:outerShdw>
          </a:effectLst>
        </p:spPr>
      </p:sp>
      <p:sp>
        <p:nvSpPr>
          <p:cNvPr id="15" name="Text 13"/>
          <p:cNvSpPr txBox="1"/>
          <p:nvPr/>
        </p:nvSpPr>
        <p:spPr>
          <a:xfrm>
            <a:off x="9066047" y="1691640"/>
            <a:ext cx="2668448" cy="457200"/>
          </a:xfrm>
          <a:prstGeom prst="rect">
            <a:avLst/>
          </a:prstGeom>
          <a:noFill/>
          <a:ln/>
        </p:spPr>
        <p:txBody>
          <a:bodyPr wrap="square" lIns="0" tIns="0" rIns="0" bIns="0" rtlCol="0" anchor="ctr"/>
          <a:lstStyle/>
          <a:p>
            <a:pPr algn="ctr" indent="0" marL="0">
              <a:buNone/>
            </a:pPr>
            <a:r>
              <a:rPr lang="en-US" sz="2200" b="1" dirty="0">
                <a:solidFill>
                  <a:srgbClr val="0B8484"/>
                </a:solidFill>
                <a:latin typeface="Calibri" pitchFamily="34" charset="0"/>
                <a:ea typeface="Calibri" pitchFamily="34" charset="-122"/>
                <a:cs typeface="Calibri" pitchFamily="34" charset="-120"/>
              </a:rPr>
              <a:t>20.0%</a:t>
            </a:r>
            <a:endParaRPr lang="en-US" sz="2200" dirty="0"/>
          </a:p>
        </p:txBody>
      </p:sp>
      <p:sp>
        <p:nvSpPr>
          <p:cNvPr id="16" name="Text 14"/>
          <p:cNvSpPr txBox="1"/>
          <p:nvPr/>
        </p:nvSpPr>
        <p:spPr>
          <a:xfrm>
            <a:off x="9139199" y="2185416"/>
            <a:ext cx="2522144" cy="292608"/>
          </a:xfrm>
          <a:prstGeom prst="rect">
            <a:avLst/>
          </a:prstGeom>
          <a:noFill/>
          <a:ln/>
        </p:spPr>
        <p:txBody>
          <a:bodyPr wrap="square" lIns="0" tIns="0" rIns="0" bIns="0" rtlCol="0" anchor="ctr"/>
          <a:lstStyle/>
          <a:p>
            <a:pPr algn="ctr" indent="0" marL="0">
              <a:buNone/>
            </a:pPr>
            <a:r>
              <a:rPr lang="en-US" sz="950" dirty="0">
                <a:solidFill>
                  <a:srgbClr val="5B6478"/>
                </a:solidFill>
                <a:latin typeface="Calibri" pitchFamily="34" charset="0"/>
                <a:ea typeface="Calibri" pitchFamily="34" charset="-122"/>
                <a:cs typeface="Calibri" pitchFamily="34" charset="-120"/>
              </a:rPr>
              <a:t>CUT — $192K ANNUAL SAVINGS</a:t>
            </a:r>
            <a:endParaRPr lang="en-US" sz="950" dirty="0"/>
          </a:p>
        </p:txBody>
      </p:sp>
      <p:sp>
        <p:nvSpPr>
          <p:cNvPr id="17" name="Shape 15"/>
          <p:cNvSpPr/>
          <p:nvPr/>
        </p:nvSpPr>
        <p:spPr>
          <a:xfrm>
            <a:off x="457200" y="2743200"/>
            <a:ext cx="2647188" cy="3429000"/>
          </a:xfrm>
          <a:prstGeom prst="roundRect">
            <a:avLst>
              <a:gd name="adj" fmla="val 2418"/>
            </a:avLst>
          </a:prstGeom>
          <a:solidFill>
            <a:srgbClr val="EAF0FC"/>
          </a:solidFill>
          <a:ln/>
          <a:effectLst>
            <a:outerShdw sx="100000" sy="100000" kx="0" ky="0" algn="bl" rotWithShape="0" blurRad="63500" dist="25400" dir="5400000">
              <a:srgbClr val="1E2761">
                <a:alpha val="10000"/>
              </a:srgbClr>
            </a:outerShdw>
          </a:effectLst>
        </p:spPr>
      </p:sp>
      <p:sp>
        <p:nvSpPr>
          <p:cNvPr id="18" name="Text 16"/>
          <p:cNvSpPr txBox="1"/>
          <p:nvPr/>
        </p:nvSpPr>
        <p:spPr>
          <a:xfrm>
            <a:off x="603504" y="3218688"/>
            <a:ext cx="235458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AWS Compute Savings</a:t>
            </a:r>
            <a:endParaRPr lang="en-US" sz="1300" dirty="0"/>
          </a:p>
        </p:txBody>
      </p:sp>
      <p:sp>
        <p:nvSpPr>
          <p:cNvPr id="19" name="Text 17"/>
          <p:cNvSpPr txBox="1"/>
          <p:nvPr/>
        </p:nvSpPr>
        <p:spPr>
          <a:xfrm>
            <a:off x="603504" y="3566160"/>
            <a:ext cx="2354580" cy="2496312"/>
          </a:xfrm>
          <a:prstGeom prst="rect">
            <a:avLst/>
          </a:prstGeom>
          <a:noFill/>
          <a:ln/>
        </p:spPr>
        <p:txBody>
          <a:bodyPr wrap="square" lIns="0" tIns="0" rIns="0" bIns="0" rtlCol="0" anchor="t"/>
          <a:lstStyle/>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kube-downscaler: off-hours EKS scale-down — $3,200/mo</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Karpenter Spot for ML training — $3,600/mo</a:t>
            </a:r>
            <a:endParaRPr lang="en-US" sz="970" dirty="0"/>
          </a:p>
        </p:txBody>
      </p:sp>
      <p:sp>
        <p:nvSpPr>
          <p:cNvPr id="20" name="Shape 18"/>
          <p:cNvSpPr/>
          <p:nvPr/>
        </p:nvSpPr>
        <p:spPr>
          <a:xfrm>
            <a:off x="3332988" y="2743200"/>
            <a:ext cx="2647188" cy="3429000"/>
          </a:xfrm>
          <a:prstGeom prst="roundRect">
            <a:avLst>
              <a:gd name="adj" fmla="val 2418"/>
            </a:avLst>
          </a:prstGeom>
          <a:solidFill>
            <a:srgbClr val="EAF0FC"/>
          </a:solidFill>
          <a:ln/>
          <a:effectLst>
            <a:outerShdw sx="100000" sy="100000" kx="0" ky="0" algn="bl" rotWithShape="0" blurRad="63500" dist="25400" dir="5400000">
              <a:srgbClr val="1E2761">
                <a:alpha val="10000"/>
              </a:srgbClr>
            </a:outerShdw>
          </a:effectLst>
        </p:spPr>
      </p:sp>
      <p:sp>
        <p:nvSpPr>
          <p:cNvPr id="21" name="Text 19"/>
          <p:cNvSpPr txBox="1"/>
          <p:nvPr/>
        </p:nvSpPr>
        <p:spPr>
          <a:xfrm>
            <a:off x="3479292" y="3218688"/>
            <a:ext cx="235458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Storage Architecture</a:t>
            </a:r>
            <a:endParaRPr lang="en-US" sz="1300" dirty="0"/>
          </a:p>
        </p:txBody>
      </p:sp>
      <p:sp>
        <p:nvSpPr>
          <p:cNvPr id="22" name="Text 20"/>
          <p:cNvSpPr txBox="1"/>
          <p:nvPr/>
        </p:nvSpPr>
        <p:spPr>
          <a:xfrm>
            <a:off x="3479292" y="3566160"/>
            <a:ext cx="2354580" cy="2496312"/>
          </a:xfrm>
          <a:prstGeom prst="rect">
            <a:avLst/>
          </a:prstGeom>
          <a:noFill/>
          <a:ln/>
        </p:spPr>
        <p:txBody>
          <a:bodyPr wrap="square" lIns="0" tIns="0" rIns="0" bIns="0" rtlCol="0" anchor="t"/>
          <a:lstStyle/>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GP2 → GP3 on 14TB volumes — $1,100/mo</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S3 Glacier Instant Retrieval, 65TB — $2,400/mo</a:t>
            </a:r>
            <a:endParaRPr lang="en-US" sz="970" dirty="0"/>
          </a:p>
        </p:txBody>
      </p:sp>
      <p:sp>
        <p:nvSpPr>
          <p:cNvPr id="23" name="Shape 21"/>
          <p:cNvSpPr/>
          <p:nvPr/>
        </p:nvSpPr>
        <p:spPr>
          <a:xfrm>
            <a:off x="6208776" y="2743200"/>
            <a:ext cx="2647188" cy="3429000"/>
          </a:xfrm>
          <a:prstGeom prst="roundRect">
            <a:avLst>
              <a:gd name="adj" fmla="val 2418"/>
            </a:avLst>
          </a:prstGeom>
          <a:solidFill>
            <a:srgbClr val="EAF0FC"/>
          </a:solidFill>
          <a:ln/>
          <a:effectLst>
            <a:outerShdw sx="100000" sy="100000" kx="0" ky="0" algn="bl" rotWithShape="0" blurRad="63500" dist="25400" dir="5400000">
              <a:srgbClr val="1E2761">
                <a:alpha val="10000"/>
              </a:srgbClr>
            </a:outerShdw>
          </a:effectLst>
        </p:spPr>
      </p:sp>
      <p:sp>
        <p:nvSpPr>
          <p:cNvPr id="24" name="Text 22"/>
          <p:cNvSpPr txBox="1"/>
          <p:nvPr/>
        </p:nvSpPr>
        <p:spPr>
          <a:xfrm>
            <a:off x="6355080" y="3218688"/>
            <a:ext cx="235458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Azure DR Standby</a:t>
            </a:r>
            <a:endParaRPr lang="en-US" sz="1300" dirty="0"/>
          </a:p>
        </p:txBody>
      </p:sp>
      <p:sp>
        <p:nvSpPr>
          <p:cNvPr id="25" name="Text 23"/>
          <p:cNvSpPr txBox="1"/>
          <p:nvPr/>
        </p:nvSpPr>
        <p:spPr>
          <a:xfrm>
            <a:off x="6355080" y="3566160"/>
            <a:ext cx="2354580" cy="2496312"/>
          </a:xfrm>
          <a:prstGeom prst="rect">
            <a:avLst/>
          </a:prstGeom>
          <a:noFill/>
          <a:ln/>
        </p:spPr>
        <p:txBody>
          <a:bodyPr wrap="square" lIns="0" tIns="0" rIns="0" bIns="0" rtlCol="0" anchor="t"/>
          <a:lstStyle/>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Warm standby right-sized 10 → 2 nodes</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KEDA scales to full only on trigger — $2,800/mo</a:t>
            </a:r>
            <a:endParaRPr lang="en-US" sz="970" dirty="0"/>
          </a:p>
        </p:txBody>
      </p:sp>
      <p:sp>
        <p:nvSpPr>
          <p:cNvPr id="26" name="Shape 24"/>
          <p:cNvSpPr/>
          <p:nvPr/>
        </p:nvSpPr>
        <p:spPr>
          <a:xfrm>
            <a:off x="9084564" y="2743200"/>
            <a:ext cx="2647188" cy="3429000"/>
          </a:xfrm>
          <a:prstGeom prst="roundRect">
            <a:avLst>
              <a:gd name="adj" fmla="val 2418"/>
            </a:avLst>
          </a:prstGeom>
          <a:solidFill>
            <a:srgbClr val="EAF0FC"/>
          </a:solidFill>
          <a:ln/>
          <a:effectLst>
            <a:outerShdw sx="100000" sy="100000" kx="0" ky="0" algn="bl" rotWithShape="0" blurRad="63500" dist="25400" dir="5400000">
              <a:srgbClr val="1E2761">
                <a:alpha val="10000"/>
              </a:srgbClr>
            </a:outerShdw>
          </a:effectLst>
        </p:spPr>
      </p:sp>
      <p:sp>
        <p:nvSpPr>
          <p:cNvPr id="27" name="Text 25"/>
          <p:cNvSpPr txBox="1"/>
          <p:nvPr/>
        </p:nvSpPr>
        <p:spPr>
          <a:xfrm>
            <a:off x="9230868" y="3218688"/>
            <a:ext cx="235458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Network &amp; Commitments</a:t>
            </a:r>
            <a:endParaRPr lang="en-US" sz="1300" dirty="0"/>
          </a:p>
        </p:txBody>
      </p:sp>
      <p:sp>
        <p:nvSpPr>
          <p:cNvPr id="28" name="Text 26"/>
          <p:cNvSpPr txBox="1"/>
          <p:nvPr/>
        </p:nvSpPr>
        <p:spPr>
          <a:xfrm>
            <a:off x="9230868" y="3566160"/>
            <a:ext cx="2354580" cy="2496312"/>
          </a:xfrm>
          <a:prstGeom prst="rect">
            <a:avLst/>
          </a:prstGeom>
          <a:noFill/>
          <a:ln/>
        </p:spPr>
        <p:txBody>
          <a:bodyPr wrap="square" lIns="0" tIns="0" rIns="0" bIns="0" rtlCol="0" anchor="t"/>
          <a:lstStyle/>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Multinet line 1Gbps → 200Mbps burst — $1,700/mo</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Alibaba 1-yr Savings Plan — $1,200/mo</a:t>
            </a:r>
            <a:endParaRPr lang="en-US" sz="970" dirty="0"/>
          </a:p>
        </p:txBody>
      </p:sp>
      <p:sp>
        <p:nvSpPr>
          <p:cNvPr id="29" name="Text 27"/>
          <p:cNvSpPr txBox="1"/>
          <p:nvPr/>
        </p:nvSpPr>
        <p:spPr>
          <a:xfrm>
            <a:off x="11521440" y="6473952"/>
            <a:ext cx="365760" cy="274320"/>
          </a:xfrm>
          <a:prstGeom prst="rect">
            <a:avLst/>
          </a:prstGeom>
          <a:noFill/>
          <a:ln/>
        </p:spPr>
        <p:txBody>
          <a:bodyPr wrap="square" lIns="0" tIns="0" rIns="0" bIns="0" rtlCol="0" anchor="ctr"/>
          <a:lstStyle/>
          <a:p>
            <a:pPr algn="r" indent="0" marL="0">
              <a:buNone/>
            </a:pPr>
            <a:r>
              <a:rPr lang="en-US" sz="900" dirty="0">
                <a:solidFill>
                  <a:srgbClr val="8891A3"/>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4552" cy="292608"/>
          </a:xfrm>
          <a:prstGeom prst="rect">
            <a:avLst/>
          </a:prstGeom>
          <a:noFill/>
          <a:ln/>
        </p:spPr>
        <p:txBody>
          <a:bodyPr wrap="square" lIns="0" tIns="0" rIns="0" bIns="0" rtlCol="0" anchor="ctr"/>
          <a:lstStyle/>
          <a:p>
            <a:pPr indent="0" marL="0">
              <a:buNone/>
            </a:pPr>
            <a:r>
              <a:rPr lang="en-US" sz="1200" b="1" spc="200" kern="0" dirty="0">
                <a:solidFill>
                  <a:srgbClr val="0B8484"/>
                </a:solidFill>
                <a:latin typeface="Calibri" pitchFamily="34" charset="0"/>
                <a:ea typeface="Calibri" pitchFamily="34" charset="-122"/>
                <a:cs typeface="Calibri" pitchFamily="34" charset="-120"/>
              </a:rPr>
              <a:t>QUESTION 6 · INCIDENT RESPONSE &amp; RCA</a:t>
            </a:r>
            <a:endParaRPr lang="en-US" sz="1200" dirty="0"/>
          </a:p>
        </p:txBody>
      </p:sp>
      <p:sp>
        <p:nvSpPr>
          <p:cNvPr id="3" name="Text 1"/>
          <p:cNvSpPr txBox="1"/>
          <p:nvPr/>
        </p:nvSpPr>
        <p:spPr>
          <a:xfrm>
            <a:off x="457200" y="585216"/>
            <a:ext cx="11274552"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3 AM P1 Outage: Database Connection Pool Exhaustion</a:t>
            </a:r>
            <a:endParaRPr lang="en-US" sz="2700" dirty="0"/>
          </a:p>
        </p:txBody>
      </p:sp>
      <p:sp>
        <p:nvSpPr>
          <p:cNvPr id="4" name="Text 2"/>
          <p:cNvSpPr txBox="1"/>
          <p:nvPr/>
        </p:nvSpPr>
        <p:spPr>
          <a:xfrm>
            <a:off x="457200" y="1133856"/>
            <a:ext cx="11274552" cy="320040"/>
          </a:xfrm>
          <a:prstGeom prst="rect">
            <a:avLst/>
          </a:prstGeom>
          <a:noFill/>
          <a:ln/>
        </p:spPr>
        <p:txBody>
          <a:bodyPr wrap="square" lIns="0" tIns="0" rIns="0" bIns="0" rtlCol="0" anchor="ctr"/>
          <a:lstStyle/>
          <a:p>
            <a:pPr indent="0" marL="0">
              <a:buNone/>
            </a:pPr>
            <a:r>
              <a:rPr lang="en-US" sz="1350" i="1" dirty="0">
                <a:solidFill>
                  <a:srgbClr val="5B6478"/>
                </a:solidFill>
                <a:latin typeface="Calibri" pitchFamily="34" charset="0"/>
                <a:ea typeface="Calibri" pitchFamily="34" charset="-122"/>
                <a:cs typeface="Calibri" pitchFamily="34" charset="-120"/>
              </a:rPr>
              <a:t>INC-84920 — 24-minute mitigation timeline, 5-Whys root cause discovery, permanent systemic remediation</a:t>
            </a:r>
            <a:endParaRPr lang="en-US" sz="1350" dirty="0"/>
          </a:p>
        </p:txBody>
      </p:sp>
      <p:sp>
        <p:nvSpPr>
          <p:cNvPr id="5" name="Shape 3"/>
          <p:cNvSpPr/>
          <p:nvPr/>
        </p:nvSpPr>
        <p:spPr>
          <a:xfrm>
            <a:off x="457200" y="1600200"/>
            <a:ext cx="5532120" cy="4480560"/>
          </a:xfrm>
          <a:prstGeom prst="roundRect">
            <a:avLst>
              <a:gd name="adj" fmla="val 1429"/>
            </a:avLst>
          </a:prstGeom>
          <a:solidFill>
            <a:srgbClr val="EAF0FC"/>
          </a:solidFill>
          <a:ln/>
        </p:spPr>
      </p:sp>
      <p:sp>
        <p:nvSpPr>
          <p:cNvPr id="6" name="Text 4"/>
          <p:cNvSpPr txBox="1"/>
          <p:nvPr/>
        </p:nvSpPr>
        <p:spPr>
          <a:xfrm>
            <a:off x="640080" y="1728216"/>
            <a:ext cx="5166360" cy="310896"/>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Incident Chronology (MTTR: 24 Min)</a:t>
            </a:r>
            <a:endParaRPr lang="en-US" sz="1400" dirty="0"/>
          </a:p>
        </p:txBody>
      </p:sp>
      <p:sp>
        <p:nvSpPr>
          <p:cNvPr id="7" name="Text 5"/>
          <p:cNvSpPr txBox="1"/>
          <p:nvPr/>
        </p:nvSpPr>
        <p:spPr>
          <a:xfrm>
            <a:off x="640080" y="2093976"/>
            <a:ext cx="5166360" cy="3840480"/>
          </a:xfrm>
          <a:prstGeom prst="rect">
            <a:avLst/>
          </a:prstGeom>
          <a:noFill/>
          <a:ln/>
        </p:spPr>
        <p:txBody>
          <a:bodyPr wrap="square" lIns="0" tIns="0" rIns="0" bIns="0" rtlCol="0" anchor="t"/>
          <a:lstStyle/>
          <a:p>
            <a:pPr marL="152400" indent="-152400">
              <a:lnSpc>
                <a:spcPct val="116000"/>
              </a:lnSpc>
              <a:buSzPct val="100000"/>
              <a:buChar char="•"/>
            </a:pPr>
            <a:r>
              <a:rPr lang="en-US" sz="1000" dirty="0">
                <a:solidFill>
                  <a:srgbClr val="1A1A2E"/>
                </a:solidFill>
                <a:latin typeface="Calibri" pitchFamily="34" charset="0"/>
                <a:ea typeface="Calibri" pitchFamily="34" charset="-122"/>
                <a:cs typeface="Calibri" pitchFamily="34" charset="-120"/>
              </a:rPr>
              <a:t>03:08 — PagerDuty: AhyaOS API P99 latency spikes past 15,000ms</a:t>
            </a:r>
            <a:endParaRPr lang="en-US" sz="1000" dirty="0"/>
          </a:p>
          <a:p>
            <a:pPr marL="152400" indent="-152400">
              <a:lnSpc>
                <a:spcPct val="116000"/>
              </a:lnSpc>
              <a:buSzPct val="100000"/>
              <a:buChar char="•"/>
            </a:pPr>
            <a:r>
              <a:rPr lang="en-US" sz="1000" dirty="0">
                <a:solidFill>
                  <a:srgbClr val="1A1A2E"/>
                </a:solidFill>
                <a:latin typeface="Calibri" pitchFamily="34" charset="0"/>
                <a:ea typeface="Calibri" pitchFamily="34" charset="-122"/>
                <a:cs typeface="Calibri" pitchFamily="34" charset="-120"/>
              </a:rPr>
              <a:t>03:11 — HTTP 5xx crosses 45%; auto-escalates to P1</a:t>
            </a:r>
            <a:endParaRPr lang="en-US" sz="1000" dirty="0"/>
          </a:p>
          <a:p>
            <a:pPr marL="152400" indent="-152400">
              <a:lnSpc>
                <a:spcPct val="116000"/>
              </a:lnSpc>
              <a:buSzPct val="100000"/>
              <a:buChar char="•"/>
            </a:pPr>
            <a:r>
              <a:rPr lang="en-US" sz="1000" dirty="0">
                <a:solidFill>
                  <a:srgbClr val="1A1A2E"/>
                </a:solidFill>
                <a:latin typeface="Calibri" pitchFamily="34" charset="0"/>
                <a:ea typeface="Calibri" pitchFamily="34" charset="-122"/>
                <a:cs typeface="Calibri" pitchFamily="34" charset="-120"/>
              </a:rPr>
              <a:t>03:14 — IC finds Aurora at hard ceiling of 500 connections</a:t>
            </a:r>
            <a:endParaRPr lang="en-US" sz="1000" dirty="0"/>
          </a:p>
          <a:p>
            <a:pPr marL="152400" indent="-152400">
              <a:lnSpc>
                <a:spcPct val="116000"/>
              </a:lnSpc>
              <a:buSzPct val="100000"/>
              <a:buChar char="•"/>
            </a:pPr>
            <a:r>
              <a:rPr lang="en-US" sz="1000" dirty="0">
                <a:solidFill>
                  <a:srgbClr val="1A1A2E"/>
                </a:solidFill>
                <a:latin typeface="Calibri" pitchFamily="34" charset="0"/>
                <a:ea typeface="Calibri" pitchFamily="34" charset="-122"/>
                <a:cs typeface="Calibri" pitchFamily="34" charset="-120"/>
              </a:rPr>
              <a:t>03:17 — Pods crash: "remaining connection slots reserved for superuser"</a:t>
            </a:r>
            <a:endParaRPr lang="en-US" sz="1000" dirty="0"/>
          </a:p>
          <a:p>
            <a:pPr marL="152400" indent="-152400">
              <a:lnSpc>
                <a:spcPct val="116000"/>
              </a:lnSpc>
              <a:buSzPct val="100000"/>
              <a:buChar char="•"/>
            </a:pPr>
            <a:r>
              <a:rPr lang="en-US" sz="1000" dirty="0">
                <a:solidFill>
                  <a:srgbClr val="1A1A2E"/>
                </a:solidFill>
                <a:latin typeface="Calibri" pitchFamily="34" charset="0"/>
                <a:ea typeface="Calibri" pitchFamily="34" charset="-122"/>
                <a:cs typeface="Calibri" pitchFamily="34" charset="-120"/>
              </a:rPr>
              <a:t>03:21 — Bastion access finds 340 conns locked by unindexed queries &gt;300s</a:t>
            </a:r>
            <a:endParaRPr lang="en-US" sz="1000" dirty="0"/>
          </a:p>
          <a:p>
            <a:pPr marL="152400" indent="-152400">
              <a:lnSpc>
                <a:spcPct val="116000"/>
              </a:lnSpc>
              <a:buSzPct val="100000"/>
              <a:buChar char="•"/>
            </a:pPr>
            <a:r>
              <a:rPr lang="en-US" sz="1000" dirty="0">
                <a:solidFill>
                  <a:srgbClr val="1A1A2E"/>
                </a:solidFill>
                <a:latin typeface="Calibri" pitchFamily="34" charset="0"/>
                <a:ea typeface="Calibri" pitchFamily="34" charset="-122"/>
                <a:cs typeface="Calibri" pitchFamily="34" charset="-120"/>
              </a:rPr>
              <a:t>03:29 — Killed rogue workers: kubectl scale deploy/ahyaos-batch-audit --replicas=0</a:t>
            </a:r>
            <a:endParaRPr lang="en-US" sz="1000" dirty="0"/>
          </a:p>
          <a:p>
            <a:pPr marL="152400" indent="-152400">
              <a:lnSpc>
                <a:spcPct val="116000"/>
              </a:lnSpc>
              <a:buSzPct val="100000"/>
              <a:buChar char="•"/>
            </a:pPr>
            <a:r>
              <a:rPr lang="en-US" sz="1000" dirty="0">
                <a:solidFill>
                  <a:srgbClr val="1A1A2E"/>
                </a:solidFill>
                <a:latin typeface="Calibri" pitchFamily="34" charset="0"/>
                <a:ea typeface="Calibri" pitchFamily="34" charset="-122"/>
                <a:cs typeface="Calibri" pitchFamily="34" charset="-120"/>
              </a:rPr>
              <a:t>03:32 — Connections at 42; P99 back to 110ms. MTTR = 24 min</a:t>
            </a:r>
            <a:endParaRPr lang="en-US" sz="1000" dirty="0"/>
          </a:p>
        </p:txBody>
      </p:sp>
      <p:sp>
        <p:nvSpPr>
          <p:cNvPr id="8" name="Shape 6"/>
          <p:cNvSpPr/>
          <p:nvPr/>
        </p:nvSpPr>
        <p:spPr>
          <a:xfrm>
            <a:off x="6199632" y="1600200"/>
            <a:ext cx="5532120" cy="2331720"/>
          </a:xfrm>
          <a:prstGeom prst="roundRect">
            <a:avLst>
              <a:gd name="adj" fmla="val 2745"/>
            </a:avLst>
          </a:prstGeom>
          <a:solidFill>
            <a:srgbClr val="F7E9DD"/>
          </a:solidFill>
          <a:ln/>
        </p:spPr>
      </p:sp>
      <p:sp>
        <p:nvSpPr>
          <p:cNvPr id="9" name="Text 7"/>
          <p:cNvSpPr txBox="1"/>
          <p:nvPr/>
        </p:nvSpPr>
        <p:spPr>
          <a:xfrm>
            <a:off x="6382512" y="1728216"/>
            <a:ext cx="5166360" cy="310896"/>
          </a:xfrm>
          <a:prstGeom prst="rect">
            <a:avLst/>
          </a:prstGeom>
          <a:noFill/>
          <a:ln/>
        </p:spPr>
        <p:txBody>
          <a:bodyPr wrap="square" lIns="0" tIns="0" rIns="0" bIns="0" rtlCol="0" anchor="ctr"/>
          <a:lstStyle/>
          <a:p>
            <a:pPr indent="0" marL="0">
              <a:buNone/>
            </a:pPr>
            <a:r>
              <a:rPr lang="en-US" sz="1400" b="1" dirty="0">
                <a:solidFill>
                  <a:srgbClr val="C9862B"/>
                </a:solidFill>
                <a:latin typeface="Calibri" pitchFamily="34" charset="0"/>
                <a:ea typeface="Calibri" pitchFamily="34" charset="-122"/>
                <a:cs typeface="Calibri" pitchFamily="34" charset="-120"/>
              </a:rPr>
              <a:t>5-Whys Root Cause Investigation</a:t>
            </a:r>
            <a:endParaRPr lang="en-US" sz="1400" dirty="0"/>
          </a:p>
        </p:txBody>
      </p:sp>
      <p:sp>
        <p:nvSpPr>
          <p:cNvPr id="10" name="Text 8"/>
          <p:cNvSpPr txBox="1"/>
          <p:nvPr/>
        </p:nvSpPr>
        <p:spPr>
          <a:xfrm>
            <a:off x="6382512" y="2093976"/>
            <a:ext cx="5166360" cy="1691640"/>
          </a:xfrm>
          <a:prstGeom prst="rect">
            <a:avLst/>
          </a:prstGeom>
          <a:noFill/>
          <a:ln/>
        </p:spPr>
        <p:txBody>
          <a:bodyPr wrap="square" lIns="0" tIns="0" rIns="0" bIns="0" rtlCol="0" anchor="t"/>
          <a:lstStyle/>
          <a:p>
            <a:pPr marL="152400" indent="-152400">
              <a:lnSpc>
                <a:spcPct val="116000"/>
              </a:lnSpc>
              <a:buSzPct val="100000"/>
              <a:buChar char="•"/>
            </a:pPr>
            <a:r>
              <a:rPr lang="en-US" sz="1030" dirty="0">
                <a:solidFill>
                  <a:srgbClr val="1A1A2E"/>
                </a:solidFill>
                <a:latin typeface="Calibri" pitchFamily="34" charset="0"/>
                <a:ea typeface="Calibri" pitchFamily="34" charset="-122"/>
                <a:cs typeface="Calibri" pitchFamily="34" charset="-120"/>
              </a:rPr>
              <a:t>1. API degraded → connection pool full (500/500)</a:t>
            </a:r>
            <a:endParaRPr lang="en-US" sz="1030" dirty="0"/>
          </a:p>
          <a:p>
            <a:pPr marL="152400" indent="-152400">
              <a:lnSpc>
                <a:spcPct val="116000"/>
              </a:lnSpc>
              <a:buSzPct val="100000"/>
              <a:buChar char="•"/>
            </a:pPr>
            <a:r>
              <a:rPr lang="en-US" sz="1030" dirty="0">
                <a:solidFill>
                  <a:srgbClr val="1A1A2E"/>
                </a:solidFill>
                <a:latin typeface="Calibri" pitchFamily="34" charset="0"/>
                <a:ea typeface="Calibri" pitchFamily="34" charset="-122"/>
                <a:cs typeface="Calibri" pitchFamily="34" charset="-120"/>
              </a:rPr>
              <a:t>2. Pool emptied → 340 conns locked on runaway queries &gt;300s</a:t>
            </a:r>
            <a:endParaRPr lang="en-US" sz="1030" dirty="0"/>
          </a:p>
          <a:p>
            <a:pPr marL="152400" indent="-152400">
              <a:lnSpc>
                <a:spcPct val="116000"/>
              </a:lnSpc>
              <a:buSzPct val="100000"/>
              <a:buChar char="•"/>
            </a:pPr>
            <a:r>
              <a:rPr lang="en-US" sz="1030" dirty="0">
                <a:solidFill>
                  <a:srgbClr val="1A1A2E"/>
                </a:solidFill>
                <a:latin typeface="Calibri" pitchFamily="34" charset="0"/>
                <a:ea typeface="Calibri" pitchFamily="34" charset="-122"/>
                <a:cs typeface="Calibri" pitchFamily="34" charset="-120"/>
              </a:rPr>
              <a:t>3. Queries &gt;300s → v2.14.0 missing index on reporting_period_id, seq scan on 38M rows</a:t>
            </a:r>
            <a:endParaRPr lang="en-US" sz="1030" dirty="0"/>
          </a:p>
          <a:p>
            <a:pPr marL="152400" indent="-152400">
              <a:lnSpc>
                <a:spcPct val="116000"/>
              </a:lnSpc>
              <a:buSzPct val="100000"/>
              <a:buChar char="•"/>
            </a:pPr>
            <a:r>
              <a:rPr lang="en-US" sz="1030" dirty="0">
                <a:solidFill>
                  <a:srgbClr val="1A1A2E"/>
                </a:solidFill>
                <a:latin typeface="Calibri" pitchFamily="34" charset="0"/>
                <a:ea typeface="Calibri" pitchFamily="34" charset="-122"/>
                <a:cs typeface="Calibri" pitchFamily="34" charset="-120"/>
              </a:rPr>
              <a:t>4. Hit primary DB → Celery workers pointed at writer, not read replica</a:t>
            </a:r>
            <a:endParaRPr lang="en-US" sz="1030" dirty="0"/>
          </a:p>
          <a:p>
            <a:pPr marL="152400" indent="-152400">
              <a:lnSpc>
                <a:spcPct val="116000"/>
              </a:lnSpc>
              <a:buSzPct val="100000"/>
              <a:buChar char="•"/>
            </a:pPr>
            <a:r>
              <a:rPr lang="en-US" sz="1030" dirty="0">
                <a:solidFill>
                  <a:srgbClr val="1A1A2E"/>
                </a:solidFill>
                <a:latin typeface="Calibri" pitchFamily="34" charset="0"/>
                <a:ea typeface="Calibri" pitchFamily="34" charset="-122"/>
                <a:cs typeface="Calibri" pitchFamily="34" charset="-120"/>
              </a:rPr>
              <a:t>5. No pool shield → PgBouncer in session mode, not transaction mode</a:t>
            </a:r>
            <a:endParaRPr lang="en-US" sz="1030" dirty="0"/>
          </a:p>
        </p:txBody>
      </p:sp>
      <p:sp>
        <p:nvSpPr>
          <p:cNvPr id="11" name="Shape 9"/>
          <p:cNvSpPr/>
          <p:nvPr/>
        </p:nvSpPr>
        <p:spPr>
          <a:xfrm>
            <a:off x="6199632" y="4023360"/>
            <a:ext cx="5532120" cy="2057400"/>
          </a:xfrm>
          <a:prstGeom prst="roundRect">
            <a:avLst>
              <a:gd name="adj" fmla="val 3111"/>
            </a:avLst>
          </a:prstGeom>
          <a:solidFill>
            <a:srgbClr val="EAF0FC"/>
          </a:solidFill>
          <a:ln/>
        </p:spPr>
      </p:sp>
      <p:sp>
        <p:nvSpPr>
          <p:cNvPr id="12" name="Text 10"/>
          <p:cNvSpPr txBox="1"/>
          <p:nvPr/>
        </p:nvSpPr>
        <p:spPr>
          <a:xfrm>
            <a:off x="6382512" y="4151376"/>
            <a:ext cx="5166360" cy="310896"/>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Permanent Corrective Actions</a:t>
            </a:r>
            <a:endParaRPr lang="en-US" sz="1400" dirty="0"/>
          </a:p>
        </p:txBody>
      </p:sp>
      <p:sp>
        <p:nvSpPr>
          <p:cNvPr id="13" name="Text 11"/>
          <p:cNvSpPr txBox="1"/>
          <p:nvPr/>
        </p:nvSpPr>
        <p:spPr>
          <a:xfrm>
            <a:off x="6382512" y="4517136"/>
            <a:ext cx="5166360" cy="1417320"/>
          </a:xfrm>
          <a:prstGeom prst="rect">
            <a:avLst/>
          </a:prstGeom>
          <a:noFill/>
          <a:ln/>
        </p:spPr>
        <p:txBody>
          <a:bodyPr wrap="square" lIns="0" tIns="0" rIns="0" bIns="0" rtlCol="0" anchor="t"/>
          <a:lstStyle/>
          <a:p>
            <a:pPr marL="152400" indent="-152400">
              <a:lnSpc>
                <a:spcPct val="116000"/>
              </a:lnSpc>
              <a:buSzPct val="100000"/>
              <a:buChar char="•"/>
            </a:pPr>
            <a:r>
              <a:rPr lang="en-US" sz="1000" dirty="0">
                <a:solidFill>
                  <a:srgbClr val="1A1A2E"/>
                </a:solidFill>
                <a:latin typeface="Calibri" pitchFamily="34" charset="0"/>
                <a:ea typeface="Calibri" pitchFamily="34" charset="-122"/>
                <a:cs typeface="Calibri" pitchFamily="34" charset="-120"/>
              </a:rPr>
              <a:t>PgBouncer → transaction mode, pool_size 50, max_conn 5000</a:t>
            </a:r>
            <a:endParaRPr lang="en-US" sz="1000" dirty="0"/>
          </a:p>
          <a:p>
            <a:pPr marL="152400" indent="-152400">
              <a:lnSpc>
                <a:spcPct val="116000"/>
              </a:lnSpc>
              <a:buSzPct val="100000"/>
              <a:buChar char="•"/>
            </a:pPr>
            <a:r>
              <a:rPr lang="en-US" sz="1000" dirty="0">
                <a:solidFill>
                  <a:srgbClr val="1A1A2E"/>
                </a:solidFill>
                <a:latin typeface="Calibri" pitchFamily="34" charset="0"/>
                <a:ea typeface="Calibri" pitchFamily="34" charset="-122"/>
                <a:cs typeface="Calibri" pitchFamily="34" charset="-120"/>
              </a:rPr>
              <a:t>CONCURRENT index on carbon_emission_records(reporting_period_id)</a:t>
            </a:r>
            <a:endParaRPr lang="en-US" sz="1000" dirty="0"/>
          </a:p>
          <a:p>
            <a:pPr marL="152400" indent="-152400">
              <a:lnSpc>
                <a:spcPct val="116000"/>
              </a:lnSpc>
              <a:buSzPct val="100000"/>
              <a:buChar char="•"/>
            </a:pPr>
            <a:r>
              <a:rPr lang="en-US" sz="1000" dirty="0">
                <a:solidFill>
                  <a:srgbClr val="1A1A2E"/>
                </a:solidFill>
                <a:latin typeface="Calibri" pitchFamily="34" charset="0"/>
                <a:ea typeface="Calibri" pitchFamily="34" charset="-122"/>
                <a:cs typeface="Calibri" pitchFamily="34" charset="-120"/>
              </a:rPr>
              <a:t>RDS statement_timeout = 30s hard circuit breaker</a:t>
            </a:r>
            <a:endParaRPr lang="en-US" sz="1000" dirty="0"/>
          </a:p>
          <a:p>
            <a:pPr marL="152400" indent="-152400">
              <a:lnSpc>
                <a:spcPct val="116000"/>
              </a:lnSpc>
              <a:buSzPct val="100000"/>
              <a:buChar char="•"/>
            </a:pPr>
            <a:r>
              <a:rPr lang="en-US" sz="1000" dirty="0">
                <a:solidFill>
                  <a:srgbClr val="1A1A2E"/>
                </a:solidFill>
                <a:latin typeface="Calibri" pitchFamily="34" charset="0"/>
                <a:ea typeface="Calibri" pitchFamily="34" charset="-122"/>
                <a:cs typeface="Calibri" pitchFamily="34" charset="-120"/>
              </a:rPr>
              <a:t>K8s NetworkPolicy forces Celery → read replica only</a:t>
            </a:r>
            <a:endParaRPr lang="en-US" sz="1000" dirty="0"/>
          </a:p>
          <a:p>
            <a:pPr marL="152400" indent="-152400">
              <a:lnSpc>
                <a:spcPct val="116000"/>
              </a:lnSpc>
              <a:buSzPct val="100000"/>
              <a:buChar char="•"/>
            </a:pPr>
            <a:r>
              <a:rPr lang="en-US" sz="1000" dirty="0">
                <a:solidFill>
                  <a:srgbClr val="1A1A2E"/>
                </a:solidFill>
                <a:latin typeface="Calibri" pitchFamily="34" charset="0"/>
                <a:ea typeface="Calibri" pitchFamily="34" charset="-122"/>
                <a:cs typeface="Calibri" pitchFamily="34" charset="-120"/>
              </a:rPr>
              <a:t>CI query linting (pg_query) blocks unindexed scans</a:t>
            </a:r>
            <a:endParaRPr lang="en-US" sz="1000" dirty="0"/>
          </a:p>
        </p:txBody>
      </p:sp>
      <p:sp>
        <p:nvSpPr>
          <p:cNvPr id="14" name="Text 12"/>
          <p:cNvSpPr txBox="1"/>
          <p:nvPr/>
        </p:nvSpPr>
        <p:spPr>
          <a:xfrm>
            <a:off x="11521440" y="6473952"/>
            <a:ext cx="365760" cy="274320"/>
          </a:xfrm>
          <a:prstGeom prst="rect">
            <a:avLst/>
          </a:prstGeom>
          <a:noFill/>
          <a:ln/>
        </p:spPr>
        <p:txBody>
          <a:bodyPr wrap="square" lIns="0" tIns="0" rIns="0" bIns="0" rtlCol="0" anchor="ctr"/>
          <a:lstStyle/>
          <a:p>
            <a:pPr algn="r" indent="0" marL="0">
              <a:buNone/>
            </a:pPr>
            <a:r>
              <a:rPr lang="en-US" sz="900" dirty="0">
                <a:solidFill>
                  <a:srgbClr val="8891A3"/>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4552" cy="292608"/>
          </a:xfrm>
          <a:prstGeom prst="rect">
            <a:avLst/>
          </a:prstGeom>
          <a:noFill/>
          <a:ln/>
        </p:spPr>
        <p:txBody>
          <a:bodyPr wrap="square" lIns="0" tIns="0" rIns="0" bIns="0" rtlCol="0" anchor="ctr"/>
          <a:lstStyle/>
          <a:p>
            <a:pPr indent="0" marL="0">
              <a:buNone/>
            </a:pPr>
            <a:r>
              <a:rPr lang="en-US" sz="1200" b="1" spc="200" kern="0" dirty="0">
                <a:solidFill>
                  <a:srgbClr val="0B8484"/>
                </a:solidFill>
                <a:latin typeface="Calibri" pitchFamily="34" charset="0"/>
                <a:ea typeface="Calibri" pitchFamily="34" charset="-122"/>
                <a:cs typeface="Calibri" pitchFamily="34" charset="-120"/>
              </a:rPr>
              <a:t>QUESTION 7 · INFRASTRUCTURE-AS-CODE STRATEGY</a:t>
            </a:r>
            <a:endParaRPr lang="en-US" sz="1200" dirty="0"/>
          </a:p>
        </p:txBody>
      </p:sp>
      <p:sp>
        <p:nvSpPr>
          <p:cNvPr id="3" name="Text 1"/>
          <p:cNvSpPr txBox="1"/>
          <p:nvPr/>
        </p:nvSpPr>
        <p:spPr>
          <a:xfrm>
            <a:off x="457200" y="585216"/>
            <a:ext cx="11274552"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Transforming 40% Manual ClickOps to 100% Declarative IaC</a:t>
            </a:r>
            <a:endParaRPr lang="en-US" sz="2700" dirty="0"/>
          </a:p>
        </p:txBody>
      </p:sp>
      <p:sp>
        <p:nvSpPr>
          <p:cNvPr id="4" name="Text 2"/>
          <p:cNvSpPr txBox="1"/>
          <p:nvPr/>
        </p:nvSpPr>
        <p:spPr>
          <a:xfrm>
            <a:off x="457200" y="1133856"/>
            <a:ext cx="11274552" cy="320040"/>
          </a:xfrm>
          <a:prstGeom prst="rect">
            <a:avLst/>
          </a:prstGeom>
          <a:noFill/>
          <a:ln/>
        </p:spPr>
        <p:txBody>
          <a:bodyPr wrap="square" lIns="0" tIns="0" rIns="0" bIns="0" rtlCol="0" anchor="ctr"/>
          <a:lstStyle/>
          <a:p>
            <a:pPr indent="0" marL="0">
              <a:buNone/>
            </a:pPr>
            <a:r>
              <a:rPr lang="en-US" sz="1350" i="1" dirty="0">
                <a:solidFill>
                  <a:srgbClr val="5B6478"/>
                </a:solidFill>
                <a:latin typeface="Calibri" pitchFamily="34" charset="0"/>
                <a:ea typeface="Calibri" pitchFamily="34" charset="-122"/>
                <a:cs typeface="Calibri" pitchFamily="34" charset="-120"/>
              </a:rPr>
              <a:t>3-phase risk migration, Terraform 1.5+ declarative import blocks, and automated drift detection</a:t>
            </a:r>
            <a:endParaRPr lang="en-US" sz="1350" dirty="0"/>
          </a:p>
        </p:txBody>
      </p:sp>
      <p:sp>
        <p:nvSpPr>
          <p:cNvPr id="5" name="Shape 3"/>
          <p:cNvSpPr/>
          <p:nvPr/>
        </p:nvSpPr>
        <p:spPr>
          <a:xfrm>
            <a:off x="2025853" y="1691640"/>
            <a:ext cx="438912" cy="438912"/>
          </a:xfrm>
          <a:prstGeom prst="ellipse">
            <a:avLst/>
          </a:prstGeom>
          <a:solidFill>
            <a:srgbClr val="1E2761"/>
          </a:solidFill>
          <a:ln/>
        </p:spPr>
      </p:sp>
      <p:sp>
        <p:nvSpPr>
          <p:cNvPr id="6" name="Text 4"/>
          <p:cNvSpPr txBox="1"/>
          <p:nvPr/>
        </p:nvSpPr>
        <p:spPr>
          <a:xfrm>
            <a:off x="2025853" y="169164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457200" y="2240280"/>
            <a:ext cx="3576218" cy="50292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3-Phase Risk Migration Plan</a:t>
            </a:r>
            <a:endParaRPr lang="en-US" sz="1250" dirty="0"/>
          </a:p>
        </p:txBody>
      </p:sp>
      <p:sp>
        <p:nvSpPr>
          <p:cNvPr id="8" name="Shape 6"/>
          <p:cNvSpPr/>
          <p:nvPr/>
        </p:nvSpPr>
        <p:spPr>
          <a:xfrm>
            <a:off x="457200" y="2770632"/>
            <a:ext cx="3576218" cy="3355848"/>
          </a:xfrm>
          <a:prstGeom prst="roundRect">
            <a:avLst>
              <a:gd name="adj" fmla="val 1907"/>
            </a:avLst>
          </a:prstGeom>
          <a:solidFill>
            <a:srgbClr val="EAF0FC"/>
          </a:solidFill>
          <a:ln/>
        </p:spPr>
      </p:sp>
      <p:sp>
        <p:nvSpPr>
          <p:cNvPr id="9" name="Text 7"/>
          <p:cNvSpPr txBox="1"/>
          <p:nvPr/>
        </p:nvSpPr>
        <p:spPr>
          <a:xfrm>
            <a:off x="603504" y="2916936"/>
            <a:ext cx="3283610" cy="3063240"/>
          </a:xfrm>
          <a:prstGeom prst="rect">
            <a:avLst/>
          </a:prstGeom>
          <a:noFill/>
          <a:ln/>
        </p:spPr>
        <p:txBody>
          <a:bodyPr wrap="square" lIns="0" tIns="0" rIns="0" bIns="0" rtlCol="0" anchor="t"/>
          <a:lstStyle/>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Phase 1 (W1-2): Networking — VPCs, subnets, NAT, SGs. High blast radius, zero data risk</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Phase 2 (W3-4): Persistence — Aurora, Redis, S3, KMS, guarded by prevent_destroy</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Phase 3 (W5-6): Compute &amp; Traffic — ALBs, DNS, EKS node groups, zero interruption</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Motivated by SOC 2 Type II &amp; KPMG/EY ESG audit requirements</a:t>
            </a:r>
            <a:endParaRPr lang="en-US" sz="1050" dirty="0"/>
          </a:p>
        </p:txBody>
      </p:sp>
      <p:sp>
        <p:nvSpPr>
          <p:cNvPr id="10" name="Text 8"/>
          <p:cNvSpPr txBox="1"/>
          <p:nvPr/>
        </p:nvSpPr>
        <p:spPr>
          <a:xfrm>
            <a:off x="4015130" y="2194560"/>
            <a:ext cx="310896" cy="457200"/>
          </a:xfrm>
          <a:prstGeom prst="rect">
            <a:avLst/>
          </a:prstGeom>
          <a:noFill/>
          <a:ln/>
        </p:spPr>
        <p:txBody>
          <a:bodyPr wrap="square" lIns="0" tIns="0" rIns="0" bIns="0" rtlCol="0" anchor="ctr"/>
          <a:lstStyle/>
          <a:p>
            <a:pPr algn="ctr" indent="0" marL="0">
              <a:buNone/>
            </a:pPr>
            <a:r>
              <a:rPr lang="en-US" sz="2200" b="1" dirty="0">
                <a:solidFill>
                  <a:srgbClr val="0EA5A5"/>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5876392" y="1691640"/>
            <a:ext cx="438912" cy="438912"/>
          </a:xfrm>
          <a:prstGeom prst="ellipse">
            <a:avLst/>
          </a:prstGeom>
          <a:solidFill>
            <a:srgbClr val="1E2761"/>
          </a:solidFill>
          <a:ln/>
        </p:spPr>
      </p:sp>
      <p:sp>
        <p:nvSpPr>
          <p:cNvPr id="12" name="Text 10"/>
          <p:cNvSpPr txBox="1"/>
          <p:nvPr/>
        </p:nvSpPr>
        <p:spPr>
          <a:xfrm>
            <a:off x="5876392" y="169164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4307738" y="2240280"/>
            <a:ext cx="3576218" cy="50292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Terraform 1.5+ Native Import</a:t>
            </a:r>
            <a:endParaRPr lang="en-US" sz="1250" dirty="0"/>
          </a:p>
        </p:txBody>
      </p:sp>
      <p:sp>
        <p:nvSpPr>
          <p:cNvPr id="14" name="Shape 12"/>
          <p:cNvSpPr/>
          <p:nvPr/>
        </p:nvSpPr>
        <p:spPr>
          <a:xfrm>
            <a:off x="4307738" y="2770632"/>
            <a:ext cx="3576218" cy="3355848"/>
          </a:xfrm>
          <a:prstGeom prst="roundRect">
            <a:avLst>
              <a:gd name="adj" fmla="val 1907"/>
            </a:avLst>
          </a:prstGeom>
          <a:solidFill>
            <a:srgbClr val="EAF0FC"/>
          </a:solidFill>
          <a:ln/>
        </p:spPr>
      </p:sp>
      <p:sp>
        <p:nvSpPr>
          <p:cNvPr id="15" name="Text 13"/>
          <p:cNvSpPr txBox="1"/>
          <p:nvPr/>
        </p:nvSpPr>
        <p:spPr>
          <a:xfrm>
            <a:off x="4454042" y="2916936"/>
            <a:ext cx="3283610" cy="3063240"/>
          </a:xfrm>
          <a:prstGeom prst="rect">
            <a:avLst/>
          </a:prstGeom>
          <a:noFill/>
          <a:ln/>
        </p:spPr>
        <p:txBody>
          <a:bodyPr wrap="square" lIns="0" tIns="0" rIns="0" bIns="0" rtlCol="0" anchor="t"/>
          <a:lstStyle/>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Declarative import {} blocks replace legacy imperative terraform import</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HCL generated via -generate-config-out=generated_resources.tf</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Scrubbed ARNs/IDs, parameterized vars, enforced IFRS-S2 &amp; SOC2 tags</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Validated to exact parity: "0 to add, 0 to change, 0 to destroy"</a:t>
            </a:r>
            <a:endParaRPr lang="en-US" sz="1050" dirty="0"/>
          </a:p>
        </p:txBody>
      </p:sp>
      <p:sp>
        <p:nvSpPr>
          <p:cNvPr id="16" name="Text 14"/>
          <p:cNvSpPr txBox="1"/>
          <p:nvPr/>
        </p:nvSpPr>
        <p:spPr>
          <a:xfrm>
            <a:off x="7865669" y="2194560"/>
            <a:ext cx="310896" cy="457200"/>
          </a:xfrm>
          <a:prstGeom prst="rect">
            <a:avLst/>
          </a:prstGeom>
          <a:noFill/>
          <a:ln/>
        </p:spPr>
        <p:txBody>
          <a:bodyPr wrap="square" lIns="0" tIns="0" rIns="0" bIns="0" rtlCol="0" anchor="ctr"/>
          <a:lstStyle/>
          <a:p>
            <a:pPr algn="ctr" indent="0" marL="0">
              <a:buNone/>
            </a:pPr>
            <a:r>
              <a:rPr lang="en-US" sz="2200" b="1" dirty="0">
                <a:solidFill>
                  <a:srgbClr val="0EA5A5"/>
                </a:solidFill>
                <a:latin typeface="Calibri" pitchFamily="34" charset="0"/>
                <a:ea typeface="Calibri" pitchFamily="34" charset="-122"/>
                <a:cs typeface="Calibri" pitchFamily="34" charset="-120"/>
              </a:rPr>
              <a:t>›</a:t>
            </a:r>
            <a:endParaRPr lang="en-US" sz="2200" dirty="0"/>
          </a:p>
        </p:txBody>
      </p:sp>
      <p:sp>
        <p:nvSpPr>
          <p:cNvPr id="17" name="Shape 15"/>
          <p:cNvSpPr/>
          <p:nvPr/>
        </p:nvSpPr>
        <p:spPr>
          <a:xfrm>
            <a:off x="9726930" y="1691640"/>
            <a:ext cx="438912" cy="438912"/>
          </a:xfrm>
          <a:prstGeom prst="ellipse">
            <a:avLst/>
          </a:prstGeom>
          <a:solidFill>
            <a:srgbClr val="1E2761"/>
          </a:solidFill>
          <a:ln/>
        </p:spPr>
      </p:sp>
      <p:sp>
        <p:nvSpPr>
          <p:cNvPr id="18" name="Text 16"/>
          <p:cNvSpPr txBox="1"/>
          <p:nvPr/>
        </p:nvSpPr>
        <p:spPr>
          <a:xfrm>
            <a:off x="9726930" y="169164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8158277" y="2240280"/>
            <a:ext cx="3576218" cy="50292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Multinet Workaround &amp; Drift CI</a:t>
            </a:r>
            <a:endParaRPr lang="en-US" sz="1250" dirty="0"/>
          </a:p>
        </p:txBody>
      </p:sp>
      <p:sp>
        <p:nvSpPr>
          <p:cNvPr id="20" name="Shape 18"/>
          <p:cNvSpPr/>
          <p:nvPr/>
        </p:nvSpPr>
        <p:spPr>
          <a:xfrm>
            <a:off x="8158277" y="2770632"/>
            <a:ext cx="3576218" cy="3355848"/>
          </a:xfrm>
          <a:prstGeom prst="roundRect">
            <a:avLst>
              <a:gd name="adj" fmla="val 1907"/>
            </a:avLst>
          </a:prstGeom>
          <a:solidFill>
            <a:srgbClr val="EAF0FC"/>
          </a:solidFill>
          <a:ln/>
        </p:spPr>
      </p:sp>
      <p:sp>
        <p:nvSpPr>
          <p:cNvPr id="21" name="Text 19"/>
          <p:cNvSpPr txBox="1"/>
          <p:nvPr/>
        </p:nvSpPr>
        <p:spPr>
          <a:xfrm>
            <a:off x="8304581" y="2916936"/>
            <a:ext cx="3283610" cy="3063240"/>
          </a:xfrm>
          <a:prstGeom prst="rect">
            <a:avLst/>
          </a:prstGeom>
          <a:noFill/>
          <a:ln/>
        </p:spPr>
        <p:txBody>
          <a:bodyPr wrap="square" lIns="0" tIns="0" rIns="0" bIns="0" rtlCol="0" anchor="t"/>
          <a:lstStyle/>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VMware vCD 10.4 API gaps closed with a custom Python adapter (vcd_nat_sync.py)</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PyvCloud session tokens cached in Redis; VMs provisioned via Cloud-Init</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Daily 06:00 GST GitHub Actions: terraform plan -detailed-exitcode</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Exit code 2 → instant Slack alert + auto Jira P2 ticket</a:t>
            </a:r>
            <a:endParaRPr lang="en-US" sz="1050" dirty="0"/>
          </a:p>
        </p:txBody>
      </p:sp>
      <p:sp>
        <p:nvSpPr>
          <p:cNvPr id="22" name="Text 20"/>
          <p:cNvSpPr txBox="1"/>
          <p:nvPr/>
        </p:nvSpPr>
        <p:spPr>
          <a:xfrm>
            <a:off x="11521440" y="6473952"/>
            <a:ext cx="365760" cy="274320"/>
          </a:xfrm>
          <a:prstGeom prst="rect">
            <a:avLst/>
          </a:prstGeom>
          <a:noFill/>
          <a:ln/>
        </p:spPr>
        <p:txBody>
          <a:bodyPr wrap="square" lIns="0" tIns="0" rIns="0" bIns="0" rtlCol="0" anchor="ctr"/>
          <a:lstStyle/>
          <a:p>
            <a:pPr algn="r" indent="0" marL="0">
              <a:buNone/>
            </a:pPr>
            <a:r>
              <a:rPr lang="en-US" sz="900" dirty="0">
                <a:solidFill>
                  <a:srgbClr val="8891A3"/>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4552" cy="292608"/>
          </a:xfrm>
          <a:prstGeom prst="rect">
            <a:avLst/>
          </a:prstGeom>
          <a:noFill/>
          <a:ln/>
        </p:spPr>
        <p:txBody>
          <a:bodyPr wrap="square" lIns="0" tIns="0" rIns="0" bIns="0" rtlCol="0" anchor="ctr"/>
          <a:lstStyle/>
          <a:p>
            <a:pPr indent="0" marL="0">
              <a:buNone/>
            </a:pPr>
            <a:r>
              <a:rPr lang="en-US" sz="1200" b="1" spc="200" kern="0" dirty="0">
                <a:solidFill>
                  <a:srgbClr val="0B8484"/>
                </a:solidFill>
                <a:latin typeface="Calibri" pitchFamily="34" charset="0"/>
                <a:ea typeface="Calibri" pitchFamily="34" charset="-122"/>
                <a:cs typeface="Calibri" pitchFamily="34" charset="-120"/>
              </a:rPr>
              <a:t>QUESTION 8 · MULTI-CLOUD DISASTER RECOVERY</a:t>
            </a:r>
            <a:endParaRPr lang="en-US" sz="1200" dirty="0"/>
          </a:p>
        </p:txBody>
      </p:sp>
      <p:sp>
        <p:nvSpPr>
          <p:cNvPr id="3" name="Text 1"/>
          <p:cNvSpPr txBox="1"/>
          <p:nvPr/>
        </p:nvSpPr>
        <p:spPr>
          <a:xfrm>
            <a:off x="457200" y="585216"/>
            <a:ext cx="11274552"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Active-Warm-Standby: RTO ≤ 15 Min, RPO ≤ 5 Min</a:t>
            </a:r>
            <a:endParaRPr lang="en-US" sz="2700" dirty="0"/>
          </a:p>
        </p:txBody>
      </p:sp>
      <p:sp>
        <p:nvSpPr>
          <p:cNvPr id="4" name="Text 2"/>
          <p:cNvSpPr txBox="1"/>
          <p:nvPr/>
        </p:nvSpPr>
        <p:spPr>
          <a:xfrm>
            <a:off x="457200" y="1133856"/>
            <a:ext cx="11274552" cy="320040"/>
          </a:xfrm>
          <a:prstGeom prst="rect">
            <a:avLst/>
          </a:prstGeom>
          <a:noFill/>
          <a:ln/>
        </p:spPr>
        <p:txBody>
          <a:bodyPr wrap="square" lIns="0" tIns="0" rIns="0" bIns="0" rtlCol="0" anchor="ctr"/>
          <a:lstStyle/>
          <a:p>
            <a:pPr indent="0" marL="0">
              <a:buNone/>
            </a:pPr>
            <a:r>
              <a:rPr lang="en-US" sz="1350" i="1" dirty="0">
                <a:solidFill>
                  <a:srgbClr val="5B6478"/>
                </a:solidFill>
                <a:latin typeface="Calibri" pitchFamily="34" charset="0"/>
                <a:ea typeface="Calibri" pitchFamily="34" charset="-122"/>
                <a:cs typeface="Calibri" pitchFamily="34" charset="-120"/>
              </a:rPr>
              <a:t>Real-time cross-cloud WAL replication, S3-to-Blob streaming, and an automated failover runbook</a:t>
            </a:r>
            <a:endParaRPr lang="en-US" sz="1350" dirty="0"/>
          </a:p>
        </p:txBody>
      </p:sp>
      <p:sp>
        <p:nvSpPr>
          <p:cNvPr id="5" name="Shape 3"/>
          <p:cNvSpPr/>
          <p:nvPr/>
        </p:nvSpPr>
        <p:spPr>
          <a:xfrm>
            <a:off x="457200" y="1600200"/>
            <a:ext cx="2668448" cy="914400"/>
          </a:xfrm>
          <a:prstGeom prst="roundRect">
            <a:avLst>
              <a:gd name="adj" fmla="val 8000"/>
            </a:avLst>
          </a:prstGeom>
          <a:solidFill>
            <a:srgbClr val="EAF0FC"/>
          </a:solidFill>
          <a:ln/>
          <a:effectLst>
            <a:outerShdw sx="100000" sy="100000" kx="0" ky="0" algn="bl" rotWithShape="0" blurRad="76200" dist="25400" dir="5400000">
              <a:srgbClr val="1E2761">
                <a:alpha val="12000"/>
              </a:srgbClr>
            </a:outerShdw>
          </a:effectLst>
        </p:spPr>
      </p:sp>
      <p:sp>
        <p:nvSpPr>
          <p:cNvPr id="6" name="Text 4"/>
          <p:cNvSpPr txBox="1"/>
          <p:nvPr/>
        </p:nvSpPr>
        <p:spPr>
          <a:xfrm>
            <a:off x="457200" y="1691640"/>
            <a:ext cx="2668448" cy="457200"/>
          </a:xfrm>
          <a:prstGeom prst="rect">
            <a:avLst/>
          </a:prstGeom>
          <a:noFill/>
          <a:ln/>
        </p:spPr>
        <p:txBody>
          <a:bodyPr wrap="square" lIns="0" tIns="0" rIns="0" bIns="0" rtlCol="0" anchor="ctr"/>
          <a:lstStyle/>
          <a:p>
            <a:pPr algn="ctr" indent="0" marL="0">
              <a:buNone/>
            </a:pPr>
            <a:r>
              <a:rPr lang="en-US" sz="2200" b="1" dirty="0">
                <a:solidFill>
                  <a:srgbClr val="5B6478"/>
                </a:solidFill>
                <a:latin typeface="Calibri" pitchFamily="34" charset="0"/>
                <a:ea typeface="Calibri" pitchFamily="34" charset="-122"/>
                <a:cs typeface="Calibri" pitchFamily="34" charset="-120"/>
              </a:rPr>
              <a:t>≤ 15 min</a:t>
            </a:r>
            <a:endParaRPr lang="en-US" sz="2200" dirty="0"/>
          </a:p>
        </p:txBody>
      </p:sp>
      <p:sp>
        <p:nvSpPr>
          <p:cNvPr id="7" name="Text 5"/>
          <p:cNvSpPr txBox="1"/>
          <p:nvPr/>
        </p:nvSpPr>
        <p:spPr>
          <a:xfrm>
            <a:off x="530352" y="2185416"/>
            <a:ext cx="2522144" cy="292608"/>
          </a:xfrm>
          <a:prstGeom prst="rect">
            <a:avLst/>
          </a:prstGeom>
          <a:noFill/>
          <a:ln/>
        </p:spPr>
        <p:txBody>
          <a:bodyPr wrap="square" lIns="0" tIns="0" rIns="0" bIns="0" rtlCol="0" anchor="ctr"/>
          <a:lstStyle/>
          <a:p>
            <a:pPr algn="ctr" indent="0" marL="0">
              <a:buNone/>
            </a:pPr>
            <a:r>
              <a:rPr lang="en-US" sz="950" dirty="0">
                <a:solidFill>
                  <a:srgbClr val="5B6478"/>
                </a:solidFill>
                <a:latin typeface="Calibri" pitchFamily="34" charset="0"/>
                <a:ea typeface="Calibri" pitchFamily="34" charset="-122"/>
                <a:cs typeface="Calibri" pitchFamily="34" charset="-120"/>
              </a:rPr>
              <a:t>CONTRACTUAL RTO</a:t>
            </a:r>
            <a:endParaRPr lang="en-US" sz="950" dirty="0"/>
          </a:p>
        </p:txBody>
      </p:sp>
      <p:sp>
        <p:nvSpPr>
          <p:cNvPr id="8" name="Shape 6"/>
          <p:cNvSpPr/>
          <p:nvPr/>
        </p:nvSpPr>
        <p:spPr>
          <a:xfrm>
            <a:off x="3326816" y="1600200"/>
            <a:ext cx="2668448" cy="914400"/>
          </a:xfrm>
          <a:prstGeom prst="roundRect">
            <a:avLst>
              <a:gd name="adj" fmla="val 8000"/>
            </a:avLst>
          </a:prstGeom>
          <a:solidFill>
            <a:srgbClr val="DCF3EF"/>
          </a:solidFill>
          <a:ln/>
          <a:effectLst>
            <a:outerShdw sx="100000" sy="100000" kx="0" ky="0" algn="bl" rotWithShape="0" blurRad="76200" dist="25400" dir="5400000">
              <a:srgbClr val="1E2761">
                <a:alpha val="12000"/>
              </a:srgbClr>
            </a:outerShdw>
          </a:effectLst>
        </p:spPr>
      </p:sp>
      <p:sp>
        <p:nvSpPr>
          <p:cNvPr id="9" name="Text 7"/>
          <p:cNvSpPr txBox="1"/>
          <p:nvPr/>
        </p:nvSpPr>
        <p:spPr>
          <a:xfrm>
            <a:off x="3326816" y="1691640"/>
            <a:ext cx="2668448" cy="457200"/>
          </a:xfrm>
          <a:prstGeom prst="rect">
            <a:avLst/>
          </a:prstGeom>
          <a:noFill/>
          <a:ln/>
        </p:spPr>
        <p:txBody>
          <a:bodyPr wrap="square" lIns="0" tIns="0" rIns="0" bIns="0" rtlCol="0" anchor="ctr"/>
          <a:lstStyle/>
          <a:p>
            <a:pPr algn="ctr" indent="0" marL="0">
              <a:buNone/>
            </a:pPr>
            <a:r>
              <a:rPr lang="en-US" sz="2200" b="1" dirty="0">
                <a:solidFill>
                  <a:srgbClr val="0B8484"/>
                </a:solidFill>
                <a:latin typeface="Calibri" pitchFamily="34" charset="0"/>
                <a:ea typeface="Calibri" pitchFamily="34" charset="-122"/>
                <a:cs typeface="Calibri" pitchFamily="34" charset="-120"/>
              </a:rPr>
              <a:t>10m 15s</a:t>
            </a:r>
            <a:endParaRPr lang="en-US" sz="2200" dirty="0"/>
          </a:p>
        </p:txBody>
      </p:sp>
      <p:sp>
        <p:nvSpPr>
          <p:cNvPr id="10" name="Text 8"/>
          <p:cNvSpPr txBox="1"/>
          <p:nvPr/>
        </p:nvSpPr>
        <p:spPr>
          <a:xfrm>
            <a:off x="3399968" y="2185416"/>
            <a:ext cx="2522144" cy="292608"/>
          </a:xfrm>
          <a:prstGeom prst="rect">
            <a:avLst/>
          </a:prstGeom>
          <a:noFill/>
          <a:ln/>
        </p:spPr>
        <p:txBody>
          <a:bodyPr wrap="square" lIns="0" tIns="0" rIns="0" bIns="0" rtlCol="0" anchor="ctr"/>
          <a:lstStyle/>
          <a:p>
            <a:pPr algn="ctr" indent="0" marL="0">
              <a:buNone/>
            </a:pPr>
            <a:r>
              <a:rPr lang="en-US" sz="950" dirty="0">
                <a:solidFill>
                  <a:srgbClr val="5B6478"/>
                </a:solidFill>
                <a:latin typeface="Calibri" pitchFamily="34" charset="0"/>
                <a:ea typeface="Calibri" pitchFamily="34" charset="-122"/>
                <a:cs typeface="Calibri" pitchFamily="34" charset="-120"/>
              </a:rPr>
              <a:t>ACTUAL MEASURED RTO</a:t>
            </a:r>
            <a:endParaRPr lang="en-US" sz="950" dirty="0"/>
          </a:p>
        </p:txBody>
      </p:sp>
      <p:sp>
        <p:nvSpPr>
          <p:cNvPr id="11" name="Shape 9"/>
          <p:cNvSpPr/>
          <p:nvPr/>
        </p:nvSpPr>
        <p:spPr>
          <a:xfrm>
            <a:off x="6196432" y="1600200"/>
            <a:ext cx="2668448" cy="914400"/>
          </a:xfrm>
          <a:prstGeom prst="roundRect">
            <a:avLst>
              <a:gd name="adj" fmla="val 8000"/>
            </a:avLst>
          </a:prstGeom>
          <a:solidFill>
            <a:srgbClr val="EAF0FC"/>
          </a:solidFill>
          <a:ln/>
          <a:effectLst>
            <a:outerShdw sx="100000" sy="100000" kx="0" ky="0" algn="bl" rotWithShape="0" blurRad="76200" dist="25400" dir="5400000">
              <a:srgbClr val="1E2761">
                <a:alpha val="12000"/>
              </a:srgbClr>
            </a:outerShdw>
          </a:effectLst>
        </p:spPr>
      </p:sp>
      <p:sp>
        <p:nvSpPr>
          <p:cNvPr id="12" name="Text 10"/>
          <p:cNvSpPr txBox="1"/>
          <p:nvPr/>
        </p:nvSpPr>
        <p:spPr>
          <a:xfrm>
            <a:off x="6196432" y="1691640"/>
            <a:ext cx="2668448" cy="457200"/>
          </a:xfrm>
          <a:prstGeom prst="rect">
            <a:avLst/>
          </a:prstGeom>
          <a:noFill/>
          <a:ln/>
        </p:spPr>
        <p:txBody>
          <a:bodyPr wrap="square" lIns="0" tIns="0" rIns="0" bIns="0" rtlCol="0" anchor="ctr"/>
          <a:lstStyle/>
          <a:p>
            <a:pPr algn="ctr" indent="0" marL="0">
              <a:buNone/>
            </a:pPr>
            <a:r>
              <a:rPr lang="en-US" sz="2200" b="1" dirty="0">
                <a:solidFill>
                  <a:srgbClr val="5B6478"/>
                </a:solidFill>
                <a:latin typeface="Calibri" pitchFamily="34" charset="0"/>
                <a:ea typeface="Calibri" pitchFamily="34" charset="-122"/>
                <a:cs typeface="Calibri" pitchFamily="34" charset="-120"/>
              </a:rPr>
              <a:t>≤ 5 min</a:t>
            </a:r>
            <a:endParaRPr lang="en-US" sz="2200" dirty="0"/>
          </a:p>
        </p:txBody>
      </p:sp>
      <p:sp>
        <p:nvSpPr>
          <p:cNvPr id="13" name="Text 11"/>
          <p:cNvSpPr txBox="1"/>
          <p:nvPr/>
        </p:nvSpPr>
        <p:spPr>
          <a:xfrm>
            <a:off x="6269584" y="2185416"/>
            <a:ext cx="2522144" cy="292608"/>
          </a:xfrm>
          <a:prstGeom prst="rect">
            <a:avLst/>
          </a:prstGeom>
          <a:noFill/>
          <a:ln/>
        </p:spPr>
        <p:txBody>
          <a:bodyPr wrap="square" lIns="0" tIns="0" rIns="0" bIns="0" rtlCol="0" anchor="ctr"/>
          <a:lstStyle/>
          <a:p>
            <a:pPr algn="ctr" indent="0" marL="0">
              <a:buNone/>
            </a:pPr>
            <a:r>
              <a:rPr lang="en-US" sz="950" dirty="0">
                <a:solidFill>
                  <a:srgbClr val="5B6478"/>
                </a:solidFill>
                <a:latin typeface="Calibri" pitchFamily="34" charset="0"/>
                <a:ea typeface="Calibri" pitchFamily="34" charset="-122"/>
                <a:cs typeface="Calibri" pitchFamily="34" charset="-120"/>
              </a:rPr>
              <a:t>CONTRACTUAL RPO</a:t>
            </a:r>
            <a:endParaRPr lang="en-US" sz="950" dirty="0"/>
          </a:p>
        </p:txBody>
      </p:sp>
      <p:sp>
        <p:nvSpPr>
          <p:cNvPr id="14" name="Shape 12"/>
          <p:cNvSpPr/>
          <p:nvPr/>
        </p:nvSpPr>
        <p:spPr>
          <a:xfrm>
            <a:off x="9066047" y="1600200"/>
            <a:ext cx="2668448" cy="914400"/>
          </a:xfrm>
          <a:prstGeom prst="roundRect">
            <a:avLst>
              <a:gd name="adj" fmla="val 8000"/>
            </a:avLst>
          </a:prstGeom>
          <a:solidFill>
            <a:srgbClr val="DCF3EF"/>
          </a:solidFill>
          <a:ln/>
          <a:effectLst>
            <a:outerShdw sx="100000" sy="100000" kx="0" ky="0" algn="bl" rotWithShape="0" blurRad="76200" dist="25400" dir="5400000">
              <a:srgbClr val="1E2761">
                <a:alpha val="12000"/>
              </a:srgbClr>
            </a:outerShdw>
          </a:effectLst>
        </p:spPr>
      </p:sp>
      <p:sp>
        <p:nvSpPr>
          <p:cNvPr id="15" name="Text 13"/>
          <p:cNvSpPr txBox="1"/>
          <p:nvPr/>
        </p:nvSpPr>
        <p:spPr>
          <a:xfrm>
            <a:off x="9066047" y="1691640"/>
            <a:ext cx="2668448" cy="457200"/>
          </a:xfrm>
          <a:prstGeom prst="rect">
            <a:avLst/>
          </a:prstGeom>
          <a:noFill/>
          <a:ln/>
        </p:spPr>
        <p:txBody>
          <a:bodyPr wrap="square" lIns="0" tIns="0" rIns="0" bIns="0" rtlCol="0" anchor="ctr"/>
          <a:lstStyle/>
          <a:p>
            <a:pPr algn="ctr" indent="0" marL="0">
              <a:buNone/>
            </a:pPr>
            <a:r>
              <a:rPr lang="en-US" sz="2200" b="1" dirty="0">
                <a:solidFill>
                  <a:srgbClr val="0B8484"/>
                </a:solidFill>
                <a:latin typeface="Calibri" pitchFamily="34" charset="0"/>
                <a:ea typeface="Calibri" pitchFamily="34" charset="-122"/>
                <a:cs typeface="Calibri" pitchFamily="34" charset="-120"/>
              </a:rPr>
              <a:t>2.2 sec</a:t>
            </a:r>
            <a:endParaRPr lang="en-US" sz="2200" dirty="0"/>
          </a:p>
        </p:txBody>
      </p:sp>
      <p:sp>
        <p:nvSpPr>
          <p:cNvPr id="16" name="Text 14"/>
          <p:cNvSpPr txBox="1"/>
          <p:nvPr/>
        </p:nvSpPr>
        <p:spPr>
          <a:xfrm>
            <a:off x="9139199" y="2185416"/>
            <a:ext cx="2522144" cy="292608"/>
          </a:xfrm>
          <a:prstGeom prst="rect">
            <a:avLst/>
          </a:prstGeom>
          <a:noFill/>
          <a:ln/>
        </p:spPr>
        <p:txBody>
          <a:bodyPr wrap="square" lIns="0" tIns="0" rIns="0" bIns="0" rtlCol="0" anchor="ctr"/>
          <a:lstStyle/>
          <a:p>
            <a:pPr algn="ctr" indent="0" marL="0">
              <a:buNone/>
            </a:pPr>
            <a:r>
              <a:rPr lang="en-US" sz="950" dirty="0">
                <a:solidFill>
                  <a:srgbClr val="5B6478"/>
                </a:solidFill>
                <a:latin typeface="Calibri" pitchFamily="34" charset="0"/>
                <a:ea typeface="Calibri" pitchFamily="34" charset="-122"/>
                <a:cs typeface="Calibri" pitchFamily="34" charset="-120"/>
              </a:rPr>
              <a:t>ACTUAL MEDIAN DB RPO</a:t>
            </a:r>
            <a:endParaRPr lang="en-US" sz="950" dirty="0"/>
          </a:p>
        </p:txBody>
      </p:sp>
      <p:sp>
        <p:nvSpPr>
          <p:cNvPr id="17" name="Shape 15"/>
          <p:cNvSpPr/>
          <p:nvPr/>
        </p:nvSpPr>
        <p:spPr>
          <a:xfrm>
            <a:off x="457200" y="2651760"/>
            <a:ext cx="5532120" cy="3520440"/>
          </a:xfrm>
          <a:prstGeom prst="roundRect">
            <a:avLst>
              <a:gd name="adj" fmla="val 1818"/>
            </a:avLst>
          </a:prstGeom>
          <a:solidFill>
            <a:srgbClr val="EAF0FC"/>
          </a:solidFill>
          <a:ln/>
        </p:spPr>
      </p:sp>
      <p:sp>
        <p:nvSpPr>
          <p:cNvPr id="18" name="Text 16"/>
          <p:cNvSpPr txBox="1"/>
          <p:nvPr/>
        </p:nvSpPr>
        <p:spPr>
          <a:xfrm>
            <a:off x="640080" y="2779776"/>
            <a:ext cx="5166360" cy="310896"/>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Sub-5-Minute Cross-Cloud Replication</a:t>
            </a:r>
            <a:endParaRPr lang="en-US" sz="1400" dirty="0"/>
          </a:p>
        </p:txBody>
      </p:sp>
      <p:sp>
        <p:nvSpPr>
          <p:cNvPr id="19" name="Text 17"/>
          <p:cNvSpPr txBox="1"/>
          <p:nvPr/>
        </p:nvSpPr>
        <p:spPr>
          <a:xfrm>
            <a:off x="640080" y="3145536"/>
            <a:ext cx="5166360" cy="2880360"/>
          </a:xfrm>
          <a:prstGeom prst="rect">
            <a:avLst/>
          </a:prstGeom>
          <a:noFill/>
          <a:ln/>
        </p:spPr>
        <p:txBody>
          <a:bodyPr wrap="square" lIns="0" tIns="0" rIns="0" bIns="0" rtlCol="0" anchor="t"/>
          <a:lstStyle/>
          <a:p>
            <a:pPr marL="152400" indent="-152400">
              <a:lnSpc>
                <a:spcPct val="116000"/>
              </a:lnSpc>
              <a:buSzPct val="100000"/>
              <a:buChar char="•"/>
            </a:pPr>
            <a:r>
              <a:rPr lang="en-US" sz="1060" dirty="0">
                <a:solidFill>
                  <a:srgbClr val="1A1A2E"/>
                </a:solidFill>
                <a:latin typeface="Calibri" pitchFamily="34" charset="0"/>
                <a:ea typeface="Calibri" pitchFamily="34" charset="-122"/>
                <a:cs typeface="Calibri" pitchFamily="34" charset="-120"/>
              </a:rPr>
              <a:t>PostgreSQL: Aurora → Azure Flexible Server via pglogical v2.4 over IPsec VPN — 2.2s median lag</a:t>
            </a:r>
            <a:endParaRPr lang="en-US" sz="1060" dirty="0"/>
          </a:p>
          <a:p>
            <a:pPr marL="152400" indent="-152400">
              <a:lnSpc>
                <a:spcPct val="116000"/>
              </a:lnSpc>
              <a:buSzPct val="100000"/>
              <a:buChar char="•"/>
            </a:pPr>
            <a:r>
              <a:rPr lang="en-US" sz="1060" dirty="0">
                <a:solidFill>
                  <a:srgbClr val="1A1A2E"/>
                </a:solidFill>
                <a:latin typeface="Calibri" pitchFamily="34" charset="0"/>
                <a:ea typeface="Calibri" pitchFamily="34" charset="-122"/>
                <a:cs typeface="Calibri" pitchFamily="34" charset="-120"/>
              </a:rPr>
              <a:t>Monitored continuously via Prometheus &amp; pg_stat_replication</a:t>
            </a:r>
            <a:endParaRPr lang="en-US" sz="1060" dirty="0"/>
          </a:p>
          <a:p>
            <a:pPr marL="152400" indent="-152400">
              <a:lnSpc>
                <a:spcPct val="116000"/>
              </a:lnSpc>
              <a:buSzPct val="100000"/>
              <a:buChar char="•"/>
            </a:pPr>
            <a:r>
              <a:rPr lang="en-US" sz="1060" dirty="0">
                <a:solidFill>
                  <a:srgbClr val="1A1A2E"/>
                </a:solidFill>
                <a:latin typeface="Calibri" pitchFamily="34" charset="0"/>
                <a:ea typeface="Calibri" pitchFamily="34" charset="-122"/>
                <a:cs typeface="Calibri" pitchFamily="34" charset="-120"/>
              </a:rPr>
              <a:t>Object storage: S3 uploads trigger a Lambda replicator streaming to Azure Blob — 42s avg sync</a:t>
            </a:r>
            <a:endParaRPr lang="en-US" sz="1060" dirty="0"/>
          </a:p>
          <a:p>
            <a:pPr marL="152400" indent="-152400">
              <a:lnSpc>
                <a:spcPct val="116000"/>
              </a:lnSpc>
              <a:buSzPct val="100000"/>
              <a:buChar char="•"/>
            </a:pPr>
            <a:r>
              <a:rPr lang="en-US" sz="1060" dirty="0">
                <a:solidFill>
                  <a:srgbClr val="1A1A2E"/>
                </a:solidFill>
                <a:latin typeface="Calibri" pitchFamily="34" charset="0"/>
                <a:ea typeface="Calibri" pitchFamily="34" charset="-122"/>
                <a:cs typeface="Calibri" pitchFamily="34" charset="-120"/>
              </a:rPr>
              <a:t>Identity: Vault replicates RS256 JWT verification keys so sessions survive failover</a:t>
            </a:r>
            <a:endParaRPr lang="en-US" sz="1060" dirty="0"/>
          </a:p>
        </p:txBody>
      </p:sp>
      <p:sp>
        <p:nvSpPr>
          <p:cNvPr id="20" name="Shape 18"/>
          <p:cNvSpPr/>
          <p:nvPr/>
        </p:nvSpPr>
        <p:spPr>
          <a:xfrm>
            <a:off x="6199632" y="2651760"/>
            <a:ext cx="5532120" cy="3520440"/>
          </a:xfrm>
          <a:prstGeom prst="roundRect">
            <a:avLst>
              <a:gd name="adj" fmla="val 1818"/>
            </a:avLst>
          </a:prstGeom>
          <a:solidFill>
            <a:srgbClr val="EAF0FC"/>
          </a:solidFill>
          <a:ln/>
        </p:spPr>
      </p:sp>
      <p:sp>
        <p:nvSpPr>
          <p:cNvPr id="21" name="Text 19"/>
          <p:cNvSpPr txBox="1"/>
          <p:nvPr/>
        </p:nvSpPr>
        <p:spPr>
          <a:xfrm>
            <a:off x="6382512" y="2779776"/>
            <a:ext cx="5166360" cy="310896"/>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Automated Failover Workflow (10m 15s)</a:t>
            </a:r>
            <a:endParaRPr lang="en-US" sz="1400" dirty="0"/>
          </a:p>
        </p:txBody>
      </p:sp>
      <p:sp>
        <p:nvSpPr>
          <p:cNvPr id="22" name="Text 20"/>
          <p:cNvSpPr txBox="1"/>
          <p:nvPr/>
        </p:nvSpPr>
        <p:spPr>
          <a:xfrm>
            <a:off x="6382512" y="3145536"/>
            <a:ext cx="5166360" cy="2880360"/>
          </a:xfrm>
          <a:prstGeom prst="rect">
            <a:avLst/>
          </a:prstGeom>
          <a:noFill/>
          <a:ln/>
        </p:spPr>
        <p:txBody>
          <a:bodyPr wrap="square" lIns="0" tIns="0" rIns="0" bIns="0" rtlCol="0" anchor="t"/>
          <a:lstStyle/>
          <a:p>
            <a:pPr marL="152400" indent="-152400">
              <a:lnSpc>
                <a:spcPct val="116000"/>
              </a:lnSpc>
              <a:buSzPct val="100000"/>
              <a:buChar char="•"/>
            </a:pPr>
            <a:r>
              <a:rPr lang="en-US" sz="1060" dirty="0">
                <a:solidFill>
                  <a:srgbClr val="1A1A2E"/>
                </a:solidFill>
                <a:latin typeface="Calibri" pitchFamily="34" charset="0"/>
                <a:ea typeface="Calibri" pitchFamily="34" charset="-122"/>
                <a:cs typeface="Calibri" pitchFamily="34" charset="-120"/>
              </a:rPr>
              <a:t>T+0–90s — Cloudflare synthetic monitors detect 3 consecutive /healthz/deep failures</a:t>
            </a:r>
            <a:endParaRPr lang="en-US" sz="1060" dirty="0"/>
          </a:p>
          <a:p>
            <a:pPr marL="152400" indent="-152400">
              <a:lnSpc>
                <a:spcPct val="116000"/>
              </a:lnSpc>
              <a:buSzPct val="100000"/>
              <a:buChar char="•"/>
            </a:pPr>
            <a:r>
              <a:rPr lang="en-US" sz="1060" dirty="0">
                <a:solidFill>
                  <a:srgbClr val="1A1A2E"/>
                </a:solidFill>
                <a:latin typeface="Calibri" pitchFamily="34" charset="0"/>
                <a:ea typeface="Calibri" pitchFamily="34" charset="-122"/>
                <a:cs typeface="Calibri" pitchFamily="34" charset="-120"/>
              </a:rPr>
              <a:t>T+90s — IC triggers GitHub Actions DR workflow (target_cloud=azure)</a:t>
            </a:r>
            <a:endParaRPr lang="en-US" sz="1060" dirty="0"/>
          </a:p>
          <a:p>
            <a:pPr marL="152400" indent="-152400">
              <a:lnSpc>
                <a:spcPct val="116000"/>
              </a:lnSpc>
              <a:buSzPct val="100000"/>
              <a:buChar char="•"/>
            </a:pPr>
            <a:r>
              <a:rPr lang="en-US" sz="1060" dirty="0">
                <a:solidFill>
                  <a:srgbClr val="1A1A2E"/>
                </a:solidFill>
                <a:latin typeface="Calibri" pitchFamily="34" charset="0"/>
                <a:ea typeface="Calibri" pitchFamily="34" charset="-122"/>
                <a:cs typeface="Calibri" pitchFamily="34" charset="-120"/>
              </a:rPr>
              <a:t>T+3–5m — Azure PG subscriber promoted read-only → primary</a:t>
            </a:r>
            <a:endParaRPr lang="en-US" sz="1060" dirty="0"/>
          </a:p>
          <a:p>
            <a:pPr marL="152400" indent="-152400">
              <a:lnSpc>
                <a:spcPct val="116000"/>
              </a:lnSpc>
              <a:buSzPct val="100000"/>
              <a:buChar char="•"/>
            </a:pPr>
            <a:r>
              <a:rPr lang="en-US" sz="1060" dirty="0">
                <a:solidFill>
                  <a:srgbClr val="1A1A2E"/>
                </a:solidFill>
                <a:latin typeface="Calibri" pitchFamily="34" charset="0"/>
                <a:ea typeface="Calibri" pitchFamily="34" charset="-122"/>
                <a:cs typeface="Calibri" pitchFamily="34" charset="-120"/>
              </a:rPr>
              <a:t>T+5–8m — ArgoCD activates Azure AKS; KEDA scales 2 → 18 pods</a:t>
            </a:r>
            <a:endParaRPr lang="en-US" sz="1060" dirty="0"/>
          </a:p>
          <a:p>
            <a:pPr marL="152400" indent="-152400">
              <a:lnSpc>
                <a:spcPct val="116000"/>
              </a:lnSpc>
              <a:buSzPct val="100000"/>
              <a:buChar char="•"/>
            </a:pPr>
            <a:r>
              <a:rPr lang="en-US" sz="1060" dirty="0">
                <a:solidFill>
                  <a:srgbClr val="1A1A2E"/>
                </a:solidFill>
                <a:latin typeface="Calibri" pitchFamily="34" charset="0"/>
                <a:ea typeface="Calibri" pitchFamily="34" charset="-122"/>
                <a:cs typeface="Calibri" pitchFamily="34" charset="-120"/>
              </a:rPr>
              <a:t>T+8–10m — Cloudflare DNS cutover to origin-azure.ahya.io</a:t>
            </a:r>
            <a:endParaRPr lang="en-US" sz="1060" dirty="0"/>
          </a:p>
        </p:txBody>
      </p:sp>
      <p:sp>
        <p:nvSpPr>
          <p:cNvPr id="23" name="Text 21"/>
          <p:cNvSpPr txBox="1"/>
          <p:nvPr/>
        </p:nvSpPr>
        <p:spPr>
          <a:xfrm>
            <a:off x="11521440" y="6473952"/>
            <a:ext cx="365760" cy="274320"/>
          </a:xfrm>
          <a:prstGeom prst="rect">
            <a:avLst/>
          </a:prstGeom>
          <a:noFill/>
          <a:ln/>
        </p:spPr>
        <p:txBody>
          <a:bodyPr wrap="square" lIns="0" tIns="0" rIns="0" bIns="0" rtlCol="0" anchor="ctr"/>
          <a:lstStyle/>
          <a:p>
            <a:pPr algn="r" indent="0" marL="0">
              <a:buNone/>
            </a:pPr>
            <a:r>
              <a:rPr lang="en-US" sz="900" dirty="0">
                <a:solidFill>
                  <a:srgbClr val="8891A3"/>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4552" cy="292608"/>
          </a:xfrm>
          <a:prstGeom prst="rect">
            <a:avLst/>
          </a:prstGeom>
          <a:noFill/>
          <a:ln/>
        </p:spPr>
        <p:txBody>
          <a:bodyPr wrap="square" lIns="0" tIns="0" rIns="0" bIns="0" rtlCol="0" anchor="ctr"/>
          <a:lstStyle/>
          <a:p>
            <a:pPr indent="0" marL="0">
              <a:buNone/>
            </a:pPr>
            <a:r>
              <a:rPr lang="en-US" sz="1200" b="1" spc="200" kern="0" dirty="0">
                <a:solidFill>
                  <a:srgbClr val="0B8484"/>
                </a:solidFill>
                <a:latin typeface="Calibri" pitchFamily="34" charset="0"/>
                <a:ea typeface="Calibri" pitchFamily="34" charset="-122"/>
                <a:cs typeface="Calibri" pitchFamily="34" charset="-120"/>
              </a:rPr>
              <a:t>QUESTION 8 · PRODUCTION WAR STORY</a:t>
            </a:r>
            <a:endParaRPr lang="en-US" sz="1200" dirty="0"/>
          </a:p>
        </p:txBody>
      </p:sp>
      <p:sp>
        <p:nvSpPr>
          <p:cNvPr id="3" name="Text 1"/>
          <p:cNvSpPr txBox="1"/>
          <p:nvPr/>
        </p:nvSpPr>
        <p:spPr>
          <a:xfrm>
            <a:off x="457200" y="585216"/>
            <a:ext cx="11274552"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The Failed DR Drill: Role Drift &amp; Client DNS Caching</a:t>
            </a:r>
            <a:endParaRPr lang="en-US" sz="2700" dirty="0"/>
          </a:p>
        </p:txBody>
      </p:sp>
      <p:sp>
        <p:nvSpPr>
          <p:cNvPr id="4" name="Text 2"/>
          <p:cNvSpPr txBox="1"/>
          <p:nvPr/>
        </p:nvSpPr>
        <p:spPr>
          <a:xfrm>
            <a:off x="457200" y="1133856"/>
            <a:ext cx="11274552" cy="320040"/>
          </a:xfrm>
          <a:prstGeom prst="rect">
            <a:avLst/>
          </a:prstGeom>
          <a:noFill/>
          <a:ln/>
        </p:spPr>
        <p:txBody>
          <a:bodyPr wrap="square" lIns="0" tIns="0" rIns="0" bIns="0" rtlCol="0" anchor="ctr"/>
          <a:lstStyle/>
          <a:p>
            <a:pPr indent="0" marL="0">
              <a:buNone/>
            </a:pPr>
            <a:r>
              <a:rPr lang="en-US" sz="1350" i="1" dirty="0">
                <a:solidFill>
                  <a:srgbClr val="5B6478"/>
                </a:solidFill>
                <a:latin typeface="Calibri" pitchFamily="34" charset="0"/>
                <a:ea typeface="Calibri" pitchFamily="34" charset="-122"/>
                <a:cs typeface="Calibri" pitchFamily="34" charset="-120"/>
              </a:rPr>
              <a:t>How a 100% error spike during a quarterly drill revealed hidden pglogical DDL limits &amp; enterprise DNS caching</a:t>
            </a:r>
            <a:endParaRPr lang="en-US" sz="1350" dirty="0"/>
          </a:p>
        </p:txBody>
      </p:sp>
      <p:sp>
        <p:nvSpPr>
          <p:cNvPr id="5" name="Shape 3"/>
          <p:cNvSpPr/>
          <p:nvPr/>
        </p:nvSpPr>
        <p:spPr>
          <a:xfrm>
            <a:off x="2025853" y="1691640"/>
            <a:ext cx="438912" cy="438912"/>
          </a:xfrm>
          <a:prstGeom prst="ellipse">
            <a:avLst/>
          </a:prstGeom>
          <a:solidFill>
            <a:srgbClr val="1E2761"/>
          </a:solidFill>
          <a:ln/>
        </p:spPr>
      </p:sp>
      <p:sp>
        <p:nvSpPr>
          <p:cNvPr id="6" name="Text 4"/>
          <p:cNvSpPr txBox="1"/>
          <p:nvPr/>
        </p:nvSpPr>
        <p:spPr>
          <a:xfrm>
            <a:off x="2025853" y="169164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7" name="Text 5"/>
          <p:cNvSpPr txBox="1"/>
          <p:nvPr/>
        </p:nvSpPr>
        <p:spPr>
          <a:xfrm>
            <a:off x="457200" y="2240280"/>
            <a:ext cx="3576218" cy="50292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The Quarterly Drill Disaster</a:t>
            </a:r>
            <a:endParaRPr lang="en-US" sz="1250" dirty="0"/>
          </a:p>
        </p:txBody>
      </p:sp>
      <p:sp>
        <p:nvSpPr>
          <p:cNvPr id="8" name="Shape 6"/>
          <p:cNvSpPr/>
          <p:nvPr/>
        </p:nvSpPr>
        <p:spPr>
          <a:xfrm>
            <a:off x="457200" y="2770632"/>
            <a:ext cx="3576218" cy="3355848"/>
          </a:xfrm>
          <a:prstGeom prst="roundRect">
            <a:avLst>
              <a:gd name="adj" fmla="val 1907"/>
            </a:avLst>
          </a:prstGeom>
          <a:solidFill>
            <a:srgbClr val="EAF0FC"/>
          </a:solidFill>
          <a:ln/>
        </p:spPr>
      </p:sp>
      <p:sp>
        <p:nvSpPr>
          <p:cNvPr id="9" name="Text 7"/>
          <p:cNvSpPr txBox="1"/>
          <p:nvPr/>
        </p:nvSpPr>
        <p:spPr>
          <a:xfrm>
            <a:off x="603504" y="2916936"/>
            <a:ext cx="3283610" cy="3063240"/>
          </a:xfrm>
          <a:prstGeom prst="rect">
            <a:avLst/>
          </a:prstGeom>
          <a:noFill/>
          <a:ln/>
        </p:spPr>
        <p:txBody>
          <a:bodyPr wrap="square" lIns="0" tIns="0" rIns="0" bIns="0" rtlCol="0" anchor="t"/>
          <a:lstStyle/>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Routine DR exercise: AWS simulated down, automated failover to Azure</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DNS switched cleanly, but 60s later Azure errors spiked to 100%</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Pod logs: "role 'ahya_calc_worker' does not exist in database"</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Partner banks ignored 30s TTL, kept dead AWS IPs cached</a:t>
            </a:r>
            <a:endParaRPr lang="en-US" sz="1050" dirty="0"/>
          </a:p>
        </p:txBody>
      </p:sp>
      <p:sp>
        <p:nvSpPr>
          <p:cNvPr id="10" name="Text 8"/>
          <p:cNvSpPr txBox="1"/>
          <p:nvPr/>
        </p:nvSpPr>
        <p:spPr>
          <a:xfrm>
            <a:off x="4015130" y="2194560"/>
            <a:ext cx="310896" cy="457200"/>
          </a:xfrm>
          <a:prstGeom prst="rect">
            <a:avLst/>
          </a:prstGeom>
          <a:noFill/>
          <a:ln/>
        </p:spPr>
        <p:txBody>
          <a:bodyPr wrap="square" lIns="0" tIns="0" rIns="0" bIns="0" rtlCol="0" anchor="ctr"/>
          <a:lstStyle/>
          <a:p>
            <a:pPr algn="ctr" indent="0" marL="0">
              <a:buNone/>
            </a:pPr>
            <a:r>
              <a:rPr lang="en-US" sz="2200" b="1" dirty="0">
                <a:solidFill>
                  <a:srgbClr val="0EA5A5"/>
                </a:solidFill>
                <a:latin typeface="Calibri" pitchFamily="34" charset="0"/>
                <a:ea typeface="Calibri" pitchFamily="34" charset="-122"/>
                <a:cs typeface="Calibri" pitchFamily="34" charset="-120"/>
              </a:rPr>
              <a:t>›</a:t>
            </a:r>
            <a:endParaRPr lang="en-US" sz="2200" dirty="0"/>
          </a:p>
        </p:txBody>
      </p:sp>
      <p:sp>
        <p:nvSpPr>
          <p:cNvPr id="11" name="Shape 9"/>
          <p:cNvSpPr/>
          <p:nvPr/>
        </p:nvSpPr>
        <p:spPr>
          <a:xfrm>
            <a:off x="5876392" y="1691640"/>
            <a:ext cx="438912" cy="438912"/>
          </a:xfrm>
          <a:prstGeom prst="ellipse">
            <a:avLst/>
          </a:prstGeom>
          <a:solidFill>
            <a:srgbClr val="1E2761"/>
          </a:solidFill>
          <a:ln/>
        </p:spPr>
      </p:sp>
      <p:sp>
        <p:nvSpPr>
          <p:cNvPr id="12" name="Text 10"/>
          <p:cNvSpPr txBox="1"/>
          <p:nvPr/>
        </p:nvSpPr>
        <p:spPr>
          <a:xfrm>
            <a:off x="5876392" y="169164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3" name="Text 11"/>
          <p:cNvSpPr txBox="1"/>
          <p:nvPr/>
        </p:nvSpPr>
        <p:spPr>
          <a:xfrm>
            <a:off x="4307738" y="2240280"/>
            <a:ext cx="3576218" cy="50292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Root Cause Analysis</a:t>
            </a:r>
            <a:endParaRPr lang="en-US" sz="1250" dirty="0"/>
          </a:p>
        </p:txBody>
      </p:sp>
      <p:sp>
        <p:nvSpPr>
          <p:cNvPr id="14" name="Shape 12"/>
          <p:cNvSpPr/>
          <p:nvPr/>
        </p:nvSpPr>
        <p:spPr>
          <a:xfrm>
            <a:off x="4307738" y="2770632"/>
            <a:ext cx="3576218" cy="3355848"/>
          </a:xfrm>
          <a:prstGeom prst="roundRect">
            <a:avLst>
              <a:gd name="adj" fmla="val 1907"/>
            </a:avLst>
          </a:prstGeom>
          <a:solidFill>
            <a:srgbClr val="EAF0FC"/>
          </a:solidFill>
          <a:ln/>
        </p:spPr>
      </p:sp>
      <p:sp>
        <p:nvSpPr>
          <p:cNvPr id="15" name="Text 13"/>
          <p:cNvSpPr txBox="1"/>
          <p:nvPr/>
        </p:nvSpPr>
        <p:spPr>
          <a:xfrm>
            <a:off x="4454042" y="2916936"/>
            <a:ext cx="3283610" cy="3063240"/>
          </a:xfrm>
          <a:prstGeom prst="rect">
            <a:avLst/>
          </a:prstGeom>
          <a:noFill/>
          <a:ln/>
        </p:spPr>
        <p:txBody>
          <a:bodyPr wrap="square" lIns="0" tIns="0" rIns="0" bIns="0" rtlCol="0" anchor="t"/>
          <a:lstStyle/>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pglogical replicates table DML — never replicates DDL for roles/users/grants</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2 weeks earlier: a new DB user was created manually on AWS, bypassing Terraform</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Azure AKS workers couldn't authenticate — user existed only in AWS</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Corporate resolvers hardcoded upstream DNS, ignoring TTL expirations</a:t>
            </a:r>
            <a:endParaRPr lang="en-US" sz="1050" dirty="0"/>
          </a:p>
        </p:txBody>
      </p:sp>
      <p:sp>
        <p:nvSpPr>
          <p:cNvPr id="16" name="Text 14"/>
          <p:cNvSpPr txBox="1"/>
          <p:nvPr/>
        </p:nvSpPr>
        <p:spPr>
          <a:xfrm>
            <a:off x="7865669" y="2194560"/>
            <a:ext cx="310896" cy="457200"/>
          </a:xfrm>
          <a:prstGeom prst="rect">
            <a:avLst/>
          </a:prstGeom>
          <a:noFill/>
          <a:ln/>
        </p:spPr>
        <p:txBody>
          <a:bodyPr wrap="square" lIns="0" tIns="0" rIns="0" bIns="0" rtlCol="0" anchor="ctr"/>
          <a:lstStyle/>
          <a:p>
            <a:pPr algn="ctr" indent="0" marL="0">
              <a:buNone/>
            </a:pPr>
            <a:r>
              <a:rPr lang="en-US" sz="2200" b="1" dirty="0">
                <a:solidFill>
                  <a:srgbClr val="0EA5A5"/>
                </a:solidFill>
                <a:latin typeface="Calibri" pitchFamily="34" charset="0"/>
                <a:ea typeface="Calibri" pitchFamily="34" charset="-122"/>
                <a:cs typeface="Calibri" pitchFamily="34" charset="-120"/>
              </a:rPr>
              <a:t>›</a:t>
            </a:r>
            <a:endParaRPr lang="en-US" sz="2200" dirty="0"/>
          </a:p>
        </p:txBody>
      </p:sp>
      <p:sp>
        <p:nvSpPr>
          <p:cNvPr id="17" name="Shape 15"/>
          <p:cNvSpPr/>
          <p:nvPr/>
        </p:nvSpPr>
        <p:spPr>
          <a:xfrm>
            <a:off x="9726930" y="1691640"/>
            <a:ext cx="438912" cy="438912"/>
          </a:xfrm>
          <a:prstGeom prst="ellipse">
            <a:avLst/>
          </a:prstGeom>
          <a:solidFill>
            <a:srgbClr val="1E2761"/>
          </a:solidFill>
          <a:ln/>
        </p:spPr>
      </p:sp>
      <p:sp>
        <p:nvSpPr>
          <p:cNvPr id="18" name="Text 16"/>
          <p:cNvSpPr txBox="1"/>
          <p:nvPr/>
        </p:nvSpPr>
        <p:spPr>
          <a:xfrm>
            <a:off x="9726930" y="1691640"/>
            <a:ext cx="438912" cy="438912"/>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9" name="Text 17"/>
          <p:cNvSpPr txBox="1"/>
          <p:nvPr/>
        </p:nvSpPr>
        <p:spPr>
          <a:xfrm>
            <a:off x="8158277" y="2240280"/>
            <a:ext cx="3576218" cy="502920"/>
          </a:xfrm>
          <a:prstGeom prst="rect">
            <a:avLst/>
          </a:prstGeom>
          <a:noFill/>
          <a:ln/>
        </p:spPr>
        <p:txBody>
          <a:bodyPr wrap="square" lIns="0" tIns="0" rIns="0" bIns="0" rtlCol="0" anchor="ctr"/>
          <a:lstStyle/>
          <a:p>
            <a:pPr algn="ctr" indent="0" marL="0">
              <a:buNone/>
            </a:pPr>
            <a:r>
              <a:rPr lang="en-US" sz="1250" b="1" dirty="0">
                <a:solidFill>
                  <a:srgbClr val="1E2761"/>
                </a:solidFill>
                <a:latin typeface="Calibri" pitchFamily="34" charset="0"/>
                <a:ea typeface="Calibri" pitchFamily="34" charset="-122"/>
                <a:cs typeface="Calibri" pitchFamily="34" charset="-120"/>
              </a:rPr>
              <a:t>Permanent Engineering Hardening</a:t>
            </a:r>
            <a:endParaRPr lang="en-US" sz="1250" dirty="0"/>
          </a:p>
        </p:txBody>
      </p:sp>
      <p:sp>
        <p:nvSpPr>
          <p:cNvPr id="20" name="Shape 18"/>
          <p:cNvSpPr/>
          <p:nvPr/>
        </p:nvSpPr>
        <p:spPr>
          <a:xfrm>
            <a:off x="8158277" y="2770632"/>
            <a:ext cx="3576218" cy="3355848"/>
          </a:xfrm>
          <a:prstGeom prst="roundRect">
            <a:avLst>
              <a:gd name="adj" fmla="val 1907"/>
            </a:avLst>
          </a:prstGeom>
          <a:solidFill>
            <a:srgbClr val="EAF0FC"/>
          </a:solidFill>
          <a:ln/>
        </p:spPr>
      </p:sp>
      <p:sp>
        <p:nvSpPr>
          <p:cNvPr id="21" name="Text 19"/>
          <p:cNvSpPr txBox="1"/>
          <p:nvPr/>
        </p:nvSpPr>
        <p:spPr>
          <a:xfrm>
            <a:off x="8304581" y="2916936"/>
            <a:ext cx="3283610" cy="3063240"/>
          </a:xfrm>
          <a:prstGeom prst="rect">
            <a:avLst/>
          </a:prstGeom>
          <a:noFill/>
          <a:ln/>
        </p:spPr>
        <p:txBody>
          <a:bodyPr wrap="square" lIns="0" tIns="0" rIns="0" bIns="0" rtlCol="0" anchor="t"/>
          <a:lstStyle/>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8-min recovery: injected missing roles/grants via emergency Ansible playbook</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Daily SchemaCrawler CI job diffs roles/schemas/grants AWS vs Azure</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Cloudflare HTTP 307 redirects force-bypass stale client DNS caches</a:t>
            </a:r>
            <a:endParaRPr lang="en-US" sz="1050" dirty="0"/>
          </a:p>
          <a:p>
            <a:pPr marL="152400" indent="-152400">
              <a:lnSpc>
                <a:spcPct val="112000"/>
              </a:lnSpc>
              <a:buSzPct val="100000"/>
              <a:buChar char="•"/>
            </a:pPr>
            <a:r>
              <a:rPr lang="en-US" sz="1050" dirty="0">
                <a:solidFill>
                  <a:srgbClr val="1A1A2E"/>
                </a:solidFill>
                <a:latin typeface="Calibri" pitchFamily="34" charset="0"/>
                <a:ea typeface="Calibri" pitchFamily="34" charset="-122"/>
                <a:cs typeface="Calibri" pitchFamily="34" charset="-120"/>
              </a:rPr>
              <a:t>Next quarterly drill: zero errors, RTO of 8m 40s</a:t>
            </a:r>
            <a:endParaRPr lang="en-US" sz="1050" dirty="0"/>
          </a:p>
        </p:txBody>
      </p:sp>
      <p:sp>
        <p:nvSpPr>
          <p:cNvPr id="22" name="Text 20"/>
          <p:cNvSpPr txBox="1"/>
          <p:nvPr/>
        </p:nvSpPr>
        <p:spPr>
          <a:xfrm>
            <a:off x="11521440" y="6473952"/>
            <a:ext cx="365760" cy="274320"/>
          </a:xfrm>
          <a:prstGeom prst="rect">
            <a:avLst/>
          </a:prstGeom>
          <a:noFill/>
          <a:ln/>
        </p:spPr>
        <p:txBody>
          <a:bodyPr wrap="square" lIns="0" tIns="0" rIns="0" bIns="0" rtlCol="0" anchor="ctr"/>
          <a:lstStyle/>
          <a:p>
            <a:pPr algn="r" indent="0" marL="0">
              <a:buNone/>
            </a:pPr>
            <a:r>
              <a:rPr lang="en-US" sz="900" dirty="0">
                <a:solidFill>
                  <a:srgbClr val="8891A3"/>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20040"/>
            <a:ext cx="11274552" cy="292608"/>
          </a:xfrm>
          <a:prstGeom prst="rect">
            <a:avLst/>
          </a:prstGeom>
          <a:noFill/>
          <a:ln/>
        </p:spPr>
        <p:txBody>
          <a:bodyPr wrap="square" lIns="0" tIns="0" rIns="0" bIns="0" rtlCol="0" anchor="ctr"/>
          <a:lstStyle/>
          <a:p>
            <a:pPr indent="0" marL="0">
              <a:buNone/>
            </a:pPr>
            <a:r>
              <a:rPr lang="en-US" sz="1200" b="1" spc="200" kern="0" dirty="0">
                <a:solidFill>
                  <a:srgbClr val="0B8484"/>
                </a:solidFill>
                <a:latin typeface="Calibri" pitchFamily="34" charset="0"/>
                <a:ea typeface="Calibri" pitchFamily="34" charset="-122"/>
                <a:cs typeface="Calibri" pitchFamily="34" charset="-120"/>
              </a:rPr>
              <a:t>LEADERSHIP &amp; STRATEGIC IMPACT</a:t>
            </a:r>
            <a:endParaRPr lang="en-US" sz="1200" dirty="0"/>
          </a:p>
        </p:txBody>
      </p:sp>
      <p:sp>
        <p:nvSpPr>
          <p:cNvPr id="3" name="Text 1"/>
          <p:cNvSpPr txBox="1"/>
          <p:nvPr/>
        </p:nvSpPr>
        <p:spPr>
          <a:xfrm>
            <a:off x="457200" y="585216"/>
            <a:ext cx="11274552" cy="566928"/>
          </a:xfrm>
          <a:prstGeom prst="rect">
            <a:avLst/>
          </a:prstGeom>
          <a:noFill/>
          <a:ln/>
        </p:spPr>
        <p:txBody>
          <a:bodyPr wrap="square" lIns="0" tIns="0" rIns="0" bIns="0" rtlCol="0" anchor="ctr"/>
          <a:lstStyle/>
          <a:p>
            <a:pPr indent="0" marL="0">
              <a:buNone/>
            </a:pPr>
            <a:r>
              <a:rPr lang="en-US" sz="2700" b="1" dirty="0">
                <a:solidFill>
                  <a:srgbClr val="1E2761"/>
                </a:solidFill>
                <a:latin typeface="Calibri" pitchFamily="34" charset="0"/>
                <a:ea typeface="Calibri" pitchFamily="34" charset="-122"/>
                <a:cs typeface="Calibri" pitchFamily="34" charset="-120"/>
              </a:rPr>
              <a:t>Platform Engineering Philosophy &amp; 30-60-90 Day Plan</a:t>
            </a:r>
            <a:endParaRPr lang="en-US" sz="2700" dirty="0"/>
          </a:p>
        </p:txBody>
      </p:sp>
      <p:sp>
        <p:nvSpPr>
          <p:cNvPr id="4" name="Text 2"/>
          <p:cNvSpPr txBox="1"/>
          <p:nvPr/>
        </p:nvSpPr>
        <p:spPr>
          <a:xfrm>
            <a:off x="457200" y="1133856"/>
            <a:ext cx="11274552" cy="320040"/>
          </a:xfrm>
          <a:prstGeom prst="rect">
            <a:avLst/>
          </a:prstGeom>
          <a:noFill/>
          <a:ln/>
        </p:spPr>
        <p:txBody>
          <a:bodyPr wrap="square" lIns="0" tIns="0" rIns="0" bIns="0" rtlCol="0" anchor="ctr"/>
          <a:lstStyle/>
          <a:p>
            <a:pPr indent="0" marL="0">
              <a:buNone/>
            </a:pPr>
            <a:r>
              <a:rPr lang="en-US" sz="1350" i="1" dirty="0">
                <a:solidFill>
                  <a:srgbClr val="5B6478"/>
                </a:solidFill>
                <a:latin typeface="Calibri" pitchFamily="34" charset="0"/>
                <a:ea typeface="Calibri" pitchFamily="34" charset="-122"/>
                <a:cs typeface="Calibri" pitchFamily="34" charset="-120"/>
              </a:rPr>
              <a:t>How I will partner with the CTO and VP of Engineering to elevate reliability, security, velocity &amp; FinOps</a:t>
            </a:r>
            <a:endParaRPr lang="en-US" sz="1350" dirty="0"/>
          </a:p>
        </p:txBody>
      </p:sp>
      <p:sp>
        <p:nvSpPr>
          <p:cNvPr id="5" name="Shape 3"/>
          <p:cNvSpPr/>
          <p:nvPr/>
        </p:nvSpPr>
        <p:spPr>
          <a:xfrm>
            <a:off x="457200" y="1600200"/>
            <a:ext cx="2647188" cy="1508760"/>
          </a:xfrm>
          <a:prstGeom prst="roundRect">
            <a:avLst>
              <a:gd name="adj" fmla="val 4242"/>
            </a:avLst>
          </a:prstGeom>
          <a:solidFill>
            <a:srgbClr val="EAF0FC"/>
          </a:solidFill>
          <a:ln/>
          <a:effectLst>
            <a:outerShdw sx="100000" sy="100000" kx="0" ky="0" algn="bl" rotWithShape="0" blurRad="63500" dist="25400" dir="5400000">
              <a:srgbClr val="1E2761">
                <a:alpha val="10000"/>
              </a:srgbClr>
            </a:outerShdw>
          </a:effectLst>
        </p:spPr>
      </p:sp>
      <p:sp>
        <p:nvSpPr>
          <p:cNvPr id="6" name="Text 4"/>
          <p:cNvSpPr txBox="1"/>
          <p:nvPr/>
        </p:nvSpPr>
        <p:spPr>
          <a:xfrm>
            <a:off x="603504" y="2075688"/>
            <a:ext cx="235458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Reliability &amp; SLOs</a:t>
            </a:r>
            <a:endParaRPr lang="en-US" sz="1300" dirty="0"/>
          </a:p>
        </p:txBody>
      </p:sp>
      <p:sp>
        <p:nvSpPr>
          <p:cNvPr id="7" name="Text 5"/>
          <p:cNvSpPr txBox="1"/>
          <p:nvPr/>
        </p:nvSpPr>
        <p:spPr>
          <a:xfrm>
            <a:off x="603504" y="2423160"/>
            <a:ext cx="2354580" cy="576072"/>
          </a:xfrm>
          <a:prstGeom prst="rect">
            <a:avLst/>
          </a:prstGeom>
          <a:noFill/>
          <a:ln/>
        </p:spPr>
        <p:txBody>
          <a:bodyPr wrap="square" lIns="0" tIns="0" rIns="0" bIns="0" rtlCol="0" anchor="t"/>
          <a:lstStyle/>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Error budgets, automated DR</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99.99% uptime · MTTR &lt; 30m</a:t>
            </a:r>
            <a:endParaRPr lang="en-US" sz="970" dirty="0"/>
          </a:p>
        </p:txBody>
      </p:sp>
      <p:sp>
        <p:nvSpPr>
          <p:cNvPr id="8" name="Shape 6"/>
          <p:cNvSpPr/>
          <p:nvPr/>
        </p:nvSpPr>
        <p:spPr>
          <a:xfrm>
            <a:off x="3332988" y="1600200"/>
            <a:ext cx="2647188" cy="1508760"/>
          </a:xfrm>
          <a:prstGeom prst="roundRect">
            <a:avLst>
              <a:gd name="adj" fmla="val 4242"/>
            </a:avLst>
          </a:prstGeom>
          <a:solidFill>
            <a:srgbClr val="EAF0FC"/>
          </a:solidFill>
          <a:ln/>
          <a:effectLst>
            <a:outerShdw sx="100000" sy="100000" kx="0" ky="0" algn="bl" rotWithShape="0" blurRad="63500" dist="25400" dir="5400000">
              <a:srgbClr val="1E2761">
                <a:alpha val="10000"/>
              </a:srgbClr>
            </a:outerShdw>
          </a:effectLst>
        </p:spPr>
      </p:sp>
      <p:sp>
        <p:nvSpPr>
          <p:cNvPr id="9" name="Text 7"/>
          <p:cNvSpPr txBox="1"/>
          <p:nvPr/>
        </p:nvSpPr>
        <p:spPr>
          <a:xfrm>
            <a:off x="3479292" y="2075688"/>
            <a:ext cx="235458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DevSecOps &amp; Zero Trust</a:t>
            </a:r>
            <a:endParaRPr lang="en-US" sz="1300" dirty="0"/>
          </a:p>
        </p:txBody>
      </p:sp>
      <p:sp>
        <p:nvSpPr>
          <p:cNvPr id="10" name="Text 8"/>
          <p:cNvSpPr txBox="1"/>
          <p:nvPr/>
        </p:nvSpPr>
        <p:spPr>
          <a:xfrm>
            <a:off x="3479292" y="2423160"/>
            <a:ext cx="2354580" cy="576072"/>
          </a:xfrm>
          <a:prstGeom prst="rect">
            <a:avLst/>
          </a:prstGeom>
          <a:noFill/>
          <a:ln/>
        </p:spPr>
        <p:txBody>
          <a:bodyPr wrap="square" lIns="0" tIns="0" rIns="0" bIns="0" rtlCol="0" anchor="t"/>
          <a:lstStyle/>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SOC 2 Type II, Vault auth</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4h zero-day turnaround, Trivy gates</a:t>
            </a:r>
            <a:endParaRPr lang="en-US" sz="970" dirty="0"/>
          </a:p>
        </p:txBody>
      </p:sp>
      <p:sp>
        <p:nvSpPr>
          <p:cNvPr id="11" name="Shape 9"/>
          <p:cNvSpPr/>
          <p:nvPr/>
        </p:nvSpPr>
        <p:spPr>
          <a:xfrm>
            <a:off x="6208776" y="1600200"/>
            <a:ext cx="2647188" cy="1508760"/>
          </a:xfrm>
          <a:prstGeom prst="roundRect">
            <a:avLst>
              <a:gd name="adj" fmla="val 4242"/>
            </a:avLst>
          </a:prstGeom>
          <a:solidFill>
            <a:srgbClr val="EAF0FC"/>
          </a:solidFill>
          <a:ln/>
          <a:effectLst>
            <a:outerShdw sx="100000" sy="100000" kx="0" ky="0" algn="bl" rotWithShape="0" blurRad="63500" dist="25400" dir="5400000">
              <a:srgbClr val="1E2761">
                <a:alpha val="10000"/>
              </a:srgbClr>
            </a:outerShdw>
          </a:effectLst>
        </p:spPr>
      </p:sp>
      <p:sp>
        <p:nvSpPr>
          <p:cNvPr id="12" name="Text 10"/>
          <p:cNvSpPr txBox="1"/>
          <p:nvPr/>
        </p:nvSpPr>
        <p:spPr>
          <a:xfrm>
            <a:off x="6355080" y="2075688"/>
            <a:ext cx="235458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FinOps Accountability</a:t>
            </a:r>
            <a:endParaRPr lang="en-US" sz="1300" dirty="0"/>
          </a:p>
        </p:txBody>
      </p:sp>
      <p:sp>
        <p:nvSpPr>
          <p:cNvPr id="13" name="Text 11"/>
          <p:cNvSpPr txBox="1"/>
          <p:nvPr/>
        </p:nvSpPr>
        <p:spPr>
          <a:xfrm>
            <a:off x="6355080" y="2423160"/>
            <a:ext cx="2354580" cy="576072"/>
          </a:xfrm>
          <a:prstGeom prst="rect">
            <a:avLst/>
          </a:prstGeom>
          <a:noFill/>
          <a:ln/>
        </p:spPr>
        <p:txBody>
          <a:bodyPr wrap="square" lIns="0" tIns="0" rIns="0" bIns="0" rtlCol="0" anchor="t"/>
          <a:lstStyle/>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20% cost optimization ($192K/yr)</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Kubecost + Infracost in CI</a:t>
            </a:r>
            <a:endParaRPr lang="en-US" sz="970" dirty="0"/>
          </a:p>
        </p:txBody>
      </p:sp>
      <p:sp>
        <p:nvSpPr>
          <p:cNvPr id="14" name="Shape 12"/>
          <p:cNvSpPr/>
          <p:nvPr/>
        </p:nvSpPr>
        <p:spPr>
          <a:xfrm>
            <a:off x="9084564" y="1600200"/>
            <a:ext cx="2647188" cy="1508760"/>
          </a:xfrm>
          <a:prstGeom prst="roundRect">
            <a:avLst>
              <a:gd name="adj" fmla="val 4242"/>
            </a:avLst>
          </a:prstGeom>
          <a:solidFill>
            <a:srgbClr val="EAF0FC"/>
          </a:solidFill>
          <a:ln/>
          <a:effectLst>
            <a:outerShdw sx="100000" sy="100000" kx="0" ky="0" algn="bl" rotWithShape="0" blurRad="63500" dist="25400" dir="5400000">
              <a:srgbClr val="1E2761">
                <a:alpha val="10000"/>
              </a:srgbClr>
            </a:outerShdw>
          </a:effectLst>
        </p:spPr>
      </p:sp>
      <p:sp>
        <p:nvSpPr>
          <p:cNvPr id="15" name="Text 13"/>
          <p:cNvSpPr txBox="1"/>
          <p:nvPr/>
        </p:nvSpPr>
        <p:spPr>
          <a:xfrm>
            <a:off x="9230868" y="2075688"/>
            <a:ext cx="2354580" cy="292608"/>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Developer Velocity</a:t>
            </a:r>
            <a:endParaRPr lang="en-US" sz="1300" dirty="0"/>
          </a:p>
        </p:txBody>
      </p:sp>
      <p:sp>
        <p:nvSpPr>
          <p:cNvPr id="16" name="Text 14"/>
          <p:cNvSpPr txBox="1"/>
          <p:nvPr/>
        </p:nvSpPr>
        <p:spPr>
          <a:xfrm>
            <a:off x="9230868" y="2423160"/>
            <a:ext cx="2354580" cy="576072"/>
          </a:xfrm>
          <a:prstGeom prst="rect">
            <a:avLst/>
          </a:prstGeom>
          <a:noFill/>
          <a:ln/>
        </p:spPr>
        <p:txBody>
          <a:bodyPr wrap="square" lIns="0" tIns="0" rIns="0" bIns="0" rtlCol="0" anchor="t"/>
          <a:lstStyle/>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Declarative GitOps</a:t>
            </a:r>
            <a:endParaRPr lang="en-US" sz="970" dirty="0"/>
          </a:p>
          <a:p>
            <a:pPr marL="127000" indent="-127000">
              <a:lnSpc>
                <a:spcPct val="110000"/>
              </a:lnSpc>
              <a:buSzPct val="100000"/>
              <a:buChar char="•"/>
            </a:pPr>
            <a:r>
              <a:rPr lang="en-US" sz="970" dirty="0">
                <a:solidFill>
                  <a:srgbClr val="1A1A2E"/>
                </a:solidFill>
                <a:latin typeface="Calibri" pitchFamily="34" charset="0"/>
                <a:ea typeface="Calibri" pitchFamily="34" charset="-122"/>
                <a:cs typeface="Calibri" pitchFamily="34" charset="-120"/>
              </a:rPr>
              <a:t>Self-service envs, zero ClickOps</a:t>
            </a:r>
            <a:endParaRPr lang="en-US" sz="970" dirty="0"/>
          </a:p>
        </p:txBody>
      </p:sp>
      <p:sp>
        <p:nvSpPr>
          <p:cNvPr id="17" name="Shape 15"/>
          <p:cNvSpPr/>
          <p:nvPr/>
        </p:nvSpPr>
        <p:spPr>
          <a:xfrm>
            <a:off x="457200" y="3337560"/>
            <a:ext cx="3657600" cy="2697480"/>
          </a:xfrm>
          <a:prstGeom prst="roundRect">
            <a:avLst>
              <a:gd name="adj" fmla="val 2373"/>
            </a:avLst>
          </a:prstGeom>
          <a:solidFill>
            <a:srgbClr val="EAF0FC"/>
          </a:solidFill>
          <a:ln/>
        </p:spPr>
      </p:sp>
      <p:sp>
        <p:nvSpPr>
          <p:cNvPr id="18" name="Text 16"/>
          <p:cNvSpPr txBox="1"/>
          <p:nvPr/>
        </p:nvSpPr>
        <p:spPr>
          <a:xfrm>
            <a:off x="640080" y="3465576"/>
            <a:ext cx="3291840" cy="310896"/>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Days 1–30 — Discovery, Observability &amp; Drift Audit</a:t>
            </a:r>
            <a:endParaRPr lang="en-US" sz="1400" dirty="0"/>
          </a:p>
        </p:txBody>
      </p:sp>
      <p:sp>
        <p:nvSpPr>
          <p:cNvPr id="19" name="Text 17"/>
          <p:cNvSpPr txBox="1"/>
          <p:nvPr/>
        </p:nvSpPr>
        <p:spPr>
          <a:xfrm>
            <a:off x="640080" y="3831336"/>
            <a:ext cx="3291840" cy="2057400"/>
          </a:xfrm>
          <a:prstGeom prst="rect">
            <a:avLst/>
          </a:prstGeom>
          <a:noFill/>
          <a:ln/>
        </p:spPr>
        <p:txBody>
          <a:bodyPr wrap="square" lIns="0" tIns="0" rIns="0" bIns="0" rtlCol="0" anchor="t"/>
          <a:lstStyle/>
          <a:p>
            <a:pPr marL="152400" indent="-152400">
              <a:lnSpc>
                <a:spcPct val="116000"/>
              </a:lnSpc>
              <a:buSzPct val="100000"/>
              <a:buChar char="•"/>
            </a:pPr>
            <a:r>
              <a:rPr lang="en-US" sz="1000" dirty="0">
                <a:solidFill>
                  <a:srgbClr val="1A1A2E"/>
                </a:solidFill>
                <a:latin typeface="Calibri" pitchFamily="34" charset="0"/>
                <a:ea typeface="Calibri" pitchFamily="34" charset="-122"/>
                <a:cs typeface="Calibri" pitchFamily="34" charset="-120"/>
              </a:rPr>
              <a:t>Deploy automated drift scanning across AWS, Azure, Alibaba &amp; Multinet</a:t>
            </a:r>
            <a:endParaRPr lang="en-US" sz="1000" dirty="0"/>
          </a:p>
          <a:p>
            <a:pPr marL="152400" indent="-152400">
              <a:lnSpc>
                <a:spcPct val="116000"/>
              </a:lnSpc>
              <a:buSzPct val="100000"/>
              <a:buChar char="•"/>
            </a:pPr>
            <a:r>
              <a:rPr lang="en-US" sz="1000" dirty="0">
                <a:solidFill>
                  <a:srgbClr val="1A1A2E"/>
                </a:solidFill>
                <a:latin typeface="Calibri" pitchFamily="34" charset="0"/>
                <a:ea typeface="Calibri" pitchFamily="34" charset="-122"/>
                <a:cs typeface="Calibri" pitchFamily="34" charset="-120"/>
              </a:rPr>
              <a:t>Enforce unified tagging; integrate Infracost in GitHub Actions</a:t>
            </a:r>
            <a:endParaRPr lang="en-US" sz="1000" dirty="0"/>
          </a:p>
          <a:p>
            <a:pPr marL="152400" indent="-152400">
              <a:lnSpc>
                <a:spcPct val="116000"/>
              </a:lnSpc>
              <a:buSzPct val="100000"/>
              <a:buChar char="•"/>
            </a:pPr>
            <a:r>
              <a:rPr lang="en-US" sz="1000" dirty="0">
                <a:solidFill>
                  <a:srgbClr val="1A1A2E"/>
                </a:solidFill>
                <a:latin typeface="Calibri" pitchFamily="34" charset="0"/>
                <a:ea typeface="Calibri" pitchFamily="34" charset="-122"/>
                <a:cs typeface="Calibri" pitchFamily="34" charset="-120"/>
              </a:rPr>
              <a:t>Review P1 playbooks, on-call rotations, backup/restore verification</a:t>
            </a:r>
            <a:endParaRPr lang="en-US" sz="1000" dirty="0"/>
          </a:p>
        </p:txBody>
      </p:sp>
      <p:sp>
        <p:nvSpPr>
          <p:cNvPr id="20" name="Shape 18"/>
          <p:cNvSpPr/>
          <p:nvPr/>
        </p:nvSpPr>
        <p:spPr>
          <a:xfrm>
            <a:off x="4261104" y="3337560"/>
            <a:ext cx="3657600" cy="2697480"/>
          </a:xfrm>
          <a:prstGeom prst="roundRect">
            <a:avLst>
              <a:gd name="adj" fmla="val 2373"/>
            </a:avLst>
          </a:prstGeom>
          <a:solidFill>
            <a:srgbClr val="EAF0FC"/>
          </a:solidFill>
          <a:ln/>
        </p:spPr>
      </p:sp>
      <p:sp>
        <p:nvSpPr>
          <p:cNvPr id="21" name="Text 19"/>
          <p:cNvSpPr txBox="1"/>
          <p:nvPr/>
        </p:nvSpPr>
        <p:spPr>
          <a:xfrm>
            <a:off x="4443984" y="3465576"/>
            <a:ext cx="3291840" cy="310896"/>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Days 31–60 — Standardization &amp; Hardening</a:t>
            </a:r>
            <a:endParaRPr lang="en-US" sz="1400" dirty="0"/>
          </a:p>
        </p:txBody>
      </p:sp>
      <p:sp>
        <p:nvSpPr>
          <p:cNvPr id="22" name="Text 20"/>
          <p:cNvSpPr txBox="1"/>
          <p:nvPr/>
        </p:nvSpPr>
        <p:spPr>
          <a:xfrm>
            <a:off x="4443984" y="3831336"/>
            <a:ext cx="3291840" cy="2057400"/>
          </a:xfrm>
          <a:prstGeom prst="rect">
            <a:avLst/>
          </a:prstGeom>
          <a:noFill/>
          <a:ln/>
        </p:spPr>
        <p:txBody>
          <a:bodyPr wrap="square" lIns="0" tIns="0" rIns="0" bIns="0" rtlCol="0" anchor="t"/>
          <a:lstStyle/>
          <a:p>
            <a:pPr marL="152400" indent="-152400">
              <a:lnSpc>
                <a:spcPct val="116000"/>
              </a:lnSpc>
              <a:buSzPct val="100000"/>
              <a:buChar char="•"/>
            </a:pPr>
            <a:r>
              <a:rPr lang="en-US" sz="1000" dirty="0">
                <a:solidFill>
                  <a:srgbClr val="1A1A2E"/>
                </a:solidFill>
                <a:latin typeface="Calibri" pitchFamily="34" charset="0"/>
                <a:ea typeface="Calibri" pitchFamily="34" charset="-122"/>
                <a:cs typeface="Calibri" pitchFamily="34" charset="-120"/>
              </a:rPr>
              <a:t>Standardize all 8 K8s clusters under Argo CD ApplicationSets</a:t>
            </a:r>
            <a:endParaRPr lang="en-US" sz="1000" dirty="0"/>
          </a:p>
          <a:p>
            <a:pPr marL="152400" indent="-152400">
              <a:lnSpc>
                <a:spcPct val="116000"/>
              </a:lnSpc>
              <a:buSzPct val="100000"/>
              <a:buChar char="•"/>
            </a:pPr>
            <a:r>
              <a:rPr lang="en-US" sz="1000" dirty="0">
                <a:solidFill>
                  <a:srgbClr val="1A1A2E"/>
                </a:solidFill>
                <a:latin typeface="Calibri" pitchFamily="34" charset="0"/>
                <a:ea typeface="Calibri" pitchFamily="34" charset="-122"/>
                <a:cs typeface="Calibri" pitchFamily="34" charset="-120"/>
              </a:rPr>
              <a:t>Zero ClickOps: import remaining infra into Terraform 1.5+</a:t>
            </a:r>
            <a:endParaRPr lang="en-US" sz="1000" dirty="0"/>
          </a:p>
          <a:p>
            <a:pPr marL="152400" indent="-152400">
              <a:lnSpc>
                <a:spcPct val="116000"/>
              </a:lnSpc>
              <a:buSzPct val="100000"/>
              <a:buChar char="•"/>
            </a:pPr>
            <a:r>
              <a:rPr lang="en-US" sz="1000" dirty="0">
                <a:solidFill>
                  <a:srgbClr val="1A1A2E"/>
                </a:solidFill>
                <a:latin typeface="Calibri" pitchFamily="34" charset="0"/>
                <a:ea typeface="Calibri" pitchFamily="34" charset="-122"/>
                <a:cs typeface="Calibri" pitchFamily="34" charset="-120"/>
              </a:rPr>
              <a:t>Enforce Trivy vulnerability gates + pg_query static analysis</a:t>
            </a:r>
            <a:endParaRPr lang="en-US" sz="1000" dirty="0"/>
          </a:p>
        </p:txBody>
      </p:sp>
      <p:sp>
        <p:nvSpPr>
          <p:cNvPr id="23" name="Shape 21"/>
          <p:cNvSpPr/>
          <p:nvPr/>
        </p:nvSpPr>
        <p:spPr>
          <a:xfrm>
            <a:off x="8074152" y="3337560"/>
            <a:ext cx="3657600" cy="2697480"/>
          </a:xfrm>
          <a:prstGeom prst="roundRect">
            <a:avLst>
              <a:gd name="adj" fmla="val 2373"/>
            </a:avLst>
          </a:prstGeom>
          <a:solidFill>
            <a:srgbClr val="EAF0FC"/>
          </a:solidFill>
          <a:ln/>
        </p:spPr>
      </p:sp>
      <p:sp>
        <p:nvSpPr>
          <p:cNvPr id="24" name="Text 22"/>
          <p:cNvSpPr txBox="1"/>
          <p:nvPr/>
        </p:nvSpPr>
        <p:spPr>
          <a:xfrm>
            <a:off x="8257032" y="3465576"/>
            <a:ext cx="3291840" cy="310896"/>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Days 61–90 — Resilience &amp; Autonomy</a:t>
            </a:r>
            <a:endParaRPr lang="en-US" sz="1400" dirty="0"/>
          </a:p>
        </p:txBody>
      </p:sp>
      <p:sp>
        <p:nvSpPr>
          <p:cNvPr id="25" name="Text 23"/>
          <p:cNvSpPr txBox="1"/>
          <p:nvPr/>
        </p:nvSpPr>
        <p:spPr>
          <a:xfrm>
            <a:off x="8257032" y="3831336"/>
            <a:ext cx="3291840" cy="2057400"/>
          </a:xfrm>
          <a:prstGeom prst="rect">
            <a:avLst/>
          </a:prstGeom>
          <a:noFill/>
          <a:ln/>
        </p:spPr>
        <p:txBody>
          <a:bodyPr wrap="square" lIns="0" tIns="0" rIns="0" bIns="0" rtlCol="0" anchor="t"/>
          <a:lstStyle/>
          <a:p>
            <a:pPr marL="152400" indent="-152400">
              <a:lnSpc>
                <a:spcPct val="116000"/>
              </a:lnSpc>
              <a:buSzPct val="100000"/>
              <a:buChar char="•"/>
            </a:pPr>
            <a:r>
              <a:rPr lang="en-US" sz="1000" dirty="0">
                <a:solidFill>
                  <a:srgbClr val="1A1A2E"/>
                </a:solidFill>
                <a:latin typeface="Calibri" pitchFamily="34" charset="0"/>
                <a:ea typeface="Calibri" pitchFamily="34" charset="-122"/>
                <a:cs typeface="Calibri" pitchFamily="34" charset="-120"/>
              </a:rPr>
              <a:t>Scheduled multi-cloud DR drills with SchemaCrawler verification</a:t>
            </a:r>
            <a:endParaRPr lang="en-US" sz="1000" dirty="0"/>
          </a:p>
          <a:p>
            <a:pPr marL="152400" indent="-152400">
              <a:lnSpc>
                <a:spcPct val="116000"/>
              </a:lnSpc>
              <a:buSzPct val="100000"/>
              <a:buChar char="•"/>
            </a:pPr>
            <a:r>
              <a:rPr lang="en-US" sz="1000" dirty="0">
                <a:solidFill>
                  <a:srgbClr val="1A1A2E"/>
                </a:solidFill>
                <a:latin typeface="Calibri" pitchFamily="34" charset="0"/>
                <a:ea typeface="Calibri" pitchFamily="34" charset="-122"/>
                <a:cs typeface="Calibri" pitchFamily="34" charset="-120"/>
              </a:rPr>
              <a:t>Self-service ephemeral staging via K8s vcluster / namespaces</a:t>
            </a:r>
            <a:endParaRPr lang="en-US" sz="1000" dirty="0"/>
          </a:p>
          <a:p>
            <a:pPr marL="152400" indent="-152400">
              <a:lnSpc>
                <a:spcPct val="116000"/>
              </a:lnSpc>
              <a:buSzPct val="100000"/>
              <a:buChar char="•"/>
            </a:pPr>
            <a:r>
              <a:rPr lang="en-US" sz="1000" dirty="0">
                <a:solidFill>
                  <a:srgbClr val="1A1A2E"/>
                </a:solidFill>
                <a:latin typeface="Calibri" pitchFamily="34" charset="0"/>
                <a:ea typeface="Calibri" pitchFamily="34" charset="-122"/>
                <a:cs typeface="Calibri" pitchFamily="34" charset="-120"/>
              </a:rPr>
              <a:t>Deliver full 20% recurring cost reduction to executive board</a:t>
            </a:r>
            <a:endParaRPr lang="en-US" sz="1000" dirty="0"/>
          </a:p>
        </p:txBody>
      </p:sp>
      <p:sp>
        <p:nvSpPr>
          <p:cNvPr id="26" name="Text 24"/>
          <p:cNvSpPr txBox="1"/>
          <p:nvPr/>
        </p:nvSpPr>
        <p:spPr>
          <a:xfrm>
            <a:off x="11521440" y="6473952"/>
            <a:ext cx="365760" cy="274320"/>
          </a:xfrm>
          <a:prstGeom prst="rect">
            <a:avLst/>
          </a:prstGeom>
          <a:noFill/>
          <a:ln/>
        </p:spPr>
        <p:txBody>
          <a:bodyPr wrap="square" lIns="0" tIns="0" rIns="0" bIns="0" rtlCol="0" anchor="ctr"/>
          <a:lstStyle/>
          <a:p>
            <a:pPr algn="r" indent="0" marL="0">
              <a:buNone/>
            </a:pPr>
            <a:r>
              <a:rPr lang="en-US" sz="900" dirty="0">
                <a:solidFill>
                  <a:srgbClr val="8891A3"/>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p:bgPr>
    </p:bg>
    <p:spTree>
      <p:nvGrpSpPr>
        <p:cNvPr id="1" name=""/>
        <p:cNvGrpSpPr/>
        <p:nvPr/>
      </p:nvGrpSpPr>
      <p:grpSpPr>
        <a:xfrm>
          <a:off x="0" y="0"/>
          <a:ext cx="0" cy="0"/>
          <a:chOff x="0" y="0"/>
          <a:chExt cx="0" cy="0"/>
        </a:xfrm>
      </p:grpSpPr>
      <p:sp>
        <p:nvSpPr>
          <p:cNvPr id="2" name="Text 0"/>
          <p:cNvSpPr txBox="1"/>
          <p:nvPr/>
        </p:nvSpPr>
        <p:spPr>
          <a:xfrm>
            <a:off x="640080" y="502920"/>
            <a:ext cx="10881360" cy="457200"/>
          </a:xfrm>
          <a:prstGeom prst="rect">
            <a:avLst/>
          </a:prstGeom>
          <a:noFill/>
          <a:ln/>
        </p:spPr>
        <p:txBody>
          <a:bodyPr wrap="square" lIns="0" tIns="0" rIns="0" bIns="0" rtlCol="0" anchor="ctr"/>
          <a:lstStyle/>
          <a:p>
            <a:pPr indent="0" marL="0">
              <a:buNone/>
            </a:pPr>
            <a:r>
              <a:rPr lang="en-US" sz="1500" b="1" spc="150" kern="0" dirty="0">
                <a:solidFill>
                  <a:srgbClr val="0EA5A5"/>
                </a:solidFill>
                <a:latin typeface="Calibri" pitchFamily="34" charset="0"/>
                <a:ea typeface="Calibri" pitchFamily="34" charset="-122"/>
                <a:cs typeface="Calibri" pitchFamily="34" charset="-120"/>
              </a:rPr>
              <a:t>THANK YOU — OPEN FOR TECHNICAL Q&amp;A</a:t>
            </a:r>
            <a:endParaRPr lang="en-US" sz="1500" dirty="0"/>
          </a:p>
        </p:txBody>
      </p:sp>
      <p:sp>
        <p:nvSpPr>
          <p:cNvPr id="3" name="Text 1"/>
          <p:cNvSpPr txBox="1"/>
          <p:nvPr/>
        </p:nvSpPr>
        <p:spPr>
          <a:xfrm>
            <a:off x="640080" y="960120"/>
            <a:ext cx="10881360" cy="365760"/>
          </a:xfrm>
          <a:prstGeom prst="rect">
            <a:avLst/>
          </a:prstGeom>
          <a:noFill/>
          <a:ln/>
        </p:spPr>
        <p:txBody>
          <a:bodyPr wrap="square" lIns="0" tIns="0" rIns="0" bIns="0" rtlCol="0" anchor="ctr"/>
          <a:lstStyle/>
          <a:p>
            <a:pPr indent="0" marL="0">
              <a:buNone/>
            </a:pPr>
            <a:r>
              <a:rPr lang="en-US" sz="1400" dirty="0">
                <a:solidFill>
                  <a:srgbClr val="D7E3F8"/>
                </a:solidFill>
                <a:latin typeface="Calibri" pitchFamily="34" charset="0"/>
                <a:ea typeface="Calibri" pitchFamily="34" charset="-122"/>
                <a:cs typeface="Calibri" pitchFamily="34" charset="-120"/>
              </a:rPr>
              <a:t>Prepared for CTO &amp; VP of Engineering Recruitment Evaluation</a:t>
            </a:r>
            <a:endParaRPr lang="en-US" sz="1400" dirty="0"/>
          </a:p>
        </p:txBody>
      </p:sp>
      <p:sp>
        <p:nvSpPr>
          <p:cNvPr id="4" name="Shape 2"/>
          <p:cNvSpPr/>
          <p:nvPr/>
        </p:nvSpPr>
        <p:spPr>
          <a:xfrm>
            <a:off x="640080" y="1508760"/>
            <a:ext cx="5394960" cy="4480560"/>
          </a:xfrm>
          <a:prstGeom prst="roundRect">
            <a:avLst>
              <a:gd name="adj" fmla="val 1633"/>
            </a:avLst>
          </a:prstGeom>
          <a:solidFill>
            <a:srgbClr val="273070"/>
          </a:solidFill>
          <a:ln/>
        </p:spPr>
      </p:sp>
      <p:sp>
        <p:nvSpPr>
          <p:cNvPr id="5" name="Text 3"/>
          <p:cNvSpPr txBox="1"/>
          <p:nvPr/>
        </p:nvSpPr>
        <p:spPr>
          <a:xfrm>
            <a:off x="896112" y="1691640"/>
            <a:ext cx="4892040" cy="274320"/>
          </a:xfrm>
          <a:prstGeom prst="rect">
            <a:avLst/>
          </a:prstGeom>
          <a:noFill/>
          <a:ln/>
        </p:spPr>
        <p:txBody>
          <a:bodyPr wrap="square" lIns="0" tIns="0" rIns="0" bIns="0" rtlCol="0" anchor="ctr"/>
          <a:lstStyle/>
          <a:p>
            <a:pPr indent="0" marL="0">
              <a:buNone/>
            </a:pPr>
            <a:r>
              <a:rPr lang="en-US" sz="1100" b="1" spc="100" kern="0" dirty="0">
                <a:solidFill>
                  <a:srgbClr val="0EA5A5"/>
                </a:solidFill>
                <a:latin typeface="Calibri" pitchFamily="34" charset="0"/>
                <a:ea typeface="Calibri" pitchFamily="34" charset="-122"/>
                <a:cs typeface="Calibri" pitchFamily="34" charset="-120"/>
              </a:rPr>
              <a:t>CANDIDATE PROFILE &amp; TECHNICAL MASTERY</a:t>
            </a:r>
            <a:endParaRPr lang="en-US" sz="1100" dirty="0"/>
          </a:p>
        </p:txBody>
      </p:sp>
      <p:sp>
        <p:nvSpPr>
          <p:cNvPr id="6" name="Text 4"/>
          <p:cNvSpPr txBox="1"/>
          <p:nvPr/>
        </p:nvSpPr>
        <p:spPr>
          <a:xfrm>
            <a:off x="896112" y="2029968"/>
            <a:ext cx="4892040" cy="3840480"/>
          </a:xfrm>
          <a:prstGeom prst="rect">
            <a:avLst/>
          </a:prstGeom>
          <a:noFill/>
          <a:ln/>
        </p:spPr>
        <p:txBody>
          <a:bodyPr wrap="square" lIns="0" tIns="0" rIns="0" bIns="0" rtlCol="0" anchor="t"/>
          <a:lstStyle/>
          <a:p>
            <a:pPr marL="152400" indent="-152400">
              <a:lnSpc>
                <a:spcPct val="128000"/>
              </a:lnSpc>
              <a:buSzPct val="100000"/>
              <a:buChar char="▸"/>
            </a:pPr>
            <a:r>
              <a:rPr lang="en-US" sz="1080" dirty="0">
                <a:solidFill>
                  <a:srgbClr val="FFFFFF"/>
                </a:solidFill>
                <a:latin typeface="Calibri" pitchFamily="34" charset="0"/>
                <a:ea typeface="Calibri" pitchFamily="34" charset="-122"/>
                <a:cs typeface="Calibri" pitchFamily="34" charset="-120"/>
              </a:rPr>
              <a:t>Asghar Ahmed — Senior DevOps &amp; Cloud Infrastructure Architect</a:t>
            </a:r>
            <a:endParaRPr lang="en-US" sz="1080" dirty="0"/>
          </a:p>
          <a:p>
            <a:pPr marL="152400" indent="-152400">
              <a:lnSpc>
                <a:spcPct val="128000"/>
              </a:lnSpc>
              <a:buSzPct val="100000"/>
              <a:buChar char="▸"/>
            </a:pPr>
            <a:r>
              <a:rPr lang="en-US" sz="1080" dirty="0">
                <a:solidFill>
                  <a:srgbClr val="FFFFFF"/>
                </a:solidFill>
                <a:latin typeface="Calibri" pitchFamily="34" charset="0"/>
                <a:ea typeface="Calibri" pitchFamily="34" charset="-122"/>
                <a:cs typeface="Calibri" pitchFamily="34" charset="-120"/>
              </a:rPr>
              <a:t>asghar.ahmed78692@gmail.com  |  +92 345 3796919</a:t>
            </a:r>
            <a:endParaRPr lang="en-US" sz="1080" dirty="0"/>
          </a:p>
          <a:p>
            <a:pPr marL="152400" indent="-152400">
              <a:lnSpc>
                <a:spcPct val="128000"/>
              </a:lnSpc>
              <a:buSzPct val="100000"/>
              <a:buChar char="▸"/>
            </a:pPr>
            <a:r>
              <a:rPr lang="en-US" sz="1080" dirty="0">
                <a:solidFill>
                  <a:srgbClr val="FFFFFF"/>
                </a:solidFill>
                <a:latin typeface="Calibri" pitchFamily="34" charset="0"/>
                <a:ea typeface="Calibri" pitchFamily="34" charset="-122"/>
                <a:cs typeface="Calibri" pitchFamily="34" charset="-120"/>
              </a:rPr>
              <a:t>Date: September 2026</a:t>
            </a:r>
            <a:endParaRPr lang="en-US" sz="1080" dirty="0"/>
          </a:p>
          <a:p>
            <a:pPr indent="0" marL="0">
              <a:lnSpc>
                <a:spcPct val="128000"/>
              </a:lnSpc>
              <a:buNone/>
            </a:pPr>
            <a:endParaRPr lang="en-US" sz="1080" dirty="0"/>
          </a:p>
          <a:p>
            <a:pPr marL="152400" indent="-152400">
              <a:lnSpc>
                <a:spcPct val="128000"/>
              </a:lnSpc>
              <a:buSzPct val="100000"/>
              <a:buChar char="▸"/>
            </a:pPr>
            <a:r>
              <a:rPr lang="en-US" sz="1080" dirty="0">
                <a:solidFill>
                  <a:srgbClr val="FFFFFF"/>
                </a:solidFill>
                <a:latin typeface="Calibri" pitchFamily="34" charset="0"/>
                <a:ea typeface="Calibri" pitchFamily="34" charset="-122"/>
                <a:cs typeface="Calibri" pitchFamily="34" charset="-120"/>
              </a:rPr>
              <a:t>Hyperscalers: AWS, Azure, Alibaba Cloud, VMware vCD</a:t>
            </a:r>
            <a:endParaRPr lang="en-US" sz="1080" dirty="0"/>
          </a:p>
          <a:p>
            <a:pPr marL="152400" indent="-152400">
              <a:lnSpc>
                <a:spcPct val="128000"/>
              </a:lnSpc>
              <a:buSzPct val="100000"/>
              <a:buChar char="▸"/>
            </a:pPr>
            <a:r>
              <a:rPr lang="en-US" sz="1080" dirty="0">
                <a:solidFill>
                  <a:srgbClr val="FFFFFF"/>
                </a:solidFill>
                <a:latin typeface="Calibri" pitchFamily="34" charset="0"/>
                <a:ea typeface="Calibri" pitchFamily="34" charset="-122"/>
                <a:cs typeface="Calibri" pitchFamily="34" charset="-120"/>
              </a:rPr>
              <a:t>Orchestration: K8s (EKS/AKS/ACK/RKE2), Karpenter, KEDA, Cilium</a:t>
            </a:r>
            <a:endParaRPr lang="en-US" sz="1080" dirty="0"/>
          </a:p>
          <a:p>
            <a:pPr marL="152400" indent="-152400">
              <a:lnSpc>
                <a:spcPct val="128000"/>
              </a:lnSpc>
              <a:buSzPct val="100000"/>
              <a:buChar char="▸"/>
            </a:pPr>
            <a:r>
              <a:rPr lang="en-US" sz="1080" dirty="0">
                <a:solidFill>
                  <a:srgbClr val="FFFFFF"/>
                </a:solidFill>
                <a:latin typeface="Calibri" pitchFamily="34" charset="0"/>
                <a:ea typeface="Calibri" pitchFamily="34" charset="-122"/>
                <a:cs typeface="Calibri" pitchFamily="34" charset="-120"/>
              </a:rPr>
              <a:t>IaC: Terraform 1.5+, Ansible Core, AWX, Packer</a:t>
            </a:r>
            <a:endParaRPr lang="en-US" sz="1080" dirty="0"/>
          </a:p>
          <a:p>
            <a:pPr marL="152400" indent="-152400">
              <a:lnSpc>
                <a:spcPct val="128000"/>
              </a:lnSpc>
              <a:buSzPct val="100000"/>
              <a:buChar char="▸"/>
            </a:pPr>
            <a:r>
              <a:rPr lang="en-US" sz="1080" dirty="0">
                <a:solidFill>
                  <a:srgbClr val="FFFFFF"/>
                </a:solidFill>
                <a:latin typeface="Calibri" pitchFamily="34" charset="0"/>
                <a:ea typeface="Calibri" pitchFamily="34" charset="-122"/>
                <a:cs typeface="Calibri" pitchFamily="34" charset="-120"/>
              </a:rPr>
              <a:t>GitOps/CI-CD: Argo CD, GitHub Actions, Trivy, Renovate</a:t>
            </a:r>
            <a:endParaRPr lang="en-US" sz="1080" dirty="0"/>
          </a:p>
          <a:p>
            <a:pPr marL="152400" indent="-152400">
              <a:lnSpc>
                <a:spcPct val="128000"/>
              </a:lnSpc>
              <a:buSzPct val="100000"/>
              <a:buChar char="▸"/>
            </a:pPr>
            <a:r>
              <a:rPr lang="en-US" sz="1080" dirty="0">
                <a:solidFill>
                  <a:srgbClr val="FFFFFF"/>
                </a:solidFill>
                <a:latin typeface="Calibri" pitchFamily="34" charset="0"/>
                <a:ea typeface="Calibri" pitchFamily="34" charset="-122"/>
                <a:cs typeface="Calibri" pitchFamily="34" charset="-120"/>
              </a:rPr>
              <a:t>Security: OWASP CRS v4, Coraza, AWS WAFv2, Vault, SOC 2</a:t>
            </a:r>
            <a:endParaRPr lang="en-US" sz="1080" dirty="0"/>
          </a:p>
        </p:txBody>
      </p:sp>
      <p:sp>
        <p:nvSpPr>
          <p:cNvPr id="7" name="Shape 5"/>
          <p:cNvSpPr/>
          <p:nvPr/>
        </p:nvSpPr>
        <p:spPr>
          <a:xfrm>
            <a:off x="6172200" y="1508760"/>
            <a:ext cx="5394960" cy="4480560"/>
          </a:xfrm>
          <a:prstGeom prst="roundRect">
            <a:avLst>
              <a:gd name="adj" fmla="val 1633"/>
            </a:avLst>
          </a:prstGeom>
          <a:solidFill>
            <a:srgbClr val="273070"/>
          </a:solidFill>
          <a:ln/>
        </p:spPr>
      </p:sp>
      <p:sp>
        <p:nvSpPr>
          <p:cNvPr id="8" name="Text 6"/>
          <p:cNvSpPr txBox="1"/>
          <p:nvPr/>
        </p:nvSpPr>
        <p:spPr>
          <a:xfrm>
            <a:off x="6428232" y="1691640"/>
            <a:ext cx="4892040" cy="274320"/>
          </a:xfrm>
          <a:prstGeom prst="rect">
            <a:avLst/>
          </a:prstGeom>
          <a:noFill/>
          <a:ln/>
        </p:spPr>
        <p:txBody>
          <a:bodyPr wrap="square" lIns="0" tIns="0" rIns="0" bIns="0" rtlCol="0" anchor="ctr"/>
          <a:lstStyle/>
          <a:p>
            <a:pPr indent="0" marL="0">
              <a:buNone/>
            </a:pPr>
            <a:r>
              <a:rPr lang="en-US" sz="1100" b="1" spc="100" kern="0" dirty="0">
                <a:solidFill>
                  <a:srgbClr val="0EA5A5"/>
                </a:solidFill>
                <a:latin typeface="Calibri" pitchFamily="34" charset="0"/>
                <a:ea typeface="Calibri" pitchFamily="34" charset="-122"/>
                <a:cs typeface="Calibri" pitchFamily="34" charset="-120"/>
              </a:rPr>
              <a:t>CASE STUDY DELIVERABLES</a:t>
            </a:r>
            <a:endParaRPr lang="en-US" sz="1100" dirty="0"/>
          </a:p>
        </p:txBody>
      </p:sp>
      <p:sp>
        <p:nvSpPr>
          <p:cNvPr id="9" name="Text 7"/>
          <p:cNvSpPr txBox="1"/>
          <p:nvPr/>
        </p:nvSpPr>
        <p:spPr>
          <a:xfrm>
            <a:off x="6428232" y="2029968"/>
            <a:ext cx="4892040" cy="3840480"/>
          </a:xfrm>
          <a:prstGeom prst="rect">
            <a:avLst/>
          </a:prstGeom>
          <a:noFill/>
          <a:ln/>
        </p:spPr>
        <p:txBody>
          <a:bodyPr wrap="square" lIns="0" tIns="0" rIns="0" bIns="0" rtlCol="0" anchor="t"/>
          <a:lstStyle/>
          <a:p>
            <a:pPr marL="152400" indent="-152400">
              <a:lnSpc>
                <a:spcPct val="142000"/>
              </a:lnSpc>
              <a:buSzPct val="100000"/>
              <a:buChar char="▸"/>
            </a:pPr>
            <a:r>
              <a:rPr lang="en-US" sz="1100" dirty="0">
                <a:solidFill>
                  <a:srgbClr val="FFFFFF"/>
                </a:solidFill>
                <a:latin typeface="Calibri" pitchFamily="34" charset="0"/>
                <a:ea typeface="Calibri" pitchFamily="34" charset="-122"/>
                <a:cs typeface="Calibri" pitchFamily="34" charset="-120"/>
              </a:rPr>
              <a:t>Q1 — Multi-Cloud IaC: decoupled monorepo, Vault dynamic auth</a:t>
            </a:r>
            <a:endParaRPr lang="en-US" sz="1100" dirty="0"/>
          </a:p>
          <a:p>
            <a:pPr marL="152400" indent="-152400">
              <a:lnSpc>
                <a:spcPct val="142000"/>
              </a:lnSpc>
              <a:buSzPct val="100000"/>
              <a:buChar char="▸"/>
            </a:pPr>
            <a:r>
              <a:rPr lang="en-US" sz="1100" dirty="0">
                <a:solidFill>
                  <a:srgbClr val="FFFFFF"/>
                </a:solidFill>
                <a:latin typeface="Calibri" pitchFamily="34" charset="0"/>
                <a:ea typeface="Calibri" pitchFamily="34" charset="-122"/>
                <a:cs typeface="Calibri" pitchFamily="34" charset="-120"/>
              </a:rPr>
              <a:t>Q2 — K8s GitOps Fleet: ArgoCD ApplicationSets, Cilium eBPF fix</a:t>
            </a:r>
            <a:endParaRPr lang="en-US" sz="1100" dirty="0"/>
          </a:p>
          <a:p>
            <a:pPr marL="152400" indent="-152400">
              <a:lnSpc>
                <a:spcPct val="142000"/>
              </a:lnSpc>
              <a:buSzPct val="100000"/>
              <a:buChar char="▸"/>
            </a:pPr>
            <a:r>
              <a:rPr lang="en-US" sz="1100" dirty="0">
                <a:solidFill>
                  <a:srgbClr val="FFFFFF"/>
                </a:solidFill>
                <a:latin typeface="Calibri" pitchFamily="34" charset="0"/>
                <a:ea typeface="Calibri" pitchFamily="34" charset="-122"/>
                <a:cs typeface="Calibri" pitchFamily="34" charset="-120"/>
              </a:rPr>
              <a:t>Q3 — Fleet Patching: 200 VMs, WinRM HTTPS, 4h zero-day SLA</a:t>
            </a:r>
            <a:endParaRPr lang="en-US" sz="1100" dirty="0"/>
          </a:p>
          <a:p>
            <a:pPr marL="152400" indent="-152400">
              <a:lnSpc>
                <a:spcPct val="142000"/>
              </a:lnSpc>
              <a:buSzPct val="100000"/>
              <a:buChar char="▸"/>
            </a:pPr>
            <a:r>
              <a:rPr lang="en-US" sz="1100" dirty="0">
                <a:solidFill>
                  <a:srgbClr val="FFFFFF"/>
                </a:solidFill>
                <a:latin typeface="Calibri" pitchFamily="34" charset="0"/>
                <a:ea typeface="Calibri" pitchFamily="34" charset="-122"/>
                <a:cs typeface="Calibri" pitchFamily="34" charset="-120"/>
              </a:rPr>
              <a:t>Q4 — WAF &amp; Zero Trust: 11-min KPMG audit false-positive fix</a:t>
            </a:r>
            <a:endParaRPr lang="en-US" sz="1100" dirty="0"/>
          </a:p>
          <a:p>
            <a:pPr marL="152400" indent="-152400">
              <a:lnSpc>
                <a:spcPct val="142000"/>
              </a:lnSpc>
              <a:buSzPct val="100000"/>
              <a:buChar char="▸"/>
            </a:pPr>
            <a:r>
              <a:rPr lang="en-US" sz="1100" dirty="0">
                <a:solidFill>
                  <a:srgbClr val="FFFFFF"/>
                </a:solidFill>
                <a:latin typeface="Calibri" pitchFamily="34" charset="0"/>
                <a:ea typeface="Calibri" pitchFamily="34" charset="-122"/>
                <a:cs typeface="Calibri" pitchFamily="34" charset="-120"/>
              </a:rPr>
              <a:t>Q5 — FinOps Impact: $16,000/mo recurring savings (20%)</a:t>
            </a:r>
            <a:endParaRPr lang="en-US" sz="1100" dirty="0"/>
          </a:p>
          <a:p>
            <a:pPr marL="152400" indent="-152400">
              <a:lnSpc>
                <a:spcPct val="142000"/>
              </a:lnSpc>
              <a:buSzPct val="100000"/>
              <a:buChar char="▸"/>
            </a:pPr>
            <a:r>
              <a:rPr lang="en-US" sz="1100" dirty="0">
                <a:solidFill>
                  <a:srgbClr val="FFFFFF"/>
                </a:solidFill>
                <a:latin typeface="Calibri" pitchFamily="34" charset="0"/>
                <a:ea typeface="Calibri" pitchFamily="34" charset="-122"/>
                <a:cs typeface="Calibri" pitchFamily="34" charset="-120"/>
              </a:rPr>
              <a:t>Q6 — P1 3 AM Outage: 24m MTTR, 5-Whys, PgBouncer fix</a:t>
            </a:r>
            <a:endParaRPr lang="en-US" sz="1100" dirty="0"/>
          </a:p>
          <a:p>
            <a:pPr marL="152400" indent="-152400">
              <a:lnSpc>
                <a:spcPct val="142000"/>
              </a:lnSpc>
              <a:buSzPct val="100000"/>
              <a:buChar char="▸"/>
            </a:pPr>
            <a:r>
              <a:rPr lang="en-US" sz="1100" dirty="0">
                <a:solidFill>
                  <a:srgbClr val="FFFFFF"/>
                </a:solidFill>
                <a:latin typeface="Calibri" pitchFamily="34" charset="0"/>
                <a:ea typeface="Calibri" pitchFamily="34" charset="-122"/>
                <a:cs typeface="Calibri" pitchFamily="34" charset="-120"/>
              </a:rPr>
              <a:t>Q7 — 100% IaC Strategy: 3-phase migration, daily drift CI</a:t>
            </a:r>
            <a:endParaRPr lang="en-US" sz="1100" dirty="0"/>
          </a:p>
          <a:p>
            <a:pPr marL="152400" indent="-152400">
              <a:lnSpc>
                <a:spcPct val="142000"/>
              </a:lnSpc>
              <a:buSzPct val="100000"/>
              <a:buChar char="▸"/>
            </a:pPr>
            <a:r>
              <a:rPr lang="en-US" sz="1100" dirty="0">
                <a:solidFill>
                  <a:srgbClr val="FFFFFF"/>
                </a:solidFill>
                <a:latin typeface="Calibri" pitchFamily="34" charset="0"/>
                <a:ea typeface="Calibri" pitchFamily="34" charset="-122"/>
                <a:cs typeface="Calibri" pitchFamily="34" charset="-120"/>
              </a:rPr>
              <a:t>Q8 — Multi-Cloud DR: RTO 10m15s / RPO 2.2s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2026-09-09T21:14:51Z</dcterms:created>
  <dcterms:modified xsi:type="dcterms:W3CDTF">2026-09-09T21:14:51Z</dcterms:modified>
</cp:coreProperties>
</file>